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f9d7374-a5d2-37b6-90e7-e26f0bcb82e0}">
          <p14:sldIdLst>
            <p14:sldId id="256"/>
            <p14:sldId id="257"/>
            <p14:sldId id="258"/>
          </p14:sldIdLst>
        </p14:section>
        <p14:section name="L'or" id="{4f1f7270-d5d2-9f0f-bde3-19ac07294f25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Les autres minerais" id="{3599fa3a-2e4c-1a55-a6ea-6444b9261b98}">
          <p14:sldIdLst>
            <p14:sldId id="266"/>
            <p14:sldId id="267"/>
            <p14:sldId id="268"/>
            <p14:sldId id="269"/>
          </p14:sldIdLst>
        </p14:section>
        <p14:section name="Conclusion" id="{5e9a4d0c-b8b0-16b6-461f-9287b63fd141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1A17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C1A17"/>
                </a:solidFill>
                <a:latin typeface="+mj-lt"/>
              </a:rPr>
              <a:t>Or brut (SH 7108) déclaré « en provenance du Cameroun », en tonnes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 déclaré par les partenaires (t)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1A1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0.1</c:v>
                </c:pt>
                <c:pt idx="3">
                  <c:v>0.3</c:v>
                </c:pt>
                <c:pt idx="4">
                  <c:v>0.1</c:v>
                </c:pt>
                <c:pt idx="5">
                  <c:v>0.1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1.4</c:v>
                </c:pt>
                <c:pt idx="10">
                  <c:v>2.4</c:v>
                </c:pt>
                <c:pt idx="11">
                  <c:v>3.5</c:v>
                </c:pt>
                <c:pt idx="12">
                  <c:v>5</c:v>
                </c:pt>
                <c:pt idx="13">
                  <c:v>11.5</c:v>
                </c:pt>
                <c:pt idx="14">
                  <c:v>8.8</c:v>
                </c:pt>
                <c:pt idx="15">
                  <c:v>10.4</c:v>
                </c:pt>
                <c:pt idx="16">
                  <c:v>10.2</c:v>
                </c:pt>
                <c:pt idx="17">
                  <c:v>10.9</c:v>
                </c:pt>
                <c:pt idx="18">
                  <c:v>11.7</c:v>
                </c:pt>
                <c:pt idx="19">
                  <c:v>11.4</c:v>
                </c:pt>
                <c:pt idx="20">
                  <c:v>5.8</c:v>
                </c:pt>
                <c:pt idx="21">
                  <c:v>5.6</c:v>
                </c:pt>
                <c:pt idx="22">
                  <c:v>4.8</c:v>
                </c:pt>
                <c:pt idx="23">
                  <c:v>18.3</c:v>
                </c:pt>
                <c:pt idx="24">
                  <c:v>9.9</c:v>
                </c:pt>
                <c:pt idx="25">
                  <c:v>5.1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1A1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1100" b="0" i="0" u="none" strike="noStrike">
                <a:solidFill>
                  <a:srgbClr val="4A3F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DD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3F3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1A17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C1A17"/>
                </a:solidFill>
                <a:latin typeface="+mj-lt"/>
              </a:rPr>
              <a:t>Or déclaré reçu du Cameroun, cumul 2000–2025 (tonnes)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 2000–2025 (t)</c:v>
                </c:pt>
              </c:strCache>
            </c:strRef>
          </c:tx>
          <c:spPr>
            <a:solidFill>
              <a:srgbClr val="6B4F2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Corée du Sud</c:v>
                  </c:pt>
                  <c:pt idx="1">
                    <c:v>Suisse</c:v>
                  </c:pt>
                  <c:pt idx="2">
                    <c:v>Belgique</c:v>
                  </c:pt>
                  <c:pt idx="3">
                    <c:v>États-Unis</c:v>
                  </c:pt>
                  <c:pt idx="4">
                    <c:v>Allemagne</c:v>
                  </c:pt>
                  <c:pt idx="5">
                    <c:v>Ouganda</c:v>
                  </c:pt>
                  <c:pt idx="6">
                    <c:v>Rwanda</c:v>
                  </c:pt>
                  <c:pt idx="7">
                    <c:v>Émirats arabes unis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0.22</c:v>
                </c:pt>
                <c:pt idx="1">
                  <c:v>0.31</c:v>
                </c:pt>
                <c:pt idx="2">
                  <c:v>0.42</c:v>
                </c:pt>
                <c:pt idx="3">
                  <c:v>0.55</c:v>
                </c:pt>
                <c:pt idx="4">
                  <c:v>1.9</c:v>
                </c:pt>
                <c:pt idx="5">
                  <c:v>7.7</c:v>
                </c:pt>
                <c:pt idx="6">
                  <c:v>16</c:v>
                </c:pt>
                <c:pt idx="7">
                  <c:v>111.3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C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3F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DD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3F3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1A17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C1A17"/>
                </a:solidFill>
                <a:latin typeface="+mj-lt"/>
              </a:rPr>
              <a:t>Écart entre valeur déclarée et poids × cours LBMA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Écart (%)</c:v>
                </c:pt>
              </c:strCache>
            </c:strRef>
          </c:tx>
          <c:spPr>
            <a:solidFill>
              <a:srgbClr val="B85042"/>
            </a:solidFill>
            <a:ln w="3175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1A1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2005</c:v>
                  </c:pt>
                  <c:pt idx="1">
                    <c:v>2006</c:v>
                  </c:pt>
                  <c:pt idx="2">
                    <c:v>2007</c:v>
                  </c:pt>
                  <c:pt idx="3">
                    <c:v>2008</c:v>
                  </c:pt>
                  <c:pt idx="4">
                    <c:v>2009</c:v>
                  </c:pt>
                  <c:pt idx="5">
                    <c:v>2010</c:v>
                  </c:pt>
                  <c:pt idx="6">
                    <c:v>2011</c:v>
                  </c:pt>
                  <c:pt idx="7">
                    <c:v>2012</c:v>
                  </c:pt>
                  <c:pt idx="8">
                    <c:v>2013</c:v>
                  </c:pt>
                  <c:pt idx="9">
                    <c:v>2014</c:v>
                  </c:pt>
                  <c:pt idx="10">
                    <c:v>2015</c:v>
                  </c:pt>
                  <c:pt idx="11">
                    <c:v>2016</c:v>
                  </c:pt>
                  <c:pt idx="12">
                    <c:v>2017</c:v>
                  </c:pt>
                  <c:pt idx="13">
                    <c:v>2018</c:v>
                  </c:pt>
                  <c:pt idx="14">
                    <c:v>2019</c:v>
                  </c:pt>
                  <c:pt idx="15">
                    <c:v>2020</c:v>
                  </c:pt>
                  <c:pt idx="16">
                    <c:v>2021</c:v>
                  </c:pt>
                  <c:pt idx="17">
                    <c:v>2022</c:v>
                  </c:pt>
                  <c:pt idx="18">
                    <c:v>2023</c:v>
                  </c:pt>
                  <c:pt idx="19">
                    <c:v>2024</c:v>
                  </c:pt>
                  <c:pt idx="20">
                    <c:v>2025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4.2</c:v>
                </c:pt>
                <c:pt idx="1">
                  <c:v>0.6</c:v>
                </c:pt>
                <c:pt idx="2">
                  <c:v>-4.5</c:v>
                </c:pt>
                <c:pt idx="3">
                  <c:v>-7.9</c:v>
                </c:pt>
                <c:pt idx="4">
                  <c:v>-6.3</c:v>
                </c:pt>
                <c:pt idx="5">
                  <c:v>-7</c:v>
                </c:pt>
                <c:pt idx="6">
                  <c:v>-1.3</c:v>
                </c:pt>
                <c:pt idx="7">
                  <c:v>-5.6</c:v>
                </c:pt>
                <c:pt idx="8">
                  <c:v>-2.7</c:v>
                </c:pt>
                <c:pt idx="9">
                  <c:v>-5.5</c:v>
                </c:pt>
                <c:pt idx="10">
                  <c:v>-5.6</c:v>
                </c:pt>
                <c:pt idx="11">
                  <c:v>-14.8</c:v>
                </c:pt>
                <c:pt idx="12">
                  <c:v>-13.4</c:v>
                </c:pt>
                <c:pt idx="13">
                  <c:v>-13.1</c:v>
                </c:pt>
                <c:pt idx="14">
                  <c:v>-11.3</c:v>
                </c:pt>
                <c:pt idx="15">
                  <c:v>-15.4</c:v>
                </c:pt>
                <c:pt idx="16">
                  <c:v>-3.7</c:v>
                </c:pt>
                <c:pt idx="17">
                  <c:v>-0.1</c:v>
                </c:pt>
                <c:pt idx="18">
                  <c:v>0.4</c:v>
                </c:pt>
                <c:pt idx="19">
                  <c:v>-13.4</c:v>
                </c:pt>
                <c:pt idx="20">
                  <c:v>-12.5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1A1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1100" b="0" i="0" u="none" strike="noStrike">
                <a:solidFill>
                  <a:srgbClr val="4A3F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-20"/>
        </c:scaling>
        <c:delete val="0"/>
        <c:axPos val="l"/>
        <c:majorGridlines>
          <c:spPr>
            <a:ln w="6350" cap="flat">
              <a:solidFill>
                <a:srgbClr val="E2DD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3F3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1A17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C1A17"/>
                </a:solidFill>
                <a:latin typeface="+mj-lt"/>
              </a:rPr>
              <a:t>Perte fiscale sur l'or non déclaré (Md FCFA)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Calcul, taux bas</c:v>
                </c:pt>
              </c:strCache>
            </c:strRef>
          </c:tx>
          <c:spPr>
            <a:solidFill>
              <a:srgbClr val="E3D08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8.6</c:v>
                </c:pt>
                <c:pt idx="1">
                  <c:v>8.7</c:v>
                </c:pt>
                <c:pt idx="2">
                  <c:v>34.7</c:v>
                </c:pt>
                <c:pt idx="3">
                  <c:v>20</c:v>
                </c:pt>
                <c:pt idx="4">
                  <c:v>14.5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Calcul, taux haut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55.9</c:v>
                </c:pt>
                <c:pt idx="1">
                  <c:v>56.5</c:v>
                </c:pt>
                <c:pt idx="2">
                  <c:v>199.6</c:v>
                </c:pt>
                <c:pt idx="3">
                  <c:v>115.3</c:v>
                </c:pt>
                <c:pt idx="4">
                  <c:v>83.2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Publié (ITIE 2023, MINMIDT)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52.8</c:v>
                </c:pt>
                <c:pt idx="1">
                  <c:v>50.6</c:v>
                </c:pt>
                <c:pt idx="2">
                  <c:v>165</c:v>
                </c:pt>
                <c:pt idx="3">
                  <c:v>159.2</c:v>
                </c:pt>
                <c:pt idx="4">
                  <c:v>153.2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C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3F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DD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3F3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3F3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1A17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C1A17"/>
                </a:solidFill>
                <a:latin typeface="+mj-lt"/>
              </a:rPr>
              <a:t>Prix moyen des diamants exportés (USD/carat, Kimberley)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par carat</c:v>
                </c:pt>
              </c:strCache>
            </c:strRef>
          </c:tx>
          <c:spPr>
            <a:solidFill>
              <a:srgbClr val="2F6F7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2013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2016</c:v>
                  </c:pt>
                  <c:pt idx="4">
                    <c:v>2017</c:v>
                  </c:pt>
                  <c:pt idx="5">
                    <c:v>2018</c:v>
                  </c:pt>
                  <c:pt idx="6">
                    <c:v>2019</c:v>
                  </c:pt>
                  <c:pt idx="7">
                    <c:v>2020</c:v>
                  </c:pt>
                  <c:pt idx="8">
                    <c:v>2021</c:v>
                  </c:pt>
                  <c:pt idx="9">
                    <c:v>2022</c:v>
                  </c:pt>
                  <c:pt idx="10">
                    <c:v>2023</c:v>
                  </c:pt>
                  <c:pt idx="11">
                    <c:v>2024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236</c:v>
                </c:pt>
                <c:pt idx="1">
                  <c:v>156</c:v>
                </c:pt>
                <c:pt idx="2">
                  <c:v>242</c:v>
                </c:pt>
                <c:pt idx="3">
                  <c:v>179</c:v>
                </c:pt>
                <c:pt idx="4">
                  <c:v>84</c:v>
                </c:pt>
                <c:pt idx="5">
                  <c:v>274</c:v>
                </c:pt>
                <c:pt idx="6">
                  <c:v>127</c:v>
                </c:pt>
                <c:pt idx="7">
                  <c:v>92</c:v>
                </c:pt>
                <c:pt idx="8">
                  <c:v>249</c:v>
                </c:pt>
                <c:pt idx="9">
                  <c:v>117</c:v>
                </c:pt>
                <c:pt idx="10">
                  <c:v>35</c:v>
                </c:pt>
                <c:pt idx="11">
                  <c:v>15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C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3F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DD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3F3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des résultats : analyse miroir UN Comtrade (tous déclarants) pour l'or, recherches documentaires pour les cinq autres minerais.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_SOMB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SOMB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Flux minéraux du Cameroun · 2000–2025 · données miroir et sources publiques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Où va l'or du Cameroun ?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Flux miniers déclarés et réels, 2000–2025 : or, diamant, cobalt, fer, manganèse, bauxite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Recherche documentaire · données au 31 octobre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L'essentiel : l'or pèse presque tout</a:t>
            </a:r>
            <a:endParaRPr lang="en-US" sz="3200" dirty="0"/>
          </a:p>
        </p:txBody>
      </p:sp>
      <p:sp>
        <p:nvSpPr>
          <p:cNvPr id="3" name="Chiffre clé 1"/>
          <p:cNvSpPr/>
          <p:nvPr/>
        </p:nvSpPr>
        <p:spPr>
          <a:xfrm>
            <a:off x="548640" y="1463040"/>
            <a:ext cx="347472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138,5 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d'or déclarées à l'arrivée par les pays partenaires comme venant du Cameroun, 2000–2025</a:t>
            </a:r>
            <a:endParaRPr lang="en-US" sz="1500" dirty="0"/>
          </a:p>
        </p:txBody>
      </p:sp>
      <p:sp>
        <p:nvSpPr>
          <p:cNvPr id="6" name="Chiffre clé 2"/>
          <p:cNvSpPr/>
          <p:nvPr/>
        </p:nvSpPr>
        <p:spPr>
          <a:xfrm>
            <a:off x="4297680" y="1463040"/>
            <a:ext cx="347472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17373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6,58 Md USD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8803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 valeur déclarée, soit ≈ 3 744 Md FCFA (taux Banque mondiale)</a:t>
            </a:r>
            <a:endParaRPr lang="en-US" sz="1500" dirty="0"/>
          </a:p>
        </p:txBody>
      </p:sp>
      <p:sp>
        <p:nvSpPr>
          <p:cNvPr id="9" name="Chiffre clé 3"/>
          <p:cNvSpPr/>
          <p:nvPr/>
        </p:nvSpPr>
        <p:spPr>
          <a:xfrm>
            <a:off x="8046720" y="1463040"/>
            <a:ext cx="347472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21040" y="17373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577,5 Md FCFA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8803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 pertes fiscales sur 2021–2025 selon le ministère des Mines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548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À retenir 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 Cameroun déclare quelques kilos d'or exportés par an quand ses partenaires en déclarent des tonnes. Diamant, cobalt, fer, manganèse et bauxite ne présentent pas d'écart comparable : flux faibles ou inexistants.</a:t>
            </a:r>
            <a:endParaRPr lang="en-US" sz="1600" dirty="0"/>
          </a:p>
        </p:txBody>
      </p:sp>
      <p:sp>
        <p:nvSpPr>
          <p:cNvPr id="13" name="Sourc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Sources : UN Comtrade (SH 7108, partenaire Cameroun, 254 déclarants) ; Banque mondiale ; MINMIDT via Sikafinance (juillet 2026).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Méthode : comparer ce qui part et ce qui arrive</a:t>
            </a:r>
            <a:endParaRPr lang="en-US" sz="3200" dirty="0"/>
          </a:p>
        </p:txBody>
      </p:sp>
      <p:sp>
        <p:nvSpPr>
          <p:cNvPr id="3" name="Étape 1"/>
          <p:cNvSpPr/>
          <p:nvPr/>
        </p:nvSpPr>
        <p:spPr>
          <a:xfrm>
            <a:off x="548640" y="1463040"/>
            <a:ext cx="347472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4" name="Pastille 1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Ce qui arrive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Importations « en provenance du Cameroun » déclarées par 254 pays dans UN Comtrade (données miroir)</a:t>
            </a:r>
            <a:endParaRPr lang="en-US" sz="1500" dirty="0"/>
          </a:p>
        </p:txBody>
      </p:sp>
      <p:sp>
        <p:nvSpPr>
          <p:cNvPr id="8" name="Flèche 1"/>
          <p:cNvSpPr/>
          <p:nvPr/>
        </p:nvSpPr>
        <p:spPr>
          <a:xfrm>
            <a:off x="4078224" y="2651760"/>
            <a:ext cx="164592" cy="292608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9" name="Étape 2"/>
          <p:cNvSpPr/>
          <p:nvPr/>
        </p:nvSpPr>
        <p:spPr>
          <a:xfrm>
            <a:off x="4297680" y="1463040"/>
            <a:ext cx="347472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0" name="Pastille 2"/>
          <p:cNvSpPr/>
          <p:nvPr/>
        </p:nvSpPr>
        <p:spPr>
          <a:xfrm>
            <a:off x="457200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Ce qui part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514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Exportations déclarées par le Cameroun lui-même (Comtrade, ITIE, douanes, Processus de Kimberley)</a:t>
            </a:r>
            <a:endParaRPr lang="en-US" sz="1500" dirty="0"/>
          </a:p>
        </p:txBody>
      </p:sp>
      <p:sp>
        <p:nvSpPr>
          <p:cNvPr id="14" name="Flèche 2"/>
          <p:cNvSpPr/>
          <p:nvPr/>
        </p:nvSpPr>
        <p:spPr>
          <a:xfrm>
            <a:off x="7827264" y="2651760"/>
            <a:ext cx="164592" cy="292608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5" name="Étape 3"/>
          <p:cNvSpPr/>
          <p:nvPr/>
        </p:nvSpPr>
        <p:spPr>
          <a:xfrm>
            <a:off x="8046720" y="1463040"/>
            <a:ext cx="347472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6" name="Pastille 3"/>
          <p:cNvSpPr/>
          <p:nvPr/>
        </p:nvSpPr>
        <p:spPr>
          <a:xfrm>
            <a:off x="83210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210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L'écart, en coûts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514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Valeur en USD et en FCFA, comparaison au cours mondial, application du régime fiscal de chaque période</a:t>
            </a:r>
            <a:endParaRPr lang="en-US" sz="1500" dirty="0"/>
          </a:p>
        </p:txBody>
      </p:sp>
      <p:sp>
        <p:nvSpPr>
          <p:cNvPr id="20" name="Sources"/>
          <p:cNvSpPr/>
          <p:nvPr/>
        </p:nvSpPr>
        <p:spPr>
          <a:xfrm>
            <a:off x="548640" y="4389120"/>
            <a:ext cx="11064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5262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Sources mobilisées 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Comtrade, Banque mondiale (taux de change, cours de l'or), ITIE Cameroun, MINMIDT, Sonamines, Processus de Kimberley, USGS, Panel d'experts de l'ONU, presse spécialisée.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Limite 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seul l'or a pu être analysé avec la base Comtrade complète ; les autres minerais reposent sur des extraits de recherche web.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L'or : 138 tonnes déclarées à l'étranger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Analyse miroir complète, 254 pays déclarants, codes SH 7108, 7112 et 7113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Les volumes explosent après 2009 et culminent en 2023</a:t>
            </a:r>
            <a:endParaRPr lang="en-US" sz="3200" dirty="0"/>
          </a:p>
        </p:txBody>
      </p:sp>
      <p:graphicFrame>
        <p:nvGraphicFramePr>
          <p:cNvPr id="3" name="Graphique volumes or" descr=""/>
          <p:cNvGraphicFramePr/>
          <p:nvPr/>
        </p:nvGraphicFramePr>
        <p:xfrm>
          <a:off x="548640" y="1280160"/>
          <a:ext cx="76809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mmentaire volumes"/>
          <p:cNvSpPr/>
          <p:nvPr/>
        </p:nvSpPr>
        <p:spPr>
          <a:xfrm>
            <a:off x="8503920" y="1280160"/>
            <a:ext cx="3108960" cy="457200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732520" y="1463040"/>
            <a:ext cx="2697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2000–2008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Moins de 0,4 t par an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2013–2019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≈ 10 à 11,7 t par an, presque tout vers les EAU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2023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Record : 18,3 t, 1,15 Md USD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2024–2025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Sans les EAU, non publiés : sous-estimé</a:t>
            </a:r>
            <a:endParaRPr lang="en-US" sz="1400" dirty="0"/>
          </a:p>
        </p:txBody>
      </p:sp>
      <p:sp>
        <p:nvSpPr>
          <p:cNvPr id="6" name="Sourc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 : UN Comtrade, aperçu public de l'API, extrait le 31/10/2026. Sonamines : ≈ 12,2 t enregistrées à Dubaï en 2024 (non vérifié dans Comtrade).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Les Émirats arabes unis reçoivent 80 % de l'or</a:t>
            </a:r>
            <a:endParaRPr lang="en-US" sz="3200" dirty="0"/>
          </a:p>
        </p:txBody>
      </p:sp>
      <p:graphicFrame>
        <p:nvGraphicFramePr>
          <p:cNvPr id="3" name="Graphique destinations" descr=""/>
          <p:cNvGraphicFramePr/>
          <p:nvPr/>
        </p:nvGraphicFramePr>
        <p:xfrm>
          <a:off x="548640" y="128016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ait destination 1"/>
          <p:cNvSpPr/>
          <p:nvPr/>
        </p:nvSpPr>
        <p:spPr>
          <a:xfrm>
            <a:off x="7772400" y="1371600"/>
            <a:ext cx="38404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01000" y="1508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111,3 t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057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EAU, 2004–2023, pour 4,81 Md USD</a:t>
            </a:r>
            <a:endParaRPr lang="en-US" sz="1400" dirty="0"/>
          </a:p>
        </p:txBody>
      </p:sp>
      <p:sp>
        <p:nvSpPr>
          <p:cNvPr id="7" name="Fait destination 2"/>
          <p:cNvSpPr/>
          <p:nvPr/>
        </p:nvSpPr>
        <p:spPr>
          <a:xfrm>
            <a:off x="7772400" y="2834640"/>
            <a:ext cx="38404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01000" y="2971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16,0 t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3520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Rwanda, 2019–2025 : nouveau relais régional</a:t>
            </a:r>
            <a:endParaRPr lang="en-US" sz="1400" dirty="0"/>
          </a:p>
        </p:txBody>
      </p:sp>
      <p:sp>
        <p:nvSpPr>
          <p:cNvPr id="10" name="Fait destination 3"/>
          <p:cNvSpPr/>
          <p:nvPr/>
        </p:nvSpPr>
        <p:spPr>
          <a:xfrm>
            <a:off x="7772400" y="4297680"/>
            <a:ext cx="38404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01000" y="4434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7,7 t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4983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Ouganda, 2023–2025</a:t>
            </a:r>
            <a:endParaRPr lang="en-US" sz="1400" dirty="0"/>
          </a:p>
        </p:txBody>
      </p:sp>
      <p:sp>
        <p:nvSpPr>
          <p:cNvPr id="13" name="Sourc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 : UN Comtrade, SH 7108. Le Rwanda et l'Ouganda pourraient servir de transit vers Dubaï : hypothèse non vérifiée.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Quelques kilos déclarés au départ, des tonnes à l'arrivée</a:t>
            </a:r>
            <a:endParaRPr lang="en-US" sz="3200" dirty="0"/>
          </a:p>
        </p:txBody>
      </p:sp>
      <p:graphicFrame>
        <p:nvGraphicFramePr>
          <p:cNvPr id="8" name="Tableau éc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931920"/>
                <a:gridCol w="3474720"/>
                <a:gridCol w="2194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Année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Exporté selon le Cameroun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Reçu selon les partenaires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3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 kg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11 490 kg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54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kg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11 712 kg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900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kg (73 kg selon l'ITIE)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5 602 kg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 kg (47,9 kg selon l'ITIE)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4 820 kg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1 380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22,3 kg (ITIE)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18 255 kg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820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Lecture écart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4983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rapport « Reçu ÷ Exporté » atteint plusieurs centaines : l'essentiel de l'or quitte le pays hors des circuits déclarés, ou est attribué au Cameroun alors qu'il vient d'ailleurs.</a:t>
            </a:r>
            <a:endParaRPr lang="en-US" sz="1500" dirty="0"/>
          </a:p>
        </p:txBody>
      </p:sp>
      <p:sp>
        <p:nvSpPr>
          <p:cNvPr id="6" name="Sourc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Sources : UN Comtrade (flux X et M), rapports ITIE Cameroun 2021–2023 via la presse. Rapport calculé sur les chiffres Comtrade, sauf 2023 (ITIE).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Nos chiffres recoupent presque exactement l'ITIE</a:t>
            </a:r>
            <a:endParaRPr lang="en-US" sz="3200" dirty="0"/>
          </a:p>
        </p:txBody>
      </p:sp>
      <p:sp>
        <p:nvSpPr>
          <p:cNvPr id="3" name="Recoupement 2021"/>
          <p:cNvSpPr/>
          <p:nvPr/>
        </p:nvSpPr>
        <p:spPr>
          <a:xfrm>
            <a:off x="548640" y="1463040"/>
            <a:ext cx="3474720" cy="42062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ITIE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5,6 t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Comtrade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5,60 t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6616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EAU 4,81 t + Rwanda 0,79 t</a:t>
            </a:r>
            <a:endParaRPr lang="en-US" sz="1500" dirty="0"/>
          </a:p>
        </p:txBody>
      </p:sp>
      <p:sp>
        <p:nvSpPr>
          <p:cNvPr id="10" name="Recoupement 2022"/>
          <p:cNvSpPr/>
          <p:nvPr/>
        </p:nvSpPr>
        <p:spPr>
          <a:xfrm>
            <a:off x="4297680" y="1463040"/>
            <a:ext cx="3474720" cy="42062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645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ITIE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4,8 t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Comtrade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4,82 t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56616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EAU 4,71 t + Rwanda 0,11 t</a:t>
            </a:r>
            <a:endParaRPr lang="en-US" sz="1500" dirty="0"/>
          </a:p>
        </p:txBody>
      </p:sp>
      <p:sp>
        <p:nvSpPr>
          <p:cNvPr id="17" name="Recoupement 2023"/>
          <p:cNvSpPr/>
          <p:nvPr/>
        </p:nvSpPr>
        <p:spPr>
          <a:xfrm>
            <a:off x="8046720" y="1463040"/>
            <a:ext cx="3474720" cy="42062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21040" y="1645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ITIE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15,2 t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Comtrade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15,19 t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56616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EAU 14,05 t + Ouganda 1,14 t ; le Rwanda (3,06 t) n'est pas compté</a:t>
            </a:r>
            <a:endParaRPr lang="en-US" sz="1500" dirty="0"/>
          </a:p>
        </p:txBody>
      </p:sp>
      <p:sp>
        <p:nvSpPr>
          <p:cNvPr id="24" name="Sourc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L'écart de 2023 suggère que l'ITIE n'a pas intégré l'enregistrement rwandais, peut-être publié plus tard : inférence non vérifiée.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Les valeurs déclarées suivent le cours mondial de l'or</a:t>
            </a:r>
            <a:endParaRPr lang="en-US" sz="3200" dirty="0"/>
          </a:p>
        </p:txBody>
      </p:sp>
      <p:graphicFrame>
        <p:nvGraphicFramePr>
          <p:cNvPr id="3" name="Graphique écart cours" descr=""/>
          <p:cNvGraphicFramePr/>
          <p:nvPr/>
        </p:nvGraphicFramePr>
        <p:xfrm>
          <a:off x="548640" y="1280160"/>
          <a:ext cx="76809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mmentaire écart"/>
          <p:cNvSpPr/>
          <p:nvPr/>
        </p:nvSpPr>
        <p:spPr>
          <a:xfrm>
            <a:off x="8503920" y="1280160"/>
            <a:ext cx="3108960" cy="457200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732520" y="1463040"/>
            <a:ext cx="2697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± 8 %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plupart des années : les poids déclarés sont de l'or presque pur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– 11 à – 15 %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2016–2020 et 2024–2025 : or doré déclaré au poids brut, ou valeurs rwandaises basses (hypothèses)</a:t>
            </a:r>
            <a:endParaRPr lang="en-US" sz="1400" dirty="0"/>
          </a:p>
        </p:txBody>
      </p:sp>
      <p:sp>
        <p:nvSpPr>
          <p:cNvPr id="6" name="Sourc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Sources : UN Comtrade ; Banque mondiale, Pink Sheet (moyenne LBMA PM ; cours spot à partir de juin 2025).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 coût fiscal atteint 50 à 165 Md FCFA par an depuis 2021</a:t>
            </a:r>
            <a:endParaRPr lang="en-US" sz="3200" dirty="0"/>
          </a:p>
        </p:txBody>
      </p:sp>
      <p:graphicFrame>
        <p:nvGraphicFramePr>
          <p:cNvPr id="3" name="Graphique pertes fiscales" descr=""/>
          <p:cNvGraphicFramePr/>
          <p:nvPr/>
        </p:nvGraphicFramePr>
        <p:xfrm>
          <a:off x="548640" y="1280160"/>
          <a:ext cx="76809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mmentaire pertes"/>
          <p:cNvSpPr/>
          <p:nvPr/>
        </p:nvSpPr>
        <p:spPr>
          <a:xfrm>
            <a:off x="8503920" y="1280160"/>
            <a:ext cx="3108960" cy="457200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732520" y="1463040"/>
            <a:ext cx="2697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164 à 835 Md FCFA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 perte calculée sur 2000–2025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Pourquoi la hausse 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3 % de taxe avant 2014, puis prélèvement de 15 % (2014), impôt de 25 % sur le semi-mécanisé (2017), droit de sortie (2020)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2024–2025 : calcul sans les EAU, donc minoré</a:t>
            </a:r>
            <a:endParaRPr lang="en-US" sz="1300" dirty="0"/>
          </a:p>
        </p:txBody>
      </p:sp>
      <p:sp>
        <p:nvSpPr>
          <p:cNvPr id="6" name="Sourc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Calcul : valeur non déclarée × taux × taux de change Banque mondiale ; il suppose que tout l'or est camerounais. Publié : ITIE 2023 (165), MINMIDT 2021–2025 (577,5 au total).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Diamant, cobalt, fer, manganèse, bauxite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Des flux faibles ou inexistants, des enjeux de traçabilité et de contrats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Diamant : un enjeu de traçabilité, pas de recettes</a:t>
            </a:r>
            <a:endParaRPr lang="en-US" sz="3200" dirty="0"/>
          </a:p>
        </p:txBody>
      </p:sp>
      <p:graphicFrame>
        <p:nvGraphicFramePr>
          <p:cNvPr id="3" name="Graphique diamant prix" descr=""/>
          <p:cNvGraphicFramePr/>
          <p:nvPr/>
        </p:nvGraphicFramePr>
        <p:xfrm>
          <a:off x="548640" y="1280160"/>
          <a:ext cx="60350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ait diamant 1"/>
          <p:cNvSpPr/>
          <p:nvPr/>
        </p:nvSpPr>
        <p:spPr>
          <a:xfrm>
            <a:off x="6858000" y="1280160"/>
            <a:ext cx="475488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040880" y="137160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≤ 0,6 M USD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098280" y="137160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d'exportations officielles par an</a:t>
            </a:r>
            <a:endParaRPr lang="en-US" sz="1300" dirty="0"/>
          </a:p>
        </p:txBody>
      </p:sp>
      <p:sp>
        <p:nvSpPr>
          <p:cNvPr id="7" name="Fait diamant 2"/>
          <p:cNvSpPr/>
          <p:nvPr/>
        </p:nvSpPr>
        <p:spPr>
          <a:xfrm>
            <a:off x="6858000" y="2441448"/>
            <a:ext cx="475488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040880" y="253288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140 000 ct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098280" y="2532888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 diamants centrafricains vendus illégalement via la frontière (ONU, 2013–2014)</a:t>
            </a:r>
            <a:endParaRPr lang="en-US" sz="1300" dirty="0"/>
          </a:p>
        </p:txBody>
      </p:sp>
      <p:sp>
        <p:nvSpPr>
          <p:cNvPr id="10" name="Fait diamant 3"/>
          <p:cNvSpPr/>
          <p:nvPr/>
        </p:nvSpPr>
        <p:spPr>
          <a:xfrm>
            <a:off x="6858000" y="3602736"/>
            <a:ext cx="475488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040880" y="3694176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4 523 ct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9098280" y="3694176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sur un faux certificat Kimberley camerounais (2016)</a:t>
            </a:r>
            <a:endParaRPr lang="en-US" sz="1300" dirty="0"/>
          </a:p>
        </p:txBody>
      </p:sp>
      <p:sp>
        <p:nvSpPr>
          <p:cNvPr id="13" name="Fait diamant 4"/>
          <p:cNvSpPr/>
          <p:nvPr/>
        </p:nvSpPr>
        <p:spPr>
          <a:xfrm>
            <a:off x="6858000" y="4764024"/>
            <a:ext cx="475488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040880" y="4855464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25–175 M FCFA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9098280" y="4855464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 perte fiscale calculée par an</a:t>
            </a:r>
            <a:endParaRPr lang="en-US" sz="1300" dirty="0"/>
          </a:p>
        </p:txBody>
      </p:sp>
      <p:sp>
        <p:nvSpPr>
          <p:cNvPr id="16" name="Sourc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Sources : Processus de Kimberley (extraits), Panel d'experts ONU S/2014/762, PAC/IMPACT 2016. Prix 2024 : alignement des colonnes incertain.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Cobalt, fer, manganèse, bauxite : des projets, pas de flux</a:t>
            </a:r>
            <a:endParaRPr lang="en-US" sz="3200" dirty="0"/>
          </a:p>
        </p:txBody>
      </p:sp>
      <p:sp>
        <p:nvSpPr>
          <p:cNvPr id="3" name="Minerai Cobalt"/>
          <p:cNvSpPr/>
          <p:nvPr/>
        </p:nvSpPr>
        <p:spPr>
          <a:xfrm>
            <a:off x="548640" y="137160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4" name="Pastille 1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Cobalt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Geovic à Nkamouna (Lomié) jamais exploité ; permis retiré en février 2025 et confié à la Sonamines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Miroir : ≈ 3 000 USD (Chine, 2023)</a:t>
            </a:r>
            <a:endParaRPr lang="en-US" sz="1400" dirty="0"/>
          </a:p>
        </p:txBody>
      </p:sp>
      <p:sp>
        <p:nvSpPr>
          <p:cNvPr id="9" name="Minerai Fer"/>
          <p:cNvSpPr/>
          <p:nvPr/>
        </p:nvSpPr>
        <p:spPr>
          <a:xfrm>
            <a:off x="6172200" y="137160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0" name="Pastille 2"/>
          <p:cNvSpPr/>
          <p:nvPr/>
        </p:nvSpPr>
        <p:spPr>
          <a:xfrm>
            <a:off x="6400800" y="16002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6002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Fer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2402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Aucune exportation confirmée ; Grand Zambi inaugurée en septembre 2025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97180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Arbitrage Mbalam : 616 M USD (≈ 355 Md FCFA) dus à Sundance</a:t>
            </a:r>
            <a:endParaRPr lang="en-US" sz="1400" dirty="0"/>
          </a:p>
        </p:txBody>
      </p:sp>
      <p:sp>
        <p:nvSpPr>
          <p:cNvPr id="15" name="Minerai Manganèse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6" name="Pastille 3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931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Manganèse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5720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Coproduit de Nkamouna, jamais exploité ; aucun permis actif connu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3035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Aucun flux miroir trouvé</a:t>
            </a:r>
            <a:endParaRPr lang="en-US" sz="1400" dirty="0"/>
          </a:p>
        </p:txBody>
      </p:sp>
      <p:sp>
        <p:nvSpPr>
          <p:cNvPr id="21" name="Minerai Bauxite"/>
          <p:cNvSpPr/>
          <p:nvPr/>
        </p:nvSpPr>
        <p:spPr>
          <a:xfrm>
            <a:off x="6172200" y="370332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22" name="Pastille 4"/>
          <p:cNvSpPr/>
          <p:nvPr/>
        </p:nvSpPr>
        <p:spPr>
          <a:xfrm>
            <a:off x="6400800" y="39319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3931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Bauxite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5720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Minim-Martap (Canyon/Camalco) : première exportation repoussée, objectif retiré en août 2026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53035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Recettes attendues : 9,5–16,6 Md FCFA/an à 3 Mt</a:t>
            </a:r>
            <a:endParaRPr lang="en-US" sz="1400" dirty="0"/>
          </a:p>
        </p:txBody>
      </p:sp>
      <p:sp>
        <p:nvSpPr>
          <p:cNvPr id="27" name="Sourc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Sources : extraits de recherche web (USGS, BGS, presse, communiqués ASX, sentence CCI du 26/07/2026 via la presse). Aucune extraction Comtrade possible pour ces minerais.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Six minerais, un seul vrai écart : l'or</a:t>
            </a:r>
            <a:endParaRPr lang="en-US" sz="3200" dirty="0"/>
          </a:p>
        </p:txBody>
      </p:sp>
      <p:graphicFrame>
        <p:nvGraphicFramePr>
          <p:cNvPr id="15" name="Tableau comparati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  <a:gridCol w="2743200"/>
                <a:gridCol w="2834640"/>
                <a:gridCol w="13716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Minerai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 officiels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 miroir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estimé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Fiabilité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3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Quelques kg/an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à 18 t/an (280–1 145 M USD)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50–165 Md FCFA/an (2021–2025)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D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Diamant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à 18 000 ct/an (≤ 0,6 M USD)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Négligeable dans les sources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0,03–0,2 Md FCFA/an (calcul)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Cobalt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3 000 USD (2023)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Négligeable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confirmé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Arbitrage : ≈ 355 Md FCFA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Manganèse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Rien trouvé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Bauxite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Rien trouvé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Fiabilité : élevée = base Comtrade complète ; moyenne = sources concordantes ; faible = extraits de recherche web seulement.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Ce que ces chiffres ne prouvent pas</a:t>
            </a:r>
            <a:endParaRPr lang="en-US" sz="3200" dirty="0"/>
          </a:p>
        </p:txBody>
      </p:sp>
      <p:sp>
        <p:nvSpPr>
          <p:cNvPr id="3" name="Limite 1"/>
          <p:cNvSpPr/>
          <p:nvPr/>
        </p:nvSpPr>
        <p:spPr>
          <a:xfrm>
            <a:off x="548640" y="137160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Pastille !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Origine ou provenance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Une partie de l'or et des diamants peut venir de Centrafrique ou du Tchad et transiter par le Cameroun</a:t>
            </a:r>
            <a:endParaRPr lang="en-US" sz="1500" dirty="0"/>
          </a:p>
        </p:txBody>
      </p:sp>
      <p:sp>
        <p:nvSpPr>
          <p:cNvPr id="8" name="Limite 2"/>
          <p:cNvSpPr/>
          <p:nvPr/>
        </p:nvSpPr>
        <p:spPr>
          <a:xfrm>
            <a:off x="6172200" y="137160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9" name="Pastille !"/>
          <p:cNvSpPr/>
          <p:nvPr/>
        </p:nvSpPr>
        <p:spPr>
          <a:xfrm>
            <a:off x="6400800" y="16002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6002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Écart ou fraude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24028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Contrebande, sous-déclaration, transport en bagage à main ou erreurs de code pays : les données ne les distinguent pas</a:t>
            </a:r>
            <a:endParaRPr lang="en-US" sz="1500" dirty="0"/>
          </a:p>
        </p:txBody>
      </p:sp>
      <p:sp>
        <p:nvSpPr>
          <p:cNvPr id="13" name="Limite 3"/>
          <p:cNvSpPr/>
          <p:nvPr/>
        </p:nvSpPr>
        <p:spPr>
          <a:xfrm>
            <a:off x="548640" y="361188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4" name="Pastille !"/>
          <p:cNvSpPr/>
          <p:nvPr/>
        </p:nvSpPr>
        <p:spPr>
          <a:xfrm>
            <a:off x="777240" y="38404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8404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Données incomplètes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48056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2024–2025 sans les EAU ; Comtrade inaccessible pour cinq minerais</a:t>
            </a:r>
            <a:endParaRPr lang="en-US" sz="1500" dirty="0"/>
          </a:p>
        </p:txBody>
      </p:sp>
      <p:sp>
        <p:nvSpPr>
          <p:cNvPr id="18" name="Limite 4"/>
          <p:cNvSpPr/>
          <p:nvPr/>
        </p:nvSpPr>
        <p:spPr>
          <a:xfrm>
            <a:off x="6172200" y="361188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9" name="Pastille !"/>
          <p:cNvSpPr/>
          <p:nvPr/>
        </p:nvSpPr>
        <p:spPr>
          <a:xfrm>
            <a:off x="6400800" y="38404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8404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Fiscalité incertaine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48056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Taux de 2001–2015 contradictoires (3 % ou 5 %) ; droit de sortie avant 2020 non trouvé</a:t>
            </a:r>
            <a:endParaRPr lang="en-US" sz="1500" dirty="0"/>
          </a:p>
        </p:txBody>
      </p:sp>
      <p:sp>
        <p:nvSpPr>
          <p:cNvPr id="23" name="Sourc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Le détail des contradictions et des sources figure dans les rapports par minerai (docs/recherche-*-cameroun/RAPPORT.md).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et prochaines étapes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Conclusions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Prochaines étapes</a:t>
            </a:r>
            <a:endParaRPr lang="en-US" sz="2000" dirty="0"/>
          </a:p>
        </p:txBody>
      </p:sp>
      <p:sp>
        <p:nvSpPr>
          <p:cNvPr id="5" name="Pastille 1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488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L'or est le seul flux massif : ≈ 138 t et 6,6 Md USD déclarés à l'étranger sur 2000–2025</a:t>
            </a:r>
            <a:endParaRPr lang="en-US" sz="1500" dirty="0"/>
          </a:p>
        </p:txBody>
      </p:sp>
      <p:sp>
        <p:nvSpPr>
          <p:cNvPr id="8" name="Pastille 2"/>
          <p:cNvSpPr/>
          <p:nvPr/>
        </p:nvSpPr>
        <p:spPr>
          <a:xfrm>
            <a:off x="731520" y="3474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4290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Le manque à gagner fiscal récent atteint ≈ 50–165 Md FCFA par an</a:t>
            </a:r>
            <a:endParaRPr lang="en-US" sz="1500" dirty="0"/>
          </a:p>
        </p:txBody>
      </p:sp>
      <p:sp>
        <p:nvSpPr>
          <p:cNvPr id="11" name="Pastille 3"/>
          <p:cNvSpPr/>
          <p:nvPr/>
        </p:nvSpPr>
        <p:spPr>
          <a:xfrm>
            <a:off x="731520" y="4754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7091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Les autres minerais posent des questions de traçabilité (diamant) et de contrats (fer, bauxite, cobalt)</a:t>
            </a:r>
            <a:endParaRPr lang="en-US" sz="1500" dirty="0"/>
          </a:p>
        </p:txBody>
      </p:sp>
      <p:sp>
        <p:nvSpPr>
          <p:cNvPr id="14" name="Pastille 1"/>
          <p:cNvSpPr/>
          <p:nvPr/>
        </p:nvSpPr>
        <p:spPr>
          <a:xfrm>
            <a:off x="6309360" y="21945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21488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Ouvrir l'accès à UN Comtrade pour refaire l'analyse miroir des cinq autres minerais</a:t>
            </a:r>
            <a:endParaRPr lang="en-US" sz="1500" dirty="0"/>
          </a:p>
        </p:txBody>
      </p:sp>
      <p:sp>
        <p:nvSpPr>
          <p:cNvPr id="17" name="Pastille 2"/>
          <p:cNvSpPr/>
          <p:nvPr/>
        </p:nvSpPr>
        <p:spPr>
          <a:xfrm>
            <a:off x="6309360" y="34747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34290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Obtenir les données 2024–2025 des EAU et vérifier le Rwanda et l'Ouganda</a:t>
            </a:r>
            <a:endParaRPr lang="en-US" sz="1500" dirty="0"/>
          </a:p>
        </p:txBody>
      </p:sp>
      <p:sp>
        <p:nvSpPr>
          <p:cNvPr id="20" name="Pastille 3"/>
          <p:cNvSpPr/>
          <p:nvPr/>
        </p:nvSpPr>
        <p:spPr>
          <a:xfrm>
            <a:off x="6309360" y="47548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7091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Lire les textes originaux : Journal officiel, ITIE, rapports de l'ONU et de Kimberley</a:t>
            </a:r>
            <a:endParaRPr lang="en-US" sz="1500" dirty="0"/>
          </a:p>
        </p:txBody>
      </p:sp>
      <p:sp>
        <p:nvSpPr>
          <p:cNvPr id="23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4400" dirty="0"/>
          </a:p>
        </p:txBody>
      </p:sp>
      <p:sp>
        <p:nvSpPr>
          <p:cNvPr id="24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ux mineraux Cameroun">
  <a:themeElements>
    <a:clrScheme name="Flux mineraux Cameroun">
      <a:dk1>
        <a:srgbClr val="1C1A17"/>
      </a:dk1>
      <a:lt1>
        <a:srgbClr val="FFFFFF"/>
      </a:lt1>
      <a:dk2>
        <a:srgbClr val="4A3F35"/>
      </a:dk2>
      <a:lt2>
        <a:srgbClr val="F1EEE8"/>
      </a:lt2>
      <a:accent1>
        <a:srgbClr val="C9A227"/>
      </a:accent1>
      <a:accent2>
        <a:srgbClr val="B85042"/>
      </a:accent2>
      <a:accent3>
        <a:srgbClr val="2F6F73"/>
      </a:accent3>
      <a:accent4>
        <a:srgbClr val="8C857B"/>
      </a:accent4>
      <a:accent5>
        <a:srgbClr val="6B4F2A"/>
      </a:accent5>
      <a:accent6>
        <a:srgbClr val="E3D08A"/>
      </a:accent6>
      <a:hlink>
        <a:srgbClr val="2F6F73"/>
      </a:hlink>
      <a:folHlink>
        <a:srgbClr val="6B4F2A"/>
      </a:folHlink>
    </a:clrScheme>
    <a:fontScheme name="Flux mineraux Camerou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 minéraux du Cameroun 2000–2025</dc:title>
  <dc:subject>PptxGenJS Presentation</dc:subject>
  <dc:creator>Recherche Boujieka</dc:creator>
  <cp:lastModifiedBy>Recherche Boujieka</cp:lastModifiedBy>
  <cp:revision>1</cp:revision>
  <dcterms:created xsi:type="dcterms:W3CDTF">2026-10-31T14:06:35Z</dcterms:created>
  <dcterms:modified xsi:type="dcterms:W3CDTF">2026-10-31T14:06:35Z</dcterms:modified>
</cp:coreProperties>
</file>