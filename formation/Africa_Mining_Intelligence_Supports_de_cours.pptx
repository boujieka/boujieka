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charts/chart2.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95c294-34c3-73b4-f715-45275a044f6b}">
          <p14:sldIdLst>
            <p14:sldId id="256"/>
            <p14:sldId id="257"/>
            <p14:sldId id="258"/>
            <p14:sldId id="259"/>
            <p14:sldId id="260"/>
            <p14:sldId id="261"/>
          </p14:sldIdLst>
        </p14:section>
        <p14:section name="Jour 1 - Territoire minier" id="{26518fdf-01f2-7f8d-57b9-19586a149de7}">
          <p14:sldIdLst>
            <p14:sldId id="262"/>
            <p14:sldId id="263"/>
            <p14:sldId id="264"/>
            <p14:sldId id="265"/>
            <p14:sldId id="266"/>
            <p14:sldId id="267"/>
            <p14:sldId id="268"/>
            <p14:sldId id="269"/>
            <p14:sldId id="270"/>
          </p14:sldIdLst>
        </p14:section>
        <p14:section name="Jour 2 - Télédétection" id="{04f4e6e7-b00a-141a-74af-17041ce57fda}">
          <p14:sldIdLst>
            <p14:sldId id="271"/>
            <p14:sldId id="272"/>
            <p14:sldId id="273"/>
            <p14:sldId id="274"/>
            <p14:sldId id="275"/>
            <p14:sldId id="276"/>
            <p14:sldId id="277"/>
            <p14:sldId id="278"/>
          </p14:sldIdLst>
        </p14:section>
        <p14:section name="Jour 3 - Cameroun" id="{86906754-5250-a33a-b230-d86d449719a9}">
          <p14:sldIdLst>
            <p14:sldId id="279"/>
            <p14:sldId id="280"/>
            <p14:sldId id="281"/>
            <p14:sldId id="282"/>
            <p14:sldId id="283"/>
            <p14:sldId id="284"/>
            <p14:sldId id="285"/>
            <p14:sldId id="286"/>
            <p14:sldId id="287"/>
          </p14:sldIdLst>
        </p14:section>
        <p14:section name="Jour 4 - Prospectivité" id="{ee95301b-6202-0a0c-d2b7-542ad7ddaeab}">
          <p14:sldIdLst>
            <p14:sldId id="288"/>
            <p14:sldId id="289"/>
            <p14:sldId id="290"/>
            <p14:sldId id="291"/>
            <p14:sldId id="292"/>
            <p14:sldId id="293"/>
            <p14:sldId id="294"/>
            <p14:sldId id="295"/>
            <p14:sldId id="296"/>
            <p14:sldId id="297"/>
            <p14:sldId id="298"/>
            <p14:sldId id="299"/>
          </p14:sldIdLst>
        </p14:section>
        <p14:section name="Jour 5 - Produits miniers" id="{2b6cc195-6a1c-6663-b70f-7d5c9c639956}">
          <p14:sldIdLst>
            <p14:sldId id="300"/>
            <p14:sldId id="301"/>
            <p14:sldId id="302"/>
            <p14:sldId id="303"/>
            <p14:sldId id="304"/>
            <p14:sldId id="305"/>
            <p14:sldId id="306"/>
            <p14:sldId id="307"/>
            <p14:sldId id="308"/>
          </p14:sldIdLst>
        </p14:section>
        <p14:section name="Projet final" id="{c60b5cfa-30e9-51ba-0ed1-9ef5fc0c9e28}">
          <p14:sldIdLst>
            <p14:sldId id="309"/>
            <p14:sldId id="310"/>
            <p14:sldId id="311"/>
            <p14:sldId id="312"/>
            <p14:sldId id="313"/>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313A"/>
                </a:solidFill>
                <a:latin typeface="+mn-lt"/>
              </a:defRPr>
            </a:pPr>
            <a:r>
              <a:rPr sz="1300" b="0" i="0" u="none" strike="noStrike">
                <a:solidFill>
                  <a:srgbClr val="22313A"/>
                </a:solidFill>
                <a:latin typeface="+mn-lt"/>
              </a:rPr>
              <a:t>Occurrences test captées (%) selon la surface retenue (%)</a:t>
            </a:r>
          </a:p>
        </c:rich>
      </c:tx>
      <c:layout/>
      <c:overlay val="0"/>
    </c:title>
    <c:autoTitleDeleted val="0"/>
    <c:plotArea>
      <c:layout/>
      <c:lineChart>
        <c:varyColors val="0"/>
        <c:ser>
          <c:idx val="0"/>
          <c:order val="0"/>
          <c:tx>
            <c:strRef>
              <c:f>Sheet1!$B$1</c:f>
              <c:strCache>
                <c:ptCount val="1"/>
                <c:pt idx="0">
                  <c:v>Modèle (illustratif)</c:v>
                </c:pt>
              </c:strCache>
            </c:strRef>
          </c:tx>
          <c:spPr>
            <a:solidFill>
              <a:srgbClr val="B5542D"/>
            </a:solidFill>
            <a:ln w="31750" cap="flat">
              <a:solidFill>
                <a:srgbClr val="B554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5542D"/>
              </a:solidFill>
              <a:ln w="9525" cap="flat">
                <a:solidFill>
                  <a:srgbClr val="B5542D"/>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Sheet1!$B$2:$B$12</c:f>
              <c:numCache>
                <c:formatCode>General</c:formatCode>
                <c:ptCount val="11"/>
                <c:pt idx="0">
                  <c:v>0</c:v>
                </c:pt>
                <c:pt idx="1">
                  <c:v>45</c:v>
                </c:pt>
                <c:pt idx="2">
                  <c:v>65</c:v>
                </c:pt>
                <c:pt idx="3">
                  <c:v>77</c:v>
                </c:pt>
                <c:pt idx="4">
                  <c:v>85</c:v>
                </c:pt>
                <c:pt idx="5">
                  <c:v>90</c:v>
                </c:pt>
                <c:pt idx="6">
                  <c:v>94</c:v>
                </c:pt>
                <c:pt idx="7">
                  <c:v>96</c:v>
                </c:pt>
                <c:pt idx="8">
                  <c:v>98</c:v>
                </c:pt>
                <c:pt idx="9">
                  <c:v>99</c:v>
                </c:pt>
                <c:pt idx="10">
                  <c:v>100</c:v>
                </c:pt>
              </c:numCache>
            </c:numRef>
          </c:val>
          <c:smooth val="0"/>
        </c:ser>
        <c:ser>
          <c:idx val="1"/>
          <c:order val="1"/>
          <c:tx>
            <c:strRef>
              <c:f>Sheet1!$C$1</c:f>
              <c:strCache>
                <c:ptCount val="1"/>
                <c:pt idx="0">
                  <c:v>Hasard</c:v>
                </c:pt>
              </c:strCache>
            </c:strRef>
          </c:tx>
          <c:spPr>
            <a:solidFill>
              <a:srgbClr val="9AA5AC"/>
            </a:solidFill>
            <a:ln w="31750" cap="flat">
              <a:solidFill>
                <a:srgbClr val="9AA5A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5AC"/>
              </a:solidFill>
              <a:ln w="9525" cap="flat">
                <a:solidFill>
                  <a:srgbClr val="9AA5AC"/>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Sheet1!$C$2:$C$12</c:f>
              <c:numCache>
                <c:formatCode>General</c:formatCode>
                <c:ptCount val="11"/>
                <c:pt idx="0">
                  <c:v>0</c:v>
                </c:pt>
                <c:pt idx="1">
                  <c:v>10</c:v>
                </c:pt>
                <c:pt idx="2">
                  <c:v>20</c:v>
                </c:pt>
                <c:pt idx="3">
                  <c:v>30</c:v>
                </c:pt>
                <c:pt idx="4">
                  <c:v>40</c:v>
                </c:pt>
                <c:pt idx="5">
                  <c:v>50</c:v>
                </c:pt>
                <c:pt idx="6">
                  <c:v>60</c:v>
                </c:pt>
                <c:pt idx="7">
                  <c:v>70</c:v>
                </c:pt>
                <c:pt idx="8">
                  <c:v>80</c:v>
                </c:pt>
                <c:pt idx="9">
                  <c:v>90</c:v>
                </c:pt>
                <c:pt idx="10">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F6B73"/>
                    </a:solidFill>
                    <a:latin typeface="Arial"/>
                  </a:defRPr>
                </a:pPr>
                <a:r>
                  <a:rPr sz="1200" b="0" i="0" u="none" strike="noStrike">
                    <a:solidFill>
                      <a:srgbClr val="5F6B73"/>
                    </a:solidFill>
                    <a:latin typeface="Arial"/>
                  </a:rPr>
                  <a:t>Surface la mieux notée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1E6E9"/>
              </a:solidFill>
              <a:prstDash val="solid"/>
              <a:round/>
            </a:ln>
          </c:spPr>
        </c:majorGridlines>
        <c:title>
          <c:tx>
            <c:rich>
              <a:bodyPr/>
              <a:lstStyle/>
              <a:p>
                <a:pPr>
                  <a:defRPr sz="1200" b="0" i="0" u="none" strike="noStrike">
                    <a:solidFill>
                      <a:srgbClr val="5F6B73"/>
                    </a:solidFill>
                    <a:latin typeface="Arial"/>
                  </a:defRPr>
                </a:pPr>
                <a:r>
                  <a:rPr sz="1200" b="0" i="0" u="none" strike="noStrike">
                    <a:solidFill>
                      <a:srgbClr val="5F6B73"/>
                    </a:solidFill>
                    <a:latin typeface="Arial"/>
                  </a:rPr>
                  <a:t>Occurrences captées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Points</c:v>
                </c:pt>
              </c:strCache>
            </c:strRef>
          </c:tx>
          <c:spPr>
            <a:solidFill>
              <a:srgbClr val="B5542D"/>
            </a:solidFill>
            <a:effectLst/>
          </c:spPr>
          <c:invertIfNegative val="0"/>
          <c:dLbls>
            <c:numFmt formatCode="#,##0" sourceLinked="0"/>
            <c:txPr>
              <a:bodyPr/>
              <a:lstStyle/>
              <a:p>
                <a:pPr>
                  <a:defRPr b="0" i="0" strike="noStrike" sz="1300" u="none">
                    <a:solidFill>
                      <a:srgbClr val="22313A"/>
                    </a:solidFill>
                    <a:latin typeface="+mn-lt"/>
                  </a:defRPr>
                </a:pPr>
              </a:p>
            </c:txPr>
            <c:showLegendKey val="0"/>
            <c:showVal val="1"/>
            <c:showCatName val="0"/>
            <c:showSerName val="0"/>
            <c:showPercent val="0"/>
            <c:showBubbleSize val="0"/>
            <c:showLeaderLines val="0"/>
          </c:dLbls>
          <c:cat>
            <c:multiLvlStrRef>
              <c:f>Sheet1!$A$2:$A$8</c:f>
              <c:multiLvlStrCache>
                <c:ptCount val="7"/>
                <c:lvl>
                  <c:pt idx="0">
                    <c:v>Soutenance orale</c:v>
                  </c:pt>
                  <c:pt idx="1">
                    <c:v>Honnêteté sur les limites</c:v>
                  </c:pt>
                  <c:pt idx="2">
                    <c:v>Cadastre, environnement, social</c:v>
                  </c:pt>
                  <c:pt idx="3">
                    <c:v>Chaîne de valeur, produit, marché</c:v>
                  </c:pt>
                  <c:pt idx="4">
                    <c:v>Cohérence géologique des cibles</c:v>
                  </c:pt>
                  <c:pt idx="5">
                    <c:v>Qualité des cartes</c:v>
                  </c:pt>
                  <c:pt idx="6">
                    <c:v>Méthode de prospectivité et validation</c:v>
                  </c:pt>
                </c:lvl>
              </c:multiLvlStrCache>
            </c:multiLvlStrRef>
          </c:cat>
          <c:val>
            <c:numRef>
              <c:f>Sheet1!$B$2:$B$8</c:f>
              <c:numCache>
                <c:formatCode>General</c:formatCode>
                <c:ptCount val="7"/>
                <c:pt idx="0">
                  <c:v>10</c:v>
                </c:pt>
                <c:pt idx="1">
                  <c:v>5</c:v>
                </c:pt>
                <c:pt idx="2">
                  <c:v>10</c:v>
                </c:pt>
                <c:pt idx="3">
                  <c:v>15</c:v>
                </c:pt>
                <c:pt idx="4">
                  <c:v>15</c:v>
                </c:pt>
                <c:pt idx="5">
                  <c:v>20</c:v>
                </c:pt>
                <c:pt idx="6">
                  <c:v>25</c:v>
                </c:pt>
              </c:numCache>
            </c:numRef>
          </c:val>
        </c:ser>
        <c:dLbls>
          <c:numFmt formatCode="#,##0" sourceLinked="0"/>
          <c:txPr>
            <a:bodyPr/>
            <a:lstStyle/>
            <a:p>
              <a:pPr>
                <a:defRPr b="0" i="0" strike="noStrike" sz="1300" u="none">
                  <a:solidFill>
                    <a:srgbClr val="2231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D4A52"/>
                </a:solidFill>
                <a:latin typeface="+mn-lt"/>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Présenter le formateur, le déroulé de la semaine et la logique : le Cameroun est le laboratoire principal ; la RDC, la Zambie, la Guinée et le Congo servent de comparaisons. Faire passer le quiz d'entrée avant de commencer le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sept objectifs. Insister sur le dernier : distinguer cible, ressource et réserve est ce qui sépare un analyste crédible d'un vendeur de rêves.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jour ajoute un maillon à la chaîne. Le projet final démarre dès le jour 3 : chaque groupe reçoit sa zone et alimente ses livrables tous les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la télédétection n'est pas une fin en soi. Tout ce qui est à gauche de la ligne se fait en salle ; à droite, il faut du terrain, des sondages et une personne compétente. La formation ne traite la partie droite qu'en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RDC et Zambie partagent la même ceinture cuprifère : pour éviter un doublon, la RDC porte la chaîne de valeur et la Zambie le suivi environnemental. Le Congo est relié au Cameroun par le gisement de fer transfrontalier de Mbalam-Nabeba.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Vérifier les installations la veille. Prévoir les données sur clé USB : Google Earth Engine dépend de la connexion du lieu.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journée : chaque participant repart avec une carte minière de l'Afrique centrale qu'il a construite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Garder le TP1 l'après-midi : c'est le premier contact concret avec QGIS pour beaucoup de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Faire placer par les participants un exemple réel sur chaque maillon (ex. : une mine d'or de l'Est du Cameroun). Rappeler que la valeur se crée surtout en aval, dans la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termes sont souvent confondus dans la presse et les présentations d'investisseurs. Les trois derniers ont un sens réglementaire précis. Faire un mini-quiz : classer cinq phrases de communiqués de presse.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codes internationaux encadrent la publication des résultats d'exploration, des ressources et des réserves. Aucun de ces codes n'autorise à chiffrer une ressource à partir d'images satellite.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Revenir à cette diapositive chaque fois qu'un groupe surinterprète une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Montrer chaque portail en direct si la connexion le permet. Signaler l'année de référence 2018 de la base USGS : elle ne montre pas les projets ouverts depuis.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 charger une couche en WGS 84 et une en UTM 33N sans reprojection, montrer le décalage, puis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2 h 30. Circuler entre les postes. Les blocages les plus fréquents : géodatabase non dézippée, système de coordonnées, filtre d'attributs mal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clé du jour est autant la méthode que ses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les composites Sentinel-2 à l'avance au cas où GEE serait 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la réflectance et les domaines VNIR, SWIR, TIR. Les absorptions des oxydes de fer sont dans le visible et le proche infrarouge ; celles des argiles (Al-OH) vers 2,2 µm ; celles des carbonates et Mg-OH vers 2,3 µm ; la silice se repère dans l'infrarouge thermique.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ASTER : les détecteurs SWIR sont hors service depuis 2008, utiliser les archives antérieures. Les capteurs hyperspectraux (EnMAP, PRISMA, EMIT) offrent plus de 200 bandes mais une couverture plus limitée.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des méthodes classiques ; les présenter comme des indicateurs à combiner, jamais seuls.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Limite à enseigner explicitement. L'Est et le Sud du Cameroun sont sous forêt dense et souvent nuageux : les rapports de bandes y détectent mal les altérations. Montrer côte à côte une fenêtre de savane et une fenêtre forestière.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 conseillée : une fenêtre de savane dans l'Adamaoua ou le Nord, plus une fenêtre forestière en contre-exemple. Les scripts GEE sont fournis : aucun codage demandé, seulement des paramètres à modifier.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linéaments servent de proxy des failles et cisaillements, essentiels pour l'or. Sous forêt, le MNT et le radar sont les meilleurs outils.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les trois cas par tous les groupes ne tient pas en 5,5 h de pratique. Chaque groupe approfondit un cas et le présente aux autres en fin de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zones projet sont distribuées ce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Faits vérifiés : PRECASEM financé par la Banque mondiale depuis 2010 ; levés géophysiques aéroportés sur environ 75 % du territoire selon la presse ; 14 cartes géologiques et géotechniques citées ; consortium BRGM–BEIG3–GTK annoncé en 2017 pour 13 cartes au 1/200 000. Nouveau code minier adopté en décembre 2023. Les chiffres plus précis (18 cartes, 15 500 échantillons) restent à confirmer avant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Former les groupes selon les profils : géologues sur l'or, géomaticiens sur la bauxite, profils économiques sur le fer (logistique).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Éléments indicateurs à présenter : As, Sb, W, Bi, en plus de l'or. En forêt, la géochimie des sédiments de ruisseau et les structures pèsent plus que les rapports de bandes.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 une cuirasse ferrugineuse et une bauxite peuvent se ressembler en image. Seuls les sondages et les analyses (Al₂O₃, silice réactive) tranchent.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les données magnétiques aéroportées du PRECASEM sont accessibles, c'est l'outil le plus direct pour le fer (magnétite). Le port en eau profonde de Kribi et les projets de rail sont au cœur de la valeur d'un gisement de 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Travail sur un tronçon de rivière aurifère de l'Est. Le PRECASEM aurait publié des rapports de télédétection sur ces impacts : les récupérer pour valider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Utiliser le portail public du cadastre minier du Cameroun (Landfolio) et la base mondiale des aires protégées (WDPA). Une cible sous permis d'un tiers n'est pas perdue : elle devient une opportunité de partenariat.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journée qui distingue la formation d'un simple cours de télédétection.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dossiers pays doivent être prêts sur clé USB : un par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Formule : indice = somme des poids × valeurs reclassées, avec des poids dont la somme vaut 1 et des valeurs entre 0 et 1. Résultat : 0 = faible, 1 = très forte prospectivité.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le barème initial et le barème corrigé. Expliquer pourquoi la proximité des occurrences et l'accessibilité ne doivent pas entrer dans un indice géologique.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valeurs du graphique sont illustratives. Une bonne carte capture la majorité des occurrences test dans une petite part de la surface ; une carte au hasard suit la diagonale.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en option, pour les profils avancés. Ces méthodes demandent un nombre suffisant d'occurrences connues ; au Congo, elles seront difficiles à appliquer.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Livrable TP4 : top 10 des cibles Cameroun, avec score, robustesse et statut cadastral. La fiche est réutilisée telle quelle dans le projet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groupe reçoit un dossier pays préparé : données USGS, géologie OneGeology ou nationale, cadastre s'il est public, scènes Sentinel. Restitution de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corridors d'exportation à présenter : Lobito (Angola), Dar es Salaam (Tanzanie), Durban (Afrique du Sud). Le cadastre minier de la RDC (CAMI) est public. Ne pas avancer de chiffres de production sans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Zambie partage la ceinture cuprifère avec la RDC. L'atelier porte sur le suivi environnemental, transposable aux autres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est celle du cas B Cameroun, appliquée à un grand pays producteur de bauxite. Mettre l'accent sur la logistique : un plateau riche mais loin du rail n'a pas la même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Congo est présent dans OneGeology : tester le service WMS avant la session. Substances à discuter : fer, potasse, cuivre, or, polymétallique. Le groupe conclut sur le lien avec le Cameroun via Mbalam-Nabeba.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matin : modules 5 et 6 et TP5. L'après-midi : finalisation et soutenance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Tenir le temps des soutenances : 10 minutes de présentation et 5 minutes de questions par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Chaque étape ajoute de la valeur et retire de la masse. Demander aux participants à quelle étape s'arrête aujourd'hui chaque pays de la formation pour sa substance principale.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voies doivent être enseignées. La voie SX-EW est fréquente pour les minerais oxydés du Katanga et du Copperbelt : la cathode est produite directement sur le site minier.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première partie. Les repères de prix sont des familles de références : vérifier la référence exacte et à jour avant tout calcul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deuxième partie. Le Congo a des projets de potasse ; le lien avec les engrais est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L'acheteur paie une part du métal contenu, moins les frais de traitement (TC) et d'affinage (RC), les pénalités pour impuretés et le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valeurs sont fictives et doivent être présentées comme telles. Faire refaire le calcul avec une teneur de 20 % et une pénalité de 300 000 USD, puis comparer.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chaque étape de transformation demande de l'énergie, de l'eau, des compétences et des infrastructures. Relier aux cartes d'infrastructures du jour 4. Calculer ensuite la redevance selon le code minier du pays (taux à vérifier dans le texte en vigueur).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démarre le matin du jour 3 et sert d'évaluation certifiante.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la limite de l'étape 3 : la télédétection seule ne permet pas d'estimer une ressource. On parle de potentiel qualitatif.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livrables 1 à 7 se construisent du jour 2 au jour 4 ; les livrables 8 à 12 le jour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Seuil de certification proposé : 60/100 et 80 % de présence. Un brief qui présente une cible comme une ressource chiffrée perd tous les points du critère « limites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des points de vigilance, à présenter au comité pédagogique ou au commanditaire.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points relèvent du commanditaire autant que du formateur.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chiffres non confirmés ne doivent pas apparaître dans les supports distribués tant que leur source n'est pas retrouvée.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 remise des attestations, quiz de sortie, questionnaire d'évaluation.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231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22313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lstStyle>
            <a:lvl1pPr algn="l" indent="0" marL="0">
              <a:buNone/>
              <a:defRPr lang="en-US" sz="5400" b="1" dirty="0">
                <a:solidFill>
                  <a:srgbClr val="D9A44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lstStyle>
            <a:lvl1pPr algn="l" indent="0" marL="0">
              <a:buNone/>
              <a:defRPr lang="en-US" sz="1800" dirty="0">
                <a:solidFill>
                  <a:srgbClr val="CFD8DC"/>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lstStyle>
            <a:lvl1pPr indent="0" marL="0">
              <a:buNone/>
              <a:defRPr lang="en-US" sz="3000" b="1" dirty="0">
                <a:solidFill>
                  <a:srgbClr val="22313A"/>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rtlCol="0" anchor="ctr"/>
          <a:lstStyle/>
          <a:p>
            <a:pPr indent="0" marL="0">
              <a:buNone/>
            </a:pPr>
            <a:r>
              <a:rPr lang="en-US" sz="1000" dirty="0">
                <a:solidFill>
                  <a:srgbClr val="8A949B"/>
                </a:solidFill>
                <a:latin typeface="Calibri" pitchFamily="34" charset="0"/>
                <a:ea typeface="Calibri" pitchFamily="34" charset="-122"/>
                <a:cs typeface="Calibri" pitchFamily="34" charset="-120"/>
              </a:rPr>
              <a:t>Africa Mining Intelligence · From Satellite to Mine — From Ore to Market</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4.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4.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4.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4.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slideLayout" Target="../slideLayouts/slideLayout4.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4.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7-1.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4.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usgs.gov/data/compilation-geospatial-data-gis-mineral-industries-and-related-infrastructure-africa" TargetMode="External"/><Relationship Id="rId2" Type="http://schemas.openxmlformats.org/officeDocument/2006/relationships/hyperlink" Target="https://pubs.usgs.gov/publication/ofr20241041" TargetMode="External"/><Relationship Id="rId3" Type="http://schemas.openxmlformats.org/officeDocument/2006/relationships/hyperlink" Target="https://precasem.cm/wp-content/uploads/2021/03/Plaquette_PRECASEM_CIMEC-2019-version-francaise-.pdf" TargetMode="External"/><Relationship Id="rId4" Type="http://schemas.openxmlformats.org/officeDocument/2006/relationships/hyperlink" Target="https://www.agenceecofin.com/gestion-publique/0409-68904-le-cameroun-decroche-le-prix-best-performing-project-in-world-bank-porfolio-avec-le-projet-minier-precasem" TargetMode="External"/><Relationship Id="rId5" Type="http://schemas.openxmlformats.org/officeDocument/2006/relationships/hyperlink" Target="https://portals.landfolio.com/cameroon/fr/" TargetMode="External"/><Relationship Id="rId6" Type="http://schemas.openxmlformats.org/officeDocument/2006/relationships/hyperlink" Target="https://cami.cd/" TargetMode="External"/><Relationship Id="rId7" Type="http://schemas.openxmlformats.org/officeDocument/2006/relationships/image" Target="../media/image-60-1.png"/><Relationship Id="rId8" Type="http://schemas.openxmlformats.org/officeDocument/2006/relationships/slideLayout" Target="../slideLayouts/slideLayout4.xm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Africa Mining Intelligence</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Télédétection, SIG, exploration minière et valorisation des ressources minérales</a:t>
            </a:r>
            <a:endParaRPr lang="en-US" sz="2200" dirty="0"/>
          </a:p>
          <a:p>
            <a:pPr algn="l" indent="0" marL="0">
              <a:buNone/>
            </a:pPr>
            <a:r>
              <a:rPr lang="en-US" sz="1800" dirty="0">
                <a:solidFill>
                  <a:srgbClr val="CFD8DC"/>
                </a:solidFill>
                <a:latin typeface="Calibri" pitchFamily="34" charset="0"/>
                <a:ea typeface="Calibri" pitchFamily="34" charset="-122"/>
                <a:cs typeface="Calibri" pitchFamily="34" charset="-120"/>
              </a:rPr>
              <a:t>From Satellite to Mine — From Ore to Market · 5 jours · 35 heures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À la fin de la semaine, vous saurez passer de l'image au marché</a:t>
            </a:r>
            <a:endParaRPr lang="en-US" sz="3000" dirty="0"/>
          </a:p>
        </p:txBody>
      </p:sp>
      <p:sp>
        <p:nvSpPr>
          <p:cNvPr id="4" name="card"/>
          <p:cNvSpPr/>
          <p:nvPr/>
        </p:nvSpPr>
        <p:spPr>
          <a:xfrm>
            <a:off x="548640" y="1371600"/>
            <a:ext cx="2560320" cy="2263140"/>
          </a:xfrm>
          <a:prstGeom prst="roundRect">
            <a:avLst>
              <a:gd name="adj" fmla="val 3232"/>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Données</a:t>
            </a:r>
            <a:endParaRPr lang="en-US" sz="1600" dirty="0"/>
          </a:p>
        </p:txBody>
      </p:sp>
      <p:sp>
        <p:nvSpPr>
          <p:cNvPr id="8" name="Text 4"/>
          <p:cNvSpPr txBox="1"/>
          <p:nvPr/>
        </p:nvSpPr>
        <p:spPr>
          <a:xfrm>
            <a:off x="777240" y="2286000"/>
            <a:ext cx="2103120" cy="1211580"/>
          </a:xfrm>
          <a:prstGeom prst="rect">
            <a:avLst/>
          </a:prstGeom>
          <a:noFill/>
          <a:ln/>
        </p:spPr>
        <p:txBody>
          <a:bodyPr wrap="square" lIns="0" tIns="0" rIns="0" bIns="0" rtlCol="0" anchor="t"/>
          <a:lstStyle/>
          <a:p>
            <a:pPr indent="0" marL="0">
              <a:buNone/>
            </a:pPr>
            <a:r>
              <a:rPr lang="en-US" sz="1400" dirty="0">
                <a:solidFill>
                  <a:schemeClr val="tx1"/>
                </a:solidFill>
              </a:rPr>
              <a:t>Constituer une base géospatiale minière à partir de sources publiques</a:t>
            </a:r>
            <a:endParaRPr lang="en-US" sz="1400" dirty="0"/>
          </a:p>
        </p:txBody>
      </p:sp>
      <p:sp>
        <p:nvSpPr>
          <p:cNvPr id="9" name="card"/>
          <p:cNvSpPr/>
          <p:nvPr/>
        </p:nvSpPr>
        <p:spPr>
          <a:xfrm>
            <a:off x="3383280" y="1371600"/>
            <a:ext cx="2560320" cy="2263140"/>
          </a:xfrm>
          <a:prstGeom prst="roundRect">
            <a:avLst>
              <a:gd name="adj" fmla="val 3232"/>
            </a:avLst>
          </a:prstGeom>
          <a:solidFill>
            <a:schemeClr val="bg2"/>
          </a:solidFill>
          <a:ln w="12700">
            <a:solidFill>
              <a:schemeClr val="bg2"/>
            </a:solidFill>
            <a:prstDash val="solid"/>
          </a:ln>
        </p:spPr>
      </p:sp>
      <p:sp>
        <p:nvSpPr>
          <p:cNvPr id="10" name="icon-circle"/>
          <p:cNvSpPr/>
          <p:nvPr/>
        </p:nvSpPr>
        <p:spPr>
          <a:xfrm>
            <a:off x="361188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3732581" y="1720901"/>
            <a:ext cx="307238" cy="307238"/>
          </a:xfrm>
          <a:prstGeom prst="rect">
            <a:avLst/>
          </a:prstGeom>
        </p:spPr>
      </p:pic>
      <p:sp>
        <p:nvSpPr>
          <p:cNvPr id="12" name="Text 7"/>
          <p:cNvSpPr txBox="1"/>
          <p:nvPr/>
        </p:nvSpPr>
        <p:spPr>
          <a:xfrm>
            <a:off x="4297680" y="155448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Télédétection</a:t>
            </a:r>
            <a:endParaRPr lang="en-US" sz="1600" dirty="0"/>
          </a:p>
        </p:txBody>
      </p:sp>
      <p:sp>
        <p:nvSpPr>
          <p:cNvPr id="13" name="Text 8"/>
          <p:cNvSpPr txBox="1"/>
          <p:nvPr/>
        </p:nvSpPr>
        <p:spPr>
          <a:xfrm>
            <a:off x="3611880" y="2286000"/>
            <a:ext cx="2103120" cy="1211580"/>
          </a:xfrm>
          <a:prstGeom prst="rect">
            <a:avLst/>
          </a:prstGeom>
          <a:noFill/>
          <a:ln/>
        </p:spPr>
        <p:txBody>
          <a:bodyPr wrap="square" lIns="0" tIns="0" rIns="0" bIns="0" rtlCol="0" anchor="t"/>
          <a:lstStyle/>
          <a:p>
            <a:pPr indent="0" marL="0">
              <a:buNone/>
            </a:pPr>
            <a:r>
              <a:rPr lang="en-US" sz="1400" dirty="0">
                <a:solidFill>
                  <a:schemeClr val="tx1"/>
                </a:solidFill>
              </a:rPr>
              <a:t>Cartographier oxydes de fer, argiles et silice sur Sentinel-2, Landsat, ASTER</a:t>
            </a:r>
            <a:endParaRPr lang="en-US" sz="1400" dirty="0"/>
          </a:p>
        </p:txBody>
      </p:sp>
      <p:sp>
        <p:nvSpPr>
          <p:cNvPr id="14" name="card"/>
          <p:cNvSpPr/>
          <p:nvPr/>
        </p:nvSpPr>
        <p:spPr>
          <a:xfrm>
            <a:off x="6217920" y="1371600"/>
            <a:ext cx="2560320" cy="2263140"/>
          </a:xfrm>
          <a:prstGeom prst="roundRect">
            <a:avLst>
              <a:gd name="adj" fmla="val 3232"/>
            </a:avLst>
          </a:prstGeom>
          <a:solidFill>
            <a:schemeClr val="bg2"/>
          </a:solidFill>
          <a:ln w="12700">
            <a:solidFill>
              <a:schemeClr val="bg2"/>
            </a:solidFill>
            <a:prstDash val="solid"/>
          </a:ln>
        </p:spPr>
      </p:sp>
      <p:sp>
        <p:nvSpPr>
          <p:cNvPr id="15" name="icon-circle"/>
          <p:cNvSpPr/>
          <p:nvPr/>
        </p:nvSpPr>
        <p:spPr>
          <a:xfrm>
            <a:off x="644652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6567221" y="1720901"/>
            <a:ext cx="307238" cy="307238"/>
          </a:xfrm>
          <a:prstGeom prst="rect">
            <a:avLst/>
          </a:prstGeom>
        </p:spPr>
      </p:pic>
      <p:sp>
        <p:nvSpPr>
          <p:cNvPr id="17" name="Text 11"/>
          <p:cNvSpPr txBox="1"/>
          <p:nvPr/>
        </p:nvSpPr>
        <p:spPr>
          <a:xfrm>
            <a:off x="7132320" y="155448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Intégration</a:t>
            </a:r>
            <a:endParaRPr lang="en-US" sz="1600" dirty="0"/>
          </a:p>
        </p:txBody>
      </p:sp>
      <p:sp>
        <p:nvSpPr>
          <p:cNvPr id="18" name="Text 12"/>
          <p:cNvSpPr txBox="1"/>
          <p:nvPr/>
        </p:nvSpPr>
        <p:spPr>
          <a:xfrm>
            <a:off x="6446520" y="2286000"/>
            <a:ext cx="2103120" cy="1211580"/>
          </a:xfrm>
          <a:prstGeom prst="rect">
            <a:avLst/>
          </a:prstGeom>
          <a:noFill/>
          <a:ln/>
        </p:spPr>
        <p:txBody>
          <a:bodyPr wrap="square" lIns="0" tIns="0" rIns="0" bIns="0" rtlCol="0" anchor="t"/>
          <a:lstStyle/>
          <a:p>
            <a:pPr indent="0" marL="0">
              <a:buNone/>
            </a:pPr>
            <a:r>
              <a:rPr lang="en-US" sz="1400" dirty="0">
                <a:solidFill>
                  <a:schemeClr val="tx1"/>
                </a:solidFill>
              </a:rPr>
              <a:t>Combiner géologie, géochimie, structures et images en carte de prospectivité</a:t>
            </a:r>
            <a:endParaRPr lang="en-US" sz="1400" dirty="0"/>
          </a:p>
        </p:txBody>
      </p:sp>
      <p:sp>
        <p:nvSpPr>
          <p:cNvPr id="19" name="card"/>
          <p:cNvSpPr/>
          <p:nvPr/>
        </p:nvSpPr>
        <p:spPr>
          <a:xfrm>
            <a:off x="9052560" y="1371600"/>
            <a:ext cx="2560320" cy="2263140"/>
          </a:xfrm>
          <a:prstGeom prst="roundRect">
            <a:avLst>
              <a:gd name="adj" fmla="val 3232"/>
            </a:avLst>
          </a:prstGeom>
          <a:solidFill>
            <a:schemeClr val="bg2"/>
          </a:solidFill>
          <a:ln w="12700">
            <a:solidFill>
              <a:schemeClr val="bg2"/>
            </a:solidFill>
            <a:prstDash val="solid"/>
          </a:ln>
        </p:spPr>
      </p:sp>
      <p:sp>
        <p:nvSpPr>
          <p:cNvPr id="20" name="icon-circle"/>
          <p:cNvSpPr/>
          <p:nvPr/>
        </p:nvSpPr>
        <p:spPr>
          <a:xfrm>
            <a:off x="9281160" y="1600200"/>
            <a:ext cx="548640" cy="548640"/>
          </a:xfrm>
          <a:prstGeom prst="ellipse">
            <a:avLst/>
          </a:prstGeom>
          <a:solidFill>
            <a:srgbClr val="D9A441"/>
          </a:solidFill>
          <a:ln w="12700">
            <a:solidFill>
              <a:srgbClr val="D9A441"/>
            </a:solidFill>
            <a:prstDash val="solid"/>
          </a:ln>
        </p:spPr>
      </p:sp>
      <p:pic>
        <p:nvPicPr>
          <p:cNvPr id="21" name="icon" descr="preencoded.png">    </p:cNvPr>
          <p:cNvPicPr>
            <a:picLocks noChangeAspect="1"/>
          </p:cNvPicPr>
          <p:nvPr/>
        </p:nvPicPr>
        <p:blipFill>
          <a:blip r:embed="rId4"/>
          <a:stretch>
            <a:fillRect/>
          </a:stretch>
        </p:blipFill>
        <p:spPr>
          <a:xfrm>
            <a:off x="9401861" y="1720901"/>
            <a:ext cx="307238" cy="307238"/>
          </a:xfrm>
          <a:prstGeom prst="rect">
            <a:avLst/>
          </a:prstGeom>
        </p:spPr>
      </p:pic>
      <p:sp>
        <p:nvSpPr>
          <p:cNvPr id="22" name="Text 15"/>
          <p:cNvSpPr txBox="1"/>
          <p:nvPr/>
        </p:nvSpPr>
        <p:spPr>
          <a:xfrm>
            <a:off x="9966960" y="155448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Cibles</a:t>
            </a:r>
            <a:endParaRPr lang="en-US" sz="1600" dirty="0"/>
          </a:p>
        </p:txBody>
      </p:sp>
      <p:sp>
        <p:nvSpPr>
          <p:cNvPr id="23" name="Text 16"/>
          <p:cNvSpPr txBox="1"/>
          <p:nvPr/>
        </p:nvSpPr>
        <p:spPr>
          <a:xfrm>
            <a:off x="9281160" y="2286000"/>
            <a:ext cx="2103120" cy="1211580"/>
          </a:xfrm>
          <a:prstGeom prst="rect">
            <a:avLst/>
          </a:prstGeom>
          <a:noFill/>
          <a:ln/>
        </p:spPr>
        <p:txBody>
          <a:bodyPr wrap="square" lIns="0" tIns="0" rIns="0" bIns="0" rtlCol="0" anchor="t"/>
          <a:lstStyle/>
          <a:p>
            <a:pPr indent="0" marL="0">
              <a:buNone/>
            </a:pPr>
            <a:r>
              <a:rPr lang="en-US" sz="1400" dirty="0">
                <a:solidFill>
                  <a:schemeClr val="tx1"/>
                </a:solidFill>
              </a:rPr>
              <a:t>Hiérarchiser des cibles et mesurer leur robustesse</a:t>
            </a:r>
            <a:endParaRPr lang="en-US" sz="1400" dirty="0"/>
          </a:p>
        </p:txBody>
      </p:sp>
      <p:sp>
        <p:nvSpPr>
          <p:cNvPr id="24" name="card"/>
          <p:cNvSpPr/>
          <p:nvPr/>
        </p:nvSpPr>
        <p:spPr>
          <a:xfrm>
            <a:off x="548640" y="3909060"/>
            <a:ext cx="2560320" cy="2263140"/>
          </a:xfrm>
          <a:prstGeom prst="roundRect">
            <a:avLst>
              <a:gd name="adj" fmla="val 3232"/>
            </a:avLst>
          </a:prstGeom>
          <a:solidFill>
            <a:schemeClr val="bg2"/>
          </a:solidFill>
          <a:ln w="12700">
            <a:solidFill>
              <a:schemeClr val="bg2"/>
            </a:solidFill>
            <a:prstDash val="solid"/>
          </a:ln>
        </p:spPr>
      </p:sp>
      <p:sp>
        <p:nvSpPr>
          <p:cNvPr id="25" name="icon-circle"/>
          <p:cNvSpPr/>
          <p:nvPr/>
        </p:nvSpPr>
        <p:spPr>
          <a:xfrm>
            <a:off x="777240" y="4137660"/>
            <a:ext cx="548640" cy="548640"/>
          </a:xfrm>
          <a:prstGeom prst="ellipse">
            <a:avLst/>
          </a:prstGeom>
          <a:solidFill>
            <a:srgbClr val="C9772F"/>
          </a:solidFill>
          <a:ln w="12700">
            <a:solidFill>
              <a:srgbClr val="C9772F"/>
            </a:solidFill>
            <a:prstDash val="solid"/>
          </a:ln>
        </p:spPr>
      </p:sp>
      <p:pic>
        <p:nvPicPr>
          <p:cNvPr id="26" name="icon" descr="preencoded.png">    </p:cNvPr>
          <p:cNvPicPr>
            <a:picLocks noChangeAspect="1"/>
          </p:cNvPicPr>
          <p:nvPr/>
        </p:nvPicPr>
        <p:blipFill>
          <a:blip r:embed="rId5"/>
          <a:stretch>
            <a:fillRect/>
          </a:stretch>
        </p:blipFill>
        <p:spPr>
          <a:xfrm>
            <a:off x="897941" y="4258361"/>
            <a:ext cx="307238" cy="307238"/>
          </a:xfrm>
          <a:prstGeom prst="rect">
            <a:avLst/>
          </a:prstGeom>
        </p:spPr>
      </p:pic>
      <p:sp>
        <p:nvSpPr>
          <p:cNvPr id="27" name="Text 19"/>
          <p:cNvSpPr txBox="1"/>
          <p:nvPr/>
        </p:nvSpPr>
        <p:spPr>
          <a:xfrm>
            <a:off x="1463040" y="409194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Cadastre</a:t>
            </a:r>
            <a:endParaRPr lang="en-US" sz="1600" dirty="0"/>
          </a:p>
        </p:txBody>
      </p:sp>
      <p:sp>
        <p:nvSpPr>
          <p:cNvPr id="28" name="Text 20"/>
          <p:cNvSpPr txBox="1"/>
          <p:nvPr/>
        </p:nvSpPr>
        <p:spPr>
          <a:xfrm>
            <a:off x="777240" y="4823460"/>
            <a:ext cx="2103120" cy="1211580"/>
          </a:xfrm>
          <a:prstGeom prst="rect">
            <a:avLst/>
          </a:prstGeom>
          <a:noFill/>
          <a:ln/>
        </p:spPr>
        <p:txBody>
          <a:bodyPr wrap="square" lIns="0" tIns="0" rIns="0" bIns="0" rtlCol="0" anchor="t"/>
          <a:lstStyle/>
          <a:p>
            <a:pPr indent="0" marL="0">
              <a:buNone/>
            </a:pPr>
            <a:r>
              <a:rPr lang="en-US" sz="1400" dirty="0">
                <a:solidFill>
                  <a:schemeClr val="tx1"/>
                </a:solidFill>
              </a:rPr>
              <a:t>Croiser une cible avec titres miniers, aires protégées, infrastructures</a:t>
            </a:r>
            <a:endParaRPr lang="en-US" sz="1400" dirty="0"/>
          </a:p>
        </p:txBody>
      </p:sp>
      <p:sp>
        <p:nvSpPr>
          <p:cNvPr id="29" name="card"/>
          <p:cNvSpPr/>
          <p:nvPr/>
        </p:nvSpPr>
        <p:spPr>
          <a:xfrm>
            <a:off x="3383280" y="3909060"/>
            <a:ext cx="2560320" cy="2263140"/>
          </a:xfrm>
          <a:prstGeom prst="roundRect">
            <a:avLst>
              <a:gd name="adj" fmla="val 3232"/>
            </a:avLst>
          </a:prstGeom>
          <a:solidFill>
            <a:schemeClr val="bg2"/>
          </a:solidFill>
          <a:ln w="12700">
            <a:solidFill>
              <a:schemeClr val="bg2"/>
            </a:solidFill>
            <a:prstDash val="solid"/>
          </a:ln>
        </p:spPr>
      </p:sp>
      <p:sp>
        <p:nvSpPr>
          <p:cNvPr id="30" name="icon-circle"/>
          <p:cNvSpPr/>
          <p:nvPr/>
        </p:nvSpPr>
        <p:spPr>
          <a:xfrm>
            <a:off x="3611880" y="4137660"/>
            <a:ext cx="548640" cy="548640"/>
          </a:xfrm>
          <a:prstGeom prst="ellipse">
            <a:avLst/>
          </a:prstGeom>
          <a:solidFill>
            <a:srgbClr val="6B7780"/>
          </a:solidFill>
          <a:ln w="12700">
            <a:solidFill>
              <a:srgbClr val="6B7780"/>
            </a:solidFill>
            <a:prstDash val="solid"/>
          </a:ln>
        </p:spPr>
      </p:sp>
      <p:pic>
        <p:nvPicPr>
          <p:cNvPr id="31" name="icon" descr="preencoded.png">    </p:cNvPr>
          <p:cNvPicPr>
            <a:picLocks noChangeAspect="1"/>
          </p:cNvPicPr>
          <p:nvPr/>
        </p:nvPicPr>
        <p:blipFill>
          <a:blip r:embed="rId6"/>
          <a:stretch>
            <a:fillRect/>
          </a:stretch>
        </p:blipFill>
        <p:spPr>
          <a:xfrm>
            <a:off x="3732581" y="4258361"/>
            <a:ext cx="307238" cy="307238"/>
          </a:xfrm>
          <a:prstGeom prst="rect">
            <a:avLst/>
          </a:prstGeom>
        </p:spPr>
      </p:pic>
      <p:sp>
        <p:nvSpPr>
          <p:cNvPr id="32" name="Text 23"/>
          <p:cNvSpPr txBox="1"/>
          <p:nvPr/>
        </p:nvSpPr>
        <p:spPr>
          <a:xfrm>
            <a:off x="4297680" y="409194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Produits</a:t>
            </a:r>
            <a:endParaRPr lang="en-US" sz="1600" dirty="0"/>
          </a:p>
        </p:txBody>
      </p:sp>
      <p:sp>
        <p:nvSpPr>
          <p:cNvPr id="33" name="Text 24"/>
          <p:cNvSpPr txBox="1"/>
          <p:nvPr/>
        </p:nvSpPr>
        <p:spPr>
          <a:xfrm>
            <a:off x="3611880" y="4823460"/>
            <a:ext cx="2103120" cy="1211580"/>
          </a:xfrm>
          <a:prstGeom prst="rect">
            <a:avLst/>
          </a:prstGeom>
          <a:noFill/>
          <a:ln/>
        </p:spPr>
        <p:txBody>
          <a:bodyPr wrap="square" lIns="0" tIns="0" rIns="0" bIns="0" rtlCol="0" anchor="t"/>
          <a:lstStyle/>
          <a:p>
            <a:pPr indent="0" marL="0">
              <a:buNone/>
            </a:pPr>
            <a:r>
              <a:rPr lang="en-US" sz="1400" dirty="0">
                <a:solidFill>
                  <a:schemeClr val="tx1"/>
                </a:solidFill>
              </a:rPr>
              <a:t>Décrire la chaîne du minerai au produit commercial et ses marchés</a:t>
            </a:r>
            <a:endParaRPr lang="en-US" sz="1400" dirty="0"/>
          </a:p>
        </p:txBody>
      </p:sp>
      <p:sp>
        <p:nvSpPr>
          <p:cNvPr id="34" name="card"/>
          <p:cNvSpPr/>
          <p:nvPr/>
        </p:nvSpPr>
        <p:spPr>
          <a:xfrm>
            <a:off x="6217920" y="3909060"/>
            <a:ext cx="2560320" cy="2263140"/>
          </a:xfrm>
          <a:prstGeom prst="roundRect">
            <a:avLst>
              <a:gd name="adj" fmla="val 3232"/>
            </a:avLst>
          </a:prstGeom>
          <a:solidFill>
            <a:schemeClr val="bg2"/>
          </a:solidFill>
          <a:ln w="12700">
            <a:solidFill>
              <a:schemeClr val="bg2"/>
            </a:solidFill>
            <a:prstDash val="solid"/>
          </a:ln>
        </p:spPr>
      </p:sp>
      <p:sp>
        <p:nvSpPr>
          <p:cNvPr id="35" name="icon-circle"/>
          <p:cNvSpPr/>
          <p:nvPr/>
        </p:nvSpPr>
        <p:spPr>
          <a:xfrm>
            <a:off x="6446520" y="4137660"/>
            <a:ext cx="548640" cy="548640"/>
          </a:xfrm>
          <a:prstGeom prst="ellipse">
            <a:avLst/>
          </a:prstGeom>
          <a:solidFill>
            <a:srgbClr val="B5542D"/>
          </a:solidFill>
          <a:ln w="12700">
            <a:solidFill>
              <a:srgbClr val="B5542D"/>
            </a:solidFill>
            <a:prstDash val="solid"/>
          </a:ln>
        </p:spPr>
      </p:sp>
      <p:pic>
        <p:nvPicPr>
          <p:cNvPr id="36" name="icon" descr="preencoded.png">    </p:cNvPr>
          <p:cNvPicPr>
            <a:picLocks noChangeAspect="1"/>
          </p:cNvPicPr>
          <p:nvPr/>
        </p:nvPicPr>
        <p:blipFill>
          <a:blip r:embed="rId7"/>
          <a:stretch>
            <a:fillRect/>
          </a:stretch>
        </p:blipFill>
        <p:spPr>
          <a:xfrm>
            <a:off x="6567221" y="4258361"/>
            <a:ext cx="307238" cy="307238"/>
          </a:xfrm>
          <a:prstGeom prst="rect">
            <a:avLst/>
          </a:prstGeom>
        </p:spPr>
      </p:pic>
      <p:sp>
        <p:nvSpPr>
          <p:cNvPr id="37" name="Text 27"/>
          <p:cNvSpPr txBox="1"/>
          <p:nvPr/>
        </p:nvSpPr>
        <p:spPr>
          <a:xfrm>
            <a:off x="7132320" y="409194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Rigueur</a:t>
            </a:r>
            <a:endParaRPr lang="en-US" sz="1600" dirty="0"/>
          </a:p>
        </p:txBody>
      </p:sp>
      <p:sp>
        <p:nvSpPr>
          <p:cNvPr id="38" name="Text 28"/>
          <p:cNvSpPr txBox="1"/>
          <p:nvPr/>
        </p:nvSpPr>
        <p:spPr>
          <a:xfrm>
            <a:off x="6446520" y="4823460"/>
            <a:ext cx="2103120" cy="1211580"/>
          </a:xfrm>
          <a:prstGeom prst="rect">
            <a:avLst/>
          </a:prstGeom>
          <a:noFill/>
          <a:ln/>
        </p:spPr>
        <p:txBody>
          <a:bodyPr wrap="square" lIns="0" tIns="0" rIns="0" bIns="0" rtlCol="0" anchor="t"/>
          <a:lstStyle/>
          <a:p>
            <a:pPr indent="0" marL="0">
              <a:buNone/>
            </a:pPr>
            <a:r>
              <a:rPr lang="en-US" sz="1400" dirty="0">
                <a:solidFill>
                  <a:schemeClr val="tx1"/>
                </a:solidFill>
              </a:rPr>
              <a:t>Distinguer clairement cible, ressource et réserve</a:t>
            </a:r>
            <a:endParaRPr lang="en-US" sz="1400" dirty="0"/>
          </a:p>
        </p:txBody>
      </p:sp>
      <p:sp>
        <p:nvSpPr>
          <p:cNvPr id="39" name="card"/>
          <p:cNvSpPr/>
          <p:nvPr/>
        </p:nvSpPr>
        <p:spPr>
          <a:xfrm>
            <a:off x="9052560" y="3909060"/>
            <a:ext cx="2560320" cy="2263140"/>
          </a:xfrm>
          <a:prstGeom prst="roundRect">
            <a:avLst>
              <a:gd name="adj" fmla="val 3232"/>
            </a:avLst>
          </a:prstGeom>
          <a:solidFill>
            <a:schemeClr val="bg2"/>
          </a:solidFill>
          <a:ln w="12700">
            <a:solidFill>
              <a:schemeClr val="bg2"/>
            </a:solidFill>
            <a:prstDash val="solid"/>
          </a:ln>
        </p:spPr>
      </p:sp>
      <p:sp>
        <p:nvSpPr>
          <p:cNvPr id="40" name="icon-circle"/>
          <p:cNvSpPr/>
          <p:nvPr/>
        </p:nvSpPr>
        <p:spPr>
          <a:xfrm>
            <a:off x="9281160" y="4137660"/>
            <a:ext cx="548640" cy="548640"/>
          </a:xfrm>
          <a:prstGeom prst="ellipse">
            <a:avLst/>
          </a:prstGeom>
          <a:solidFill>
            <a:srgbClr val="3E7C6B"/>
          </a:solidFill>
          <a:ln w="12700">
            <a:solidFill>
              <a:srgbClr val="3E7C6B"/>
            </a:solidFill>
            <a:prstDash val="solid"/>
          </a:ln>
        </p:spPr>
      </p:sp>
      <p:pic>
        <p:nvPicPr>
          <p:cNvPr id="41" name="icon" descr="preencoded.png">    </p:cNvPr>
          <p:cNvPicPr>
            <a:picLocks noChangeAspect="1"/>
          </p:cNvPicPr>
          <p:nvPr/>
        </p:nvPicPr>
        <p:blipFill>
          <a:blip r:embed="rId8"/>
          <a:stretch>
            <a:fillRect/>
          </a:stretch>
        </p:blipFill>
        <p:spPr>
          <a:xfrm>
            <a:off x="9401861" y="4258361"/>
            <a:ext cx="307238" cy="307238"/>
          </a:xfrm>
          <a:prstGeom prst="rect">
            <a:avLst/>
          </a:prstGeom>
        </p:spPr>
      </p:pic>
      <p:sp>
        <p:nvSpPr>
          <p:cNvPr id="42" name="Text 31"/>
          <p:cNvSpPr txBox="1"/>
          <p:nvPr/>
        </p:nvSpPr>
        <p:spPr>
          <a:xfrm>
            <a:off x="9966960" y="4091940"/>
            <a:ext cx="1463040" cy="640080"/>
          </a:xfrm>
          <a:prstGeom prst="rect">
            <a:avLst/>
          </a:prstGeom>
          <a:noFill/>
          <a:ln/>
        </p:spPr>
        <p:txBody>
          <a:bodyPr wrap="square" lIns="0" tIns="0" rIns="0" bIns="0" rtlCol="0" anchor="ctr"/>
          <a:lstStyle/>
          <a:p>
            <a:pPr indent="0" marL="0">
              <a:buNone/>
            </a:pPr>
            <a:r>
              <a:rPr lang="en-US" sz="1600" b="1" dirty="0">
                <a:solidFill>
                  <a:schemeClr val="tx2"/>
                </a:solidFill>
              </a:rPr>
              <a:t>Synthèse</a:t>
            </a:r>
            <a:endParaRPr lang="en-US" sz="1600" dirty="0"/>
          </a:p>
        </p:txBody>
      </p:sp>
      <p:sp>
        <p:nvSpPr>
          <p:cNvPr id="43" name="Text 32"/>
          <p:cNvSpPr txBox="1"/>
          <p:nvPr/>
        </p:nvSpPr>
        <p:spPr>
          <a:xfrm>
            <a:off x="9281160" y="4823460"/>
            <a:ext cx="2103120" cy="1211580"/>
          </a:xfrm>
          <a:prstGeom prst="rect">
            <a:avLst/>
          </a:prstGeom>
          <a:noFill/>
          <a:ln/>
        </p:spPr>
        <p:txBody>
          <a:bodyPr wrap="square" lIns="0" tIns="0" rIns="0" bIns="0" rtlCol="0" anchor="t"/>
          <a:lstStyle/>
          <a:p>
            <a:pPr indent="0" marL="0">
              <a:buNone/>
            </a:pPr>
            <a:r>
              <a:rPr lang="en-US" sz="1400" dirty="0">
                <a:solidFill>
                  <a:schemeClr val="tx1"/>
                </a:solidFill>
              </a:rPr>
              <a:t>Rédiger un mini investment brief défendable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Cinq jours, un fil rouge : 30 % de théorie, 70 % de pratique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822960"/>
                <a:gridCol w="3657600"/>
                <a:gridCol w="1097280"/>
                <a:gridCol w="1097280"/>
                <a:gridCol w="43891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Jour</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Thème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Livrable principal</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6692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J1</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Comprendre le territoire minier</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3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4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 minière A3 de l'Afrique centrale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J2</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Télédétection appliquée aux mines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2,5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4,5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Cartes des anomalies spectrales et des linéaments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6692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J3</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Cas fil rouge : Cameroun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5,5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 de prospectivité préliminaire, statut cadastral</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J4</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De la cible au projet ; comparaisons pays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5,5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 validée, top 10, carte pays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6692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J5</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Du minerai au produit ; projet final</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2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Mini investment brief et soutenance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10,5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24,5 h</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5" name="callout"/>
          <p:cNvSpPr/>
          <p:nvPr/>
        </p:nvSpPr>
        <p:spPr>
          <a:xfrm>
            <a:off x="548640" y="5532120"/>
            <a:ext cx="11064240" cy="640080"/>
          </a:xfrm>
          <a:prstGeom prst="roundRect">
            <a:avLst>
              <a:gd name="adj" fmla="val 11429"/>
            </a:avLst>
          </a:prstGeom>
          <a:solidFill>
            <a:srgbClr val="3F6C9A">
              <a:alpha val="15000"/>
            </a:srgbClr>
          </a:solidFill>
          <a:ln w="12700">
            <a:solidFill>
              <a:srgbClr val="3F6C9A"/>
            </a:solidFill>
            <a:prstDash val="solid"/>
          </a:ln>
        </p:spPr>
      </p:sp>
      <p:sp>
        <p:nvSpPr>
          <p:cNvPr id="6" name="icon-circle"/>
          <p:cNvSpPr/>
          <p:nvPr/>
        </p:nvSpPr>
        <p:spPr>
          <a:xfrm>
            <a:off x="685800" y="5650992"/>
            <a:ext cx="402336" cy="402336"/>
          </a:xfrm>
          <a:prstGeom prst="ellipse">
            <a:avLst/>
          </a:prstGeom>
          <a:solidFill>
            <a:srgbClr val="3F6C9A"/>
          </a:solidFill>
          <a:ln w="12700">
            <a:solidFill>
              <a:srgbClr val="3F6C9A"/>
            </a:solidFill>
            <a:prstDash val="solid"/>
          </a:ln>
        </p:spPr>
      </p:sp>
      <p:pic>
        <p:nvPicPr>
          <p:cNvPr id="7" name="icon" descr="preencoded.png">    </p:cNvPr>
          <p:cNvPicPr>
            <a:picLocks noChangeAspect="1"/>
          </p:cNvPicPr>
          <p:nvPr/>
        </p:nvPicPr>
        <p:blipFill>
          <a:blip r:embed="rId1"/>
          <a:stretch>
            <a:fillRect/>
          </a:stretch>
        </p:blipFill>
        <p:spPr>
          <a:xfrm>
            <a:off x="774314" y="5739506"/>
            <a:ext cx="225308" cy="225308"/>
          </a:xfrm>
          <a:prstGeom prst="rect">
            <a:avLst/>
          </a:prstGeom>
        </p:spPr>
      </p:pic>
      <p:sp>
        <p:nvSpPr>
          <p:cNvPr id="8" name="Text 3"/>
          <p:cNvSpPr txBox="1"/>
          <p:nvPr/>
        </p:nvSpPr>
        <p:spPr>
          <a:xfrm>
            <a:off x="1234440" y="5532120"/>
            <a:ext cx="10195560" cy="640080"/>
          </a:xfrm>
          <a:prstGeom prst="rect">
            <a:avLst/>
          </a:prstGeom>
          <a:noFill/>
          <a:ln/>
        </p:spPr>
        <p:txBody>
          <a:bodyPr wrap="square" lIns="0" tIns="0" rIns="0" bIns="0" rtlCol="0" anchor="ctr"/>
          <a:lstStyle/>
          <a:p>
            <a:pPr indent="0" marL="0">
              <a:buNone/>
            </a:pPr>
            <a:r>
              <a:rPr lang="en-US" sz="1500" dirty="0">
                <a:solidFill>
                  <a:schemeClr val="tx2"/>
                </a:solidFill>
              </a:rPr>
              <a:t>Journée type : 8 h 30 – 12 h 30 et 13 h 30 – 16 h 30, deux pauses de 15 minutes.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La télédétection mène aux cibles ; le terrain décide du reste</a:t>
            </a:r>
            <a:endParaRPr lang="en-US" sz="3000" dirty="0"/>
          </a:p>
        </p:txBody>
      </p:sp>
      <p:sp>
        <p:nvSpPr>
          <p:cNvPr id="4" name="step"/>
          <p:cNvSpPr/>
          <p:nvPr/>
        </p:nvSpPr>
        <p:spPr>
          <a:xfrm>
            <a:off x="548640" y="1417320"/>
            <a:ext cx="1920240" cy="1828800"/>
          </a:xfrm>
          <a:prstGeom prst="roundRect">
            <a:avLst>
              <a:gd name="adj" fmla="val 4000"/>
            </a:avLst>
          </a:prstGeom>
          <a:solidFill>
            <a:srgbClr val="EEF2F3"/>
          </a:solidFill>
          <a:ln w="12700">
            <a:solidFill>
              <a:srgbClr val="EEF2F3"/>
            </a:solidFill>
            <a:prstDash val="solid"/>
          </a:ln>
        </p:spPr>
      </p:sp>
      <p:sp>
        <p:nvSpPr>
          <p:cNvPr id="5" name="step-num"/>
          <p:cNvSpPr/>
          <p:nvPr/>
        </p:nvSpPr>
        <p:spPr>
          <a:xfrm>
            <a:off x="713232" y="1581912"/>
            <a:ext cx="420624" cy="420624"/>
          </a:xfrm>
          <a:prstGeom prst="ellipse">
            <a:avLst/>
          </a:prstGeom>
          <a:solidFill>
            <a:srgbClr val="3F6C9A"/>
          </a:solidFill>
          <a:ln w="12700">
            <a:solidFill>
              <a:srgbClr val="3F6C9A"/>
            </a:solidFill>
            <a:prstDash val="solid"/>
          </a:ln>
        </p:spPr>
      </p:sp>
      <p:sp>
        <p:nvSpPr>
          <p:cNvPr id="6" name="Text 3"/>
          <p:cNvSpPr txBox="1"/>
          <p:nvPr/>
        </p:nvSpPr>
        <p:spPr>
          <a:xfrm>
            <a:off x="713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2704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Géo-données</a:t>
            </a:r>
            <a:endParaRPr lang="en-US" sz="1500" dirty="0"/>
          </a:p>
        </p:txBody>
      </p:sp>
      <p:sp>
        <p:nvSpPr>
          <p:cNvPr id="8" name="Text 5"/>
          <p:cNvSpPr txBox="1"/>
          <p:nvPr/>
        </p:nvSpPr>
        <p:spPr>
          <a:xfrm>
            <a:off x="713232" y="2148840"/>
            <a:ext cx="1591056" cy="1005840"/>
          </a:xfrm>
          <a:prstGeom prst="rect">
            <a:avLst/>
          </a:prstGeom>
          <a:noFill/>
          <a:ln/>
        </p:spPr>
        <p:txBody>
          <a:bodyPr wrap="square" lIns="0" tIns="0" rIns="0" bIns="0" rtlCol="0" anchor="t"/>
          <a:lstStyle/>
          <a:p>
            <a:pPr indent="0" marL="0">
              <a:buNone/>
            </a:pPr>
            <a:r>
              <a:rPr lang="en-US" sz="1400" dirty="0">
                <a:solidFill>
                  <a:schemeClr val="tx1"/>
                </a:solidFill>
              </a:rPr>
              <a:t>Géologie, géochimie, géophysique, cadastre</a:t>
            </a:r>
            <a:endParaRPr lang="en-US" sz="1400" dirty="0"/>
          </a:p>
        </p:txBody>
      </p:sp>
      <p:sp>
        <p:nvSpPr>
          <p:cNvPr id="9" name="arrow"/>
          <p:cNvSpPr/>
          <p:nvPr/>
        </p:nvSpPr>
        <p:spPr>
          <a:xfrm>
            <a:off x="2542032" y="2203704"/>
            <a:ext cx="219456" cy="256032"/>
          </a:xfrm>
          <a:prstGeom prst="rightArrow">
            <a:avLst/>
          </a:prstGeom>
          <a:solidFill>
            <a:srgbClr val="9AA5AC"/>
          </a:solidFill>
          <a:ln w="12700">
            <a:solidFill>
              <a:srgbClr val="9AA5AC"/>
            </a:solidFill>
            <a:prstDash val="solid"/>
          </a:ln>
        </p:spPr>
      </p:sp>
      <p:sp>
        <p:nvSpPr>
          <p:cNvPr id="10" name="step"/>
          <p:cNvSpPr/>
          <p:nvPr/>
        </p:nvSpPr>
        <p:spPr>
          <a:xfrm>
            <a:off x="2834640" y="1417320"/>
            <a:ext cx="1920240" cy="1828800"/>
          </a:xfrm>
          <a:prstGeom prst="roundRect">
            <a:avLst>
              <a:gd name="adj" fmla="val 4000"/>
            </a:avLst>
          </a:prstGeom>
          <a:solidFill>
            <a:srgbClr val="EEF2F3"/>
          </a:solidFill>
          <a:ln w="12700">
            <a:solidFill>
              <a:srgbClr val="EEF2F3"/>
            </a:solidFill>
            <a:prstDash val="solid"/>
          </a:ln>
        </p:spPr>
      </p:sp>
      <p:sp>
        <p:nvSpPr>
          <p:cNvPr id="11" name="step-num"/>
          <p:cNvSpPr/>
          <p:nvPr/>
        </p:nvSpPr>
        <p:spPr>
          <a:xfrm>
            <a:off x="2999232" y="1581912"/>
            <a:ext cx="420624" cy="420624"/>
          </a:xfrm>
          <a:prstGeom prst="ellipse">
            <a:avLst/>
          </a:prstGeom>
          <a:solidFill>
            <a:srgbClr val="3F6C9A"/>
          </a:solidFill>
          <a:ln w="12700">
            <a:solidFill>
              <a:srgbClr val="3F6C9A"/>
            </a:solidFill>
            <a:prstDash val="solid"/>
          </a:ln>
        </p:spPr>
      </p:sp>
      <p:sp>
        <p:nvSpPr>
          <p:cNvPr id="12" name="Text 9"/>
          <p:cNvSpPr txBox="1"/>
          <p:nvPr/>
        </p:nvSpPr>
        <p:spPr>
          <a:xfrm>
            <a:off x="2999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493008" y="152704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Satellite</a:t>
            </a:r>
            <a:endParaRPr lang="en-US" sz="1500" dirty="0"/>
          </a:p>
        </p:txBody>
      </p:sp>
      <p:sp>
        <p:nvSpPr>
          <p:cNvPr id="14" name="Text 11"/>
          <p:cNvSpPr txBox="1"/>
          <p:nvPr/>
        </p:nvSpPr>
        <p:spPr>
          <a:xfrm>
            <a:off x="2999232" y="2148840"/>
            <a:ext cx="1591056" cy="1005840"/>
          </a:xfrm>
          <a:prstGeom prst="rect">
            <a:avLst/>
          </a:prstGeom>
          <a:noFill/>
          <a:ln/>
        </p:spPr>
        <p:txBody>
          <a:bodyPr wrap="square" lIns="0" tIns="0" rIns="0" bIns="0" rtlCol="0" anchor="t"/>
          <a:lstStyle/>
          <a:p>
            <a:pPr indent="0" marL="0">
              <a:buNone/>
            </a:pPr>
            <a:r>
              <a:rPr lang="en-US" sz="1400" dirty="0">
                <a:solidFill>
                  <a:schemeClr val="tx1"/>
                </a:solidFill>
              </a:rPr>
              <a:t>Sentinel-2, Landsat, ASTER, Sentinel-1, MNT</a:t>
            </a:r>
            <a:endParaRPr lang="en-US" sz="1400" dirty="0"/>
          </a:p>
        </p:txBody>
      </p:sp>
      <p:sp>
        <p:nvSpPr>
          <p:cNvPr id="15" name="arrow"/>
          <p:cNvSpPr/>
          <p:nvPr/>
        </p:nvSpPr>
        <p:spPr>
          <a:xfrm>
            <a:off x="4828032" y="2203704"/>
            <a:ext cx="219456" cy="256032"/>
          </a:xfrm>
          <a:prstGeom prst="rightArrow">
            <a:avLst/>
          </a:prstGeom>
          <a:solidFill>
            <a:srgbClr val="9AA5AC"/>
          </a:solidFill>
          <a:ln w="12700">
            <a:solidFill>
              <a:srgbClr val="9AA5AC"/>
            </a:solidFill>
            <a:prstDash val="solid"/>
          </a:ln>
        </p:spPr>
      </p:sp>
      <p:sp>
        <p:nvSpPr>
          <p:cNvPr id="16" name="step"/>
          <p:cNvSpPr/>
          <p:nvPr/>
        </p:nvSpPr>
        <p:spPr>
          <a:xfrm>
            <a:off x="5120640" y="1417320"/>
            <a:ext cx="1920240" cy="1828800"/>
          </a:xfrm>
          <a:prstGeom prst="roundRect">
            <a:avLst>
              <a:gd name="adj" fmla="val 4000"/>
            </a:avLst>
          </a:prstGeom>
          <a:solidFill>
            <a:srgbClr val="EEF2F3"/>
          </a:solidFill>
          <a:ln w="12700">
            <a:solidFill>
              <a:srgbClr val="EEF2F3"/>
            </a:solidFill>
            <a:prstDash val="solid"/>
          </a:ln>
        </p:spPr>
      </p:sp>
      <p:sp>
        <p:nvSpPr>
          <p:cNvPr id="17" name="step-num"/>
          <p:cNvSpPr/>
          <p:nvPr/>
        </p:nvSpPr>
        <p:spPr>
          <a:xfrm>
            <a:off x="5285232" y="1581912"/>
            <a:ext cx="420624" cy="420624"/>
          </a:xfrm>
          <a:prstGeom prst="ellipse">
            <a:avLst/>
          </a:prstGeom>
          <a:solidFill>
            <a:srgbClr val="3F6C9A"/>
          </a:solidFill>
          <a:ln w="12700">
            <a:solidFill>
              <a:srgbClr val="3F6C9A"/>
            </a:solidFill>
            <a:prstDash val="solid"/>
          </a:ln>
        </p:spPr>
      </p:sp>
      <p:sp>
        <p:nvSpPr>
          <p:cNvPr id="18" name="Text 15"/>
          <p:cNvSpPr txBox="1"/>
          <p:nvPr/>
        </p:nvSpPr>
        <p:spPr>
          <a:xfrm>
            <a:off x="5285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5779008" y="152704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Analyse SIG</a:t>
            </a:r>
            <a:endParaRPr lang="en-US" sz="1500" dirty="0"/>
          </a:p>
        </p:txBody>
      </p:sp>
      <p:sp>
        <p:nvSpPr>
          <p:cNvPr id="20" name="Text 17"/>
          <p:cNvSpPr txBox="1"/>
          <p:nvPr/>
        </p:nvSpPr>
        <p:spPr>
          <a:xfrm>
            <a:off x="5285232" y="2148840"/>
            <a:ext cx="1591056" cy="1005840"/>
          </a:xfrm>
          <a:prstGeom prst="rect">
            <a:avLst/>
          </a:prstGeom>
          <a:noFill/>
          <a:ln/>
        </p:spPr>
        <p:txBody>
          <a:bodyPr wrap="square" lIns="0" tIns="0" rIns="0" bIns="0" rtlCol="0" anchor="t"/>
          <a:lstStyle/>
          <a:p>
            <a:pPr indent="0" marL="0">
              <a:buNone/>
            </a:pPr>
            <a:r>
              <a:rPr lang="en-US" sz="1400" dirty="0">
                <a:solidFill>
                  <a:schemeClr val="tx1"/>
                </a:solidFill>
              </a:rPr>
              <a:t>QGIS, Google Earth Engine</a:t>
            </a:r>
            <a:endParaRPr lang="en-US" sz="1400" dirty="0"/>
          </a:p>
        </p:txBody>
      </p:sp>
      <p:sp>
        <p:nvSpPr>
          <p:cNvPr id="21" name="arrow"/>
          <p:cNvSpPr/>
          <p:nvPr/>
        </p:nvSpPr>
        <p:spPr>
          <a:xfrm>
            <a:off x="7114032" y="2203704"/>
            <a:ext cx="219456" cy="256032"/>
          </a:xfrm>
          <a:prstGeom prst="rightArrow">
            <a:avLst/>
          </a:prstGeom>
          <a:solidFill>
            <a:srgbClr val="9AA5AC"/>
          </a:solidFill>
          <a:ln w="12700">
            <a:solidFill>
              <a:srgbClr val="9AA5AC"/>
            </a:solidFill>
            <a:prstDash val="solid"/>
          </a:ln>
        </p:spPr>
      </p:sp>
      <p:sp>
        <p:nvSpPr>
          <p:cNvPr id="22" name="step"/>
          <p:cNvSpPr/>
          <p:nvPr/>
        </p:nvSpPr>
        <p:spPr>
          <a:xfrm>
            <a:off x="7406640" y="1417320"/>
            <a:ext cx="1920240" cy="1828800"/>
          </a:xfrm>
          <a:prstGeom prst="roundRect">
            <a:avLst>
              <a:gd name="adj" fmla="val 4000"/>
            </a:avLst>
          </a:prstGeom>
          <a:solidFill>
            <a:srgbClr val="EEF2F3"/>
          </a:solidFill>
          <a:ln w="12700">
            <a:solidFill>
              <a:srgbClr val="EEF2F3"/>
            </a:solidFill>
            <a:prstDash val="solid"/>
          </a:ln>
        </p:spPr>
      </p:sp>
      <p:sp>
        <p:nvSpPr>
          <p:cNvPr id="23" name="step-num"/>
          <p:cNvSpPr/>
          <p:nvPr/>
        </p:nvSpPr>
        <p:spPr>
          <a:xfrm>
            <a:off x="7571232" y="1581912"/>
            <a:ext cx="420624" cy="420624"/>
          </a:xfrm>
          <a:prstGeom prst="ellipse">
            <a:avLst/>
          </a:prstGeom>
          <a:solidFill>
            <a:srgbClr val="3F6C9A"/>
          </a:solidFill>
          <a:ln w="12700">
            <a:solidFill>
              <a:srgbClr val="3F6C9A"/>
            </a:solidFill>
            <a:prstDash val="solid"/>
          </a:ln>
        </p:spPr>
      </p:sp>
      <p:sp>
        <p:nvSpPr>
          <p:cNvPr id="24" name="Text 21"/>
          <p:cNvSpPr txBox="1"/>
          <p:nvPr/>
        </p:nvSpPr>
        <p:spPr>
          <a:xfrm>
            <a:off x="7571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8065008" y="152704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Prospectivité</a:t>
            </a:r>
            <a:endParaRPr lang="en-US" sz="1500" dirty="0"/>
          </a:p>
        </p:txBody>
      </p:sp>
      <p:sp>
        <p:nvSpPr>
          <p:cNvPr id="26" name="Text 23"/>
          <p:cNvSpPr txBox="1"/>
          <p:nvPr/>
        </p:nvSpPr>
        <p:spPr>
          <a:xfrm>
            <a:off x="7571232" y="2148840"/>
            <a:ext cx="1591056" cy="1005840"/>
          </a:xfrm>
          <a:prstGeom prst="rect">
            <a:avLst/>
          </a:prstGeom>
          <a:noFill/>
          <a:ln/>
        </p:spPr>
        <p:txBody>
          <a:bodyPr wrap="square" lIns="0" tIns="0" rIns="0" bIns="0" rtlCol="0" anchor="t"/>
          <a:lstStyle/>
          <a:p>
            <a:pPr indent="0" marL="0">
              <a:buNone/>
            </a:pPr>
            <a:r>
              <a:rPr lang="en-US" sz="1400" dirty="0">
                <a:solidFill>
                  <a:schemeClr val="tx1"/>
                </a:solidFill>
              </a:rPr>
              <a:t>Indice pondéré, validation</a:t>
            </a:r>
            <a:endParaRPr lang="en-US" sz="1400" dirty="0"/>
          </a:p>
        </p:txBody>
      </p:sp>
      <p:sp>
        <p:nvSpPr>
          <p:cNvPr id="27" name="arrow"/>
          <p:cNvSpPr/>
          <p:nvPr/>
        </p:nvSpPr>
        <p:spPr>
          <a:xfrm>
            <a:off x="9400032" y="2203704"/>
            <a:ext cx="219456" cy="256032"/>
          </a:xfrm>
          <a:prstGeom prst="rightArrow">
            <a:avLst/>
          </a:prstGeom>
          <a:solidFill>
            <a:srgbClr val="9AA5AC"/>
          </a:solidFill>
          <a:ln w="12700">
            <a:solidFill>
              <a:srgbClr val="9AA5AC"/>
            </a:solidFill>
            <a:prstDash val="solid"/>
          </a:ln>
        </p:spPr>
      </p:sp>
      <p:sp>
        <p:nvSpPr>
          <p:cNvPr id="28" name="step"/>
          <p:cNvSpPr/>
          <p:nvPr/>
        </p:nvSpPr>
        <p:spPr>
          <a:xfrm>
            <a:off x="9692640" y="1417320"/>
            <a:ext cx="1920240" cy="1828800"/>
          </a:xfrm>
          <a:prstGeom prst="roundRect">
            <a:avLst>
              <a:gd name="adj" fmla="val 4000"/>
            </a:avLst>
          </a:prstGeom>
          <a:solidFill>
            <a:srgbClr val="D9A441">
              <a:alpha val="30000"/>
            </a:srgbClr>
          </a:solidFill>
          <a:ln w="25400">
            <a:solidFill>
              <a:srgbClr val="D9A441"/>
            </a:solidFill>
            <a:prstDash val="solid"/>
          </a:ln>
        </p:spPr>
      </p:sp>
      <p:sp>
        <p:nvSpPr>
          <p:cNvPr id="29" name="step-num"/>
          <p:cNvSpPr/>
          <p:nvPr/>
        </p:nvSpPr>
        <p:spPr>
          <a:xfrm>
            <a:off x="9857232" y="1581912"/>
            <a:ext cx="420624" cy="420624"/>
          </a:xfrm>
          <a:prstGeom prst="ellipse">
            <a:avLst/>
          </a:prstGeom>
          <a:solidFill>
            <a:srgbClr val="D9A441"/>
          </a:solidFill>
          <a:ln w="12700">
            <a:solidFill>
              <a:srgbClr val="D9A441"/>
            </a:solidFill>
            <a:prstDash val="solid"/>
          </a:ln>
        </p:spPr>
      </p:sp>
      <p:sp>
        <p:nvSpPr>
          <p:cNvPr id="30" name="Text 27"/>
          <p:cNvSpPr txBox="1"/>
          <p:nvPr/>
        </p:nvSpPr>
        <p:spPr>
          <a:xfrm>
            <a:off x="9857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10351008" y="152704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Cibles</a:t>
            </a:r>
            <a:endParaRPr lang="en-US" sz="1500" dirty="0"/>
          </a:p>
        </p:txBody>
      </p:sp>
      <p:sp>
        <p:nvSpPr>
          <p:cNvPr id="32" name="Text 29"/>
          <p:cNvSpPr txBox="1"/>
          <p:nvPr/>
        </p:nvSpPr>
        <p:spPr>
          <a:xfrm>
            <a:off x="9857232" y="2148840"/>
            <a:ext cx="1591056" cy="1005840"/>
          </a:xfrm>
          <a:prstGeom prst="rect">
            <a:avLst/>
          </a:prstGeom>
          <a:noFill/>
          <a:ln/>
        </p:spPr>
        <p:txBody>
          <a:bodyPr wrap="square" lIns="0" tIns="0" rIns="0" bIns="0" rtlCol="0" anchor="t"/>
          <a:lstStyle/>
          <a:p>
            <a:pPr indent="0" marL="0">
              <a:buNone/>
            </a:pPr>
            <a:r>
              <a:rPr lang="en-US" sz="1400" dirty="0">
                <a:solidFill>
                  <a:schemeClr val="tx1"/>
                </a:solidFill>
              </a:rPr>
              <a:t>Top 10 hiérarchisé</a:t>
            </a:r>
            <a:endParaRPr lang="en-US" sz="1400" dirty="0"/>
          </a:p>
        </p:txBody>
      </p:sp>
      <p:sp>
        <p:nvSpPr>
          <p:cNvPr id="33" name="step"/>
          <p:cNvSpPr/>
          <p:nvPr/>
        </p:nvSpPr>
        <p:spPr>
          <a:xfrm>
            <a:off x="548640" y="3657600"/>
            <a:ext cx="1920240" cy="1828800"/>
          </a:xfrm>
          <a:prstGeom prst="roundRect">
            <a:avLst>
              <a:gd name="adj" fmla="val 4000"/>
            </a:avLst>
          </a:prstGeom>
          <a:solidFill>
            <a:srgbClr val="EEF2F3"/>
          </a:solidFill>
          <a:ln w="12700">
            <a:solidFill>
              <a:srgbClr val="EEF2F3"/>
            </a:solidFill>
            <a:prstDash val="solid"/>
          </a:ln>
        </p:spPr>
      </p:sp>
      <p:sp>
        <p:nvSpPr>
          <p:cNvPr id="34" name="step-num"/>
          <p:cNvSpPr/>
          <p:nvPr/>
        </p:nvSpPr>
        <p:spPr>
          <a:xfrm>
            <a:off x="713232" y="3822192"/>
            <a:ext cx="420624" cy="420624"/>
          </a:xfrm>
          <a:prstGeom prst="ellipse">
            <a:avLst/>
          </a:prstGeom>
          <a:solidFill>
            <a:srgbClr val="B5542D"/>
          </a:solidFill>
          <a:ln w="12700">
            <a:solidFill>
              <a:srgbClr val="B5542D"/>
            </a:solidFill>
            <a:prstDash val="solid"/>
          </a:ln>
        </p:spPr>
      </p:sp>
      <p:sp>
        <p:nvSpPr>
          <p:cNvPr id="35" name="Text 32"/>
          <p:cNvSpPr txBox="1"/>
          <p:nvPr/>
        </p:nvSpPr>
        <p:spPr>
          <a:xfrm>
            <a:off x="713232" y="3822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6" name="Text 33"/>
          <p:cNvSpPr txBox="1"/>
          <p:nvPr/>
        </p:nvSpPr>
        <p:spPr>
          <a:xfrm>
            <a:off x="1207008" y="376732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Terrain</a:t>
            </a:r>
            <a:endParaRPr lang="en-US" sz="1500" dirty="0"/>
          </a:p>
        </p:txBody>
      </p:sp>
      <p:sp>
        <p:nvSpPr>
          <p:cNvPr id="37" name="Text 34"/>
          <p:cNvSpPr txBox="1"/>
          <p:nvPr/>
        </p:nvSpPr>
        <p:spPr>
          <a:xfrm>
            <a:off x="713232" y="4389120"/>
            <a:ext cx="1591056" cy="1005840"/>
          </a:xfrm>
          <a:prstGeom prst="rect">
            <a:avLst/>
          </a:prstGeom>
          <a:noFill/>
          <a:ln/>
        </p:spPr>
        <p:txBody>
          <a:bodyPr wrap="square" lIns="0" tIns="0" rIns="0" bIns="0" rtlCol="0" anchor="t"/>
          <a:lstStyle/>
          <a:p>
            <a:pPr indent="0" marL="0">
              <a:buNone/>
            </a:pPr>
            <a:r>
              <a:rPr lang="en-US" sz="1400" dirty="0">
                <a:solidFill>
                  <a:schemeClr val="tx1"/>
                </a:solidFill>
              </a:rPr>
              <a:t>Cartographie, échantillons, sondages</a:t>
            </a:r>
            <a:endParaRPr lang="en-US" sz="1400" dirty="0"/>
          </a:p>
        </p:txBody>
      </p:sp>
      <p:sp>
        <p:nvSpPr>
          <p:cNvPr id="38" name="arrow"/>
          <p:cNvSpPr/>
          <p:nvPr/>
        </p:nvSpPr>
        <p:spPr>
          <a:xfrm>
            <a:off x="2542032" y="4443984"/>
            <a:ext cx="219456" cy="256032"/>
          </a:xfrm>
          <a:prstGeom prst="rightArrow">
            <a:avLst/>
          </a:prstGeom>
          <a:solidFill>
            <a:srgbClr val="9AA5AC"/>
          </a:solidFill>
          <a:ln w="12700">
            <a:solidFill>
              <a:srgbClr val="9AA5AC"/>
            </a:solidFill>
            <a:prstDash val="solid"/>
          </a:ln>
        </p:spPr>
      </p:sp>
      <p:sp>
        <p:nvSpPr>
          <p:cNvPr id="39" name="step"/>
          <p:cNvSpPr/>
          <p:nvPr/>
        </p:nvSpPr>
        <p:spPr>
          <a:xfrm>
            <a:off x="2834640" y="3657600"/>
            <a:ext cx="1920240" cy="1828800"/>
          </a:xfrm>
          <a:prstGeom prst="roundRect">
            <a:avLst>
              <a:gd name="adj" fmla="val 4000"/>
            </a:avLst>
          </a:prstGeom>
          <a:solidFill>
            <a:srgbClr val="EEF2F3"/>
          </a:solidFill>
          <a:ln w="12700">
            <a:solidFill>
              <a:srgbClr val="EEF2F3"/>
            </a:solidFill>
            <a:prstDash val="solid"/>
          </a:ln>
        </p:spPr>
      </p:sp>
      <p:sp>
        <p:nvSpPr>
          <p:cNvPr id="40" name="step-num"/>
          <p:cNvSpPr/>
          <p:nvPr/>
        </p:nvSpPr>
        <p:spPr>
          <a:xfrm>
            <a:off x="2999232" y="3822192"/>
            <a:ext cx="420624" cy="420624"/>
          </a:xfrm>
          <a:prstGeom prst="ellipse">
            <a:avLst/>
          </a:prstGeom>
          <a:solidFill>
            <a:srgbClr val="B5542D"/>
          </a:solidFill>
          <a:ln w="12700">
            <a:solidFill>
              <a:srgbClr val="B5542D"/>
            </a:solidFill>
            <a:prstDash val="solid"/>
          </a:ln>
        </p:spPr>
      </p:sp>
      <p:sp>
        <p:nvSpPr>
          <p:cNvPr id="41" name="Text 38"/>
          <p:cNvSpPr txBox="1"/>
          <p:nvPr/>
        </p:nvSpPr>
        <p:spPr>
          <a:xfrm>
            <a:off x="2999232" y="3822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42" name="Text 39"/>
          <p:cNvSpPr txBox="1"/>
          <p:nvPr/>
        </p:nvSpPr>
        <p:spPr>
          <a:xfrm>
            <a:off x="3493008" y="376732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Ressource</a:t>
            </a:r>
            <a:endParaRPr lang="en-US" sz="1500" dirty="0"/>
          </a:p>
        </p:txBody>
      </p:sp>
      <p:sp>
        <p:nvSpPr>
          <p:cNvPr id="43" name="Text 40"/>
          <p:cNvSpPr txBox="1"/>
          <p:nvPr/>
        </p:nvSpPr>
        <p:spPr>
          <a:xfrm>
            <a:off x="2999232" y="4389120"/>
            <a:ext cx="1591056" cy="1005840"/>
          </a:xfrm>
          <a:prstGeom prst="rect">
            <a:avLst/>
          </a:prstGeom>
          <a:noFill/>
          <a:ln/>
        </p:spPr>
        <p:txBody>
          <a:bodyPr wrap="square" lIns="0" tIns="0" rIns="0" bIns="0" rtlCol="0" anchor="t"/>
          <a:lstStyle/>
          <a:p>
            <a:pPr indent="0" marL="0">
              <a:buNone/>
            </a:pPr>
            <a:r>
              <a:rPr lang="en-US" sz="1400" dirty="0">
                <a:solidFill>
                  <a:schemeClr val="tx1"/>
                </a:solidFill>
              </a:rPr>
              <a:t>Déclarée selon un code (JORC…)</a:t>
            </a:r>
            <a:endParaRPr lang="en-US" sz="1400" dirty="0"/>
          </a:p>
        </p:txBody>
      </p:sp>
      <p:sp>
        <p:nvSpPr>
          <p:cNvPr id="44" name="arrow"/>
          <p:cNvSpPr/>
          <p:nvPr/>
        </p:nvSpPr>
        <p:spPr>
          <a:xfrm>
            <a:off x="4828032" y="4443984"/>
            <a:ext cx="219456" cy="256032"/>
          </a:xfrm>
          <a:prstGeom prst="rightArrow">
            <a:avLst/>
          </a:prstGeom>
          <a:solidFill>
            <a:srgbClr val="9AA5AC"/>
          </a:solidFill>
          <a:ln w="12700">
            <a:solidFill>
              <a:srgbClr val="9AA5AC"/>
            </a:solidFill>
            <a:prstDash val="solid"/>
          </a:ln>
        </p:spPr>
      </p:sp>
      <p:sp>
        <p:nvSpPr>
          <p:cNvPr id="45" name="step"/>
          <p:cNvSpPr/>
          <p:nvPr/>
        </p:nvSpPr>
        <p:spPr>
          <a:xfrm>
            <a:off x="5120640" y="3657600"/>
            <a:ext cx="1920240" cy="1828800"/>
          </a:xfrm>
          <a:prstGeom prst="roundRect">
            <a:avLst>
              <a:gd name="adj" fmla="val 4000"/>
            </a:avLst>
          </a:prstGeom>
          <a:solidFill>
            <a:srgbClr val="EEF2F3"/>
          </a:solidFill>
          <a:ln w="12700">
            <a:solidFill>
              <a:srgbClr val="EEF2F3"/>
            </a:solidFill>
            <a:prstDash val="solid"/>
          </a:ln>
        </p:spPr>
      </p:sp>
      <p:sp>
        <p:nvSpPr>
          <p:cNvPr id="46" name="step-num"/>
          <p:cNvSpPr/>
          <p:nvPr/>
        </p:nvSpPr>
        <p:spPr>
          <a:xfrm>
            <a:off x="5285232" y="3822192"/>
            <a:ext cx="420624" cy="420624"/>
          </a:xfrm>
          <a:prstGeom prst="ellipse">
            <a:avLst/>
          </a:prstGeom>
          <a:solidFill>
            <a:srgbClr val="B5542D"/>
          </a:solidFill>
          <a:ln w="12700">
            <a:solidFill>
              <a:srgbClr val="B5542D"/>
            </a:solidFill>
            <a:prstDash val="solid"/>
          </a:ln>
        </p:spPr>
      </p:sp>
      <p:sp>
        <p:nvSpPr>
          <p:cNvPr id="47" name="Text 44"/>
          <p:cNvSpPr txBox="1"/>
          <p:nvPr/>
        </p:nvSpPr>
        <p:spPr>
          <a:xfrm>
            <a:off x="5285232" y="3822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8" name="Text 45"/>
          <p:cNvSpPr txBox="1"/>
          <p:nvPr/>
        </p:nvSpPr>
        <p:spPr>
          <a:xfrm>
            <a:off x="5779008" y="376732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Projet</a:t>
            </a:r>
            <a:endParaRPr lang="en-US" sz="1500" dirty="0"/>
          </a:p>
        </p:txBody>
      </p:sp>
      <p:sp>
        <p:nvSpPr>
          <p:cNvPr id="49" name="Text 46"/>
          <p:cNvSpPr txBox="1"/>
          <p:nvPr/>
        </p:nvSpPr>
        <p:spPr>
          <a:xfrm>
            <a:off x="5285232" y="4389120"/>
            <a:ext cx="1591056" cy="1005840"/>
          </a:xfrm>
          <a:prstGeom prst="rect">
            <a:avLst/>
          </a:prstGeom>
          <a:noFill/>
          <a:ln/>
        </p:spPr>
        <p:txBody>
          <a:bodyPr wrap="square" lIns="0" tIns="0" rIns="0" bIns="0" rtlCol="0" anchor="t"/>
          <a:lstStyle/>
          <a:p>
            <a:pPr indent="0" marL="0">
              <a:buNone/>
            </a:pPr>
            <a:r>
              <a:rPr lang="en-US" sz="1400" dirty="0">
                <a:solidFill>
                  <a:schemeClr val="tx1"/>
                </a:solidFill>
              </a:rPr>
              <a:t>Études, permis, financement</a:t>
            </a:r>
            <a:endParaRPr lang="en-US" sz="1400" dirty="0"/>
          </a:p>
        </p:txBody>
      </p:sp>
      <p:sp>
        <p:nvSpPr>
          <p:cNvPr id="50" name="arrow"/>
          <p:cNvSpPr/>
          <p:nvPr/>
        </p:nvSpPr>
        <p:spPr>
          <a:xfrm>
            <a:off x="7114032" y="4443984"/>
            <a:ext cx="219456" cy="256032"/>
          </a:xfrm>
          <a:prstGeom prst="rightArrow">
            <a:avLst/>
          </a:prstGeom>
          <a:solidFill>
            <a:srgbClr val="9AA5AC"/>
          </a:solidFill>
          <a:ln w="12700">
            <a:solidFill>
              <a:srgbClr val="9AA5AC"/>
            </a:solidFill>
            <a:prstDash val="solid"/>
          </a:ln>
        </p:spPr>
      </p:sp>
      <p:sp>
        <p:nvSpPr>
          <p:cNvPr id="51" name="step"/>
          <p:cNvSpPr/>
          <p:nvPr/>
        </p:nvSpPr>
        <p:spPr>
          <a:xfrm>
            <a:off x="7406640" y="3657600"/>
            <a:ext cx="1920240" cy="1828800"/>
          </a:xfrm>
          <a:prstGeom prst="roundRect">
            <a:avLst>
              <a:gd name="adj" fmla="val 4000"/>
            </a:avLst>
          </a:prstGeom>
          <a:solidFill>
            <a:srgbClr val="EEF2F3"/>
          </a:solidFill>
          <a:ln w="12700">
            <a:solidFill>
              <a:srgbClr val="EEF2F3"/>
            </a:solidFill>
            <a:prstDash val="solid"/>
          </a:ln>
        </p:spPr>
      </p:sp>
      <p:sp>
        <p:nvSpPr>
          <p:cNvPr id="52" name="step-num"/>
          <p:cNvSpPr/>
          <p:nvPr/>
        </p:nvSpPr>
        <p:spPr>
          <a:xfrm>
            <a:off x="7571232" y="3822192"/>
            <a:ext cx="420624" cy="420624"/>
          </a:xfrm>
          <a:prstGeom prst="ellipse">
            <a:avLst/>
          </a:prstGeom>
          <a:solidFill>
            <a:srgbClr val="3E7C6B"/>
          </a:solidFill>
          <a:ln w="12700">
            <a:solidFill>
              <a:srgbClr val="3E7C6B"/>
            </a:solidFill>
            <a:prstDash val="solid"/>
          </a:ln>
        </p:spPr>
      </p:sp>
      <p:sp>
        <p:nvSpPr>
          <p:cNvPr id="53" name="Text 50"/>
          <p:cNvSpPr txBox="1"/>
          <p:nvPr/>
        </p:nvSpPr>
        <p:spPr>
          <a:xfrm>
            <a:off x="7571232" y="3822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54" name="Text 51"/>
          <p:cNvSpPr txBox="1"/>
          <p:nvPr/>
        </p:nvSpPr>
        <p:spPr>
          <a:xfrm>
            <a:off x="8065008" y="376732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Produit</a:t>
            </a:r>
            <a:endParaRPr lang="en-US" sz="1500" dirty="0"/>
          </a:p>
        </p:txBody>
      </p:sp>
      <p:sp>
        <p:nvSpPr>
          <p:cNvPr id="55" name="Text 52"/>
          <p:cNvSpPr txBox="1"/>
          <p:nvPr/>
        </p:nvSpPr>
        <p:spPr>
          <a:xfrm>
            <a:off x="7571232" y="4389120"/>
            <a:ext cx="1591056" cy="1005840"/>
          </a:xfrm>
          <a:prstGeom prst="rect">
            <a:avLst/>
          </a:prstGeom>
          <a:noFill/>
          <a:ln/>
        </p:spPr>
        <p:txBody>
          <a:bodyPr wrap="square" lIns="0" tIns="0" rIns="0" bIns="0" rtlCol="0" anchor="t"/>
          <a:lstStyle/>
          <a:p>
            <a:pPr indent="0" marL="0">
              <a:buNone/>
            </a:pPr>
            <a:r>
              <a:rPr lang="en-US" sz="1400" dirty="0">
                <a:solidFill>
                  <a:schemeClr val="tx1"/>
                </a:solidFill>
              </a:rPr>
              <a:t>Minerai, concentré, métal</a:t>
            </a:r>
            <a:endParaRPr lang="en-US" sz="1400" dirty="0"/>
          </a:p>
        </p:txBody>
      </p:sp>
      <p:sp>
        <p:nvSpPr>
          <p:cNvPr id="56" name="arrow"/>
          <p:cNvSpPr/>
          <p:nvPr/>
        </p:nvSpPr>
        <p:spPr>
          <a:xfrm>
            <a:off x="9400032" y="4443984"/>
            <a:ext cx="219456" cy="256032"/>
          </a:xfrm>
          <a:prstGeom prst="rightArrow">
            <a:avLst/>
          </a:prstGeom>
          <a:solidFill>
            <a:srgbClr val="9AA5AC"/>
          </a:solidFill>
          <a:ln w="12700">
            <a:solidFill>
              <a:srgbClr val="9AA5AC"/>
            </a:solidFill>
            <a:prstDash val="solid"/>
          </a:ln>
        </p:spPr>
      </p:sp>
      <p:sp>
        <p:nvSpPr>
          <p:cNvPr id="57" name="step"/>
          <p:cNvSpPr/>
          <p:nvPr/>
        </p:nvSpPr>
        <p:spPr>
          <a:xfrm>
            <a:off x="9692640" y="3657600"/>
            <a:ext cx="1920240" cy="1828800"/>
          </a:xfrm>
          <a:prstGeom prst="roundRect">
            <a:avLst>
              <a:gd name="adj" fmla="val 4000"/>
            </a:avLst>
          </a:prstGeom>
          <a:solidFill>
            <a:srgbClr val="EEF2F3"/>
          </a:solidFill>
          <a:ln w="12700">
            <a:solidFill>
              <a:srgbClr val="EEF2F3"/>
            </a:solidFill>
            <a:prstDash val="solid"/>
          </a:ln>
        </p:spPr>
      </p:sp>
      <p:sp>
        <p:nvSpPr>
          <p:cNvPr id="58" name="step-num"/>
          <p:cNvSpPr/>
          <p:nvPr/>
        </p:nvSpPr>
        <p:spPr>
          <a:xfrm>
            <a:off x="9857232" y="3822192"/>
            <a:ext cx="420624" cy="420624"/>
          </a:xfrm>
          <a:prstGeom prst="ellipse">
            <a:avLst/>
          </a:prstGeom>
          <a:solidFill>
            <a:srgbClr val="3E7C6B"/>
          </a:solidFill>
          <a:ln w="12700">
            <a:solidFill>
              <a:srgbClr val="3E7C6B"/>
            </a:solidFill>
            <a:prstDash val="solid"/>
          </a:ln>
        </p:spPr>
      </p:sp>
      <p:sp>
        <p:nvSpPr>
          <p:cNvPr id="59" name="Text 56"/>
          <p:cNvSpPr txBox="1"/>
          <p:nvPr/>
        </p:nvSpPr>
        <p:spPr>
          <a:xfrm>
            <a:off x="9857232" y="3822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10</a:t>
            </a:r>
            <a:endParaRPr lang="en-US" sz="1400" dirty="0"/>
          </a:p>
        </p:txBody>
      </p:sp>
      <p:sp>
        <p:nvSpPr>
          <p:cNvPr id="60" name="Text 57"/>
          <p:cNvSpPr txBox="1"/>
          <p:nvPr/>
        </p:nvSpPr>
        <p:spPr>
          <a:xfrm>
            <a:off x="10351008" y="376732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Marché</a:t>
            </a:r>
            <a:endParaRPr lang="en-US" sz="1500" dirty="0"/>
          </a:p>
        </p:txBody>
      </p:sp>
      <p:sp>
        <p:nvSpPr>
          <p:cNvPr id="61" name="Text 58"/>
          <p:cNvSpPr txBox="1"/>
          <p:nvPr/>
        </p:nvSpPr>
        <p:spPr>
          <a:xfrm>
            <a:off x="9857232" y="4389120"/>
            <a:ext cx="1591056" cy="1005840"/>
          </a:xfrm>
          <a:prstGeom prst="rect">
            <a:avLst/>
          </a:prstGeom>
          <a:noFill/>
          <a:ln/>
        </p:spPr>
        <p:txBody>
          <a:bodyPr wrap="square" lIns="0" tIns="0" rIns="0" bIns="0" rtlCol="0" anchor="t"/>
          <a:lstStyle/>
          <a:p>
            <a:pPr indent="0" marL="0">
              <a:buNone/>
            </a:pPr>
            <a:r>
              <a:rPr lang="en-US" sz="1400" dirty="0">
                <a:solidFill>
                  <a:schemeClr val="tx1"/>
                </a:solidFill>
              </a:rPr>
              <a:t>Transformation, export, prix</a:t>
            </a:r>
            <a:endParaRPr lang="en-US" sz="1400" dirty="0"/>
          </a:p>
        </p:txBody>
      </p:sp>
      <p:sp>
        <p:nvSpPr>
          <p:cNvPr id="62" name="callout"/>
          <p:cNvSpPr/>
          <p:nvPr/>
        </p:nvSpPr>
        <p:spPr>
          <a:xfrm>
            <a:off x="548640" y="5623560"/>
            <a:ext cx="11064240" cy="640080"/>
          </a:xfrm>
          <a:prstGeom prst="roundRect">
            <a:avLst>
              <a:gd name="adj" fmla="val 11429"/>
            </a:avLst>
          </a:prstGeom>
          <a:solidFill>
            <a:srgbClr val="B5542D">
              <a:alpha val="15000"/>
            </a:srgbClr>
          </a:solidFill>
          <a:ln w="12700">
            <a:solidFill>
              <a:srgbClr val="B5542D"/>
            </a:solidFill>
            <a:prstDash val="solid"/>
          </a:ln>
        </p:spPr>
      </p:sp>
      <p:sp>
        <p:nvSpPr>
          <p:cNvPr id="63" name="icon-circle"/>
          <p:cNvSpPr/>
          <p:nvPr/>
        </p:nvSpPr>
        <p:spPr>
          <a:xfrm>
            <a:off x="685800" y="5742432"/>
            <a:ext cx="402336" cy="402336"/>
          </a:xfrm>
          <a:prstGeom prst="ellipse">
            <a:avLst/>
          </a:prstGeom>
          <a:solidFill>
            <a:srgbClr val="B5542D"/>
          </a:solidFill>
          <a:ln w="12700">
            <a:solidFill>
              <a:srgbClr val="B5542D"/>
            </a:solidFill>
            <a:prstDash val="solid"/>
          </a:ln>
        </p:spPr>
      </p:sp>
      <p:pic>
        <p:nvPicPr>
          <p:cNvPr id="64" name="icon" descr="preencoded.png">    </p:cNvPr>
          <p:cNvPicPr>
            <a:picLocks noChangeAspect="1"/>
          </p:cNvPicPr>
          <p:nvPr/>
        </p:nvPicPr>
        <p:blipFill>
          <a:blip r:embed="rId1"/>
          <a:stretch>
            <a:fillRect/>
          </a:stretch>
        </p:blipFill>
        <p:spPr>
          <a:xfrm>
            <a:off x="774314" y="5830946"/>
            <a:ext cx="225308" cy="225308"/>
          </a:xfrm>
          <a:prstGeom prst="rect">
            <a:avLst/>
          </a:prstGeom>
        </p:spPr>
      </p:pic>
      <p:sp>
        <p:nvSpPr>
          <p:cNvPr id="65" name="Text 61"/>
          <p:cNvSpPr txBox="1"/>
          <p:nvPr/>
        </p:nvSpPr>
        <p:spPr>
          <a:xfrm>
            <a:off x="1234440" y="5623560"/>
            <a:ext cx="10195560" cy="640080"/>
          </a:xfrm>
          <a:prstGeom prst="rect">
            <a:avLst/>
          </a:prstGeom>
          <a:noFill/>
          <a:ln/>
        </p:spPr>
        <p:txBody>
          <a:bodyPr wrap="square" lIns="0" tIns="0" rIns="0" bIns="0" rtlCol="0" anchor="ctr"/>
          <a:lstStyle/>
          <a:p>
            <a:pPr indent="0" marL="0">
              <a:buNone/>
            </a:pPr>
            <a:r>
              <a:rPr lang="en-US" sz="1500" dirty="0">
                <a:solidFill>
                  <a:schemeClr val="tx2"/>
                </a:solidFill>
              </a:rPr>
              <a:t>Limite de la télédétection : après la génération de cibles, seuls le terrain et les sondages permettent de conclure.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Chaque pays apporte un contraste que le Cameroun n'offre pas seul</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560320"/>
                <a:gridCol w="6126480"/>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Pays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Substance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Ce qu'il apprend en plus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68580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Cameroun (fil rouge)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Or, bauxite, fer</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Intégration multi-données (PRECASEM), forêt dense, orpaillage, cadastre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RDC</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Cuivre-cobalt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Chaîne de valeur et corridors d'exportation ; mines artisanales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8580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Zambie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Cuivre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Impacts environnementaux d'un bassin minier mature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Guinée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Bauxite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Géomorphologie des plateaux latéritiques ; logistique mine-rail-port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8580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Congo</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Fer, potasse, polymétallique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Prospectivité avec peu de données ; lien transfrontalier avec le Cameroun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Ce qu'il faut avant de commencer</a:t>
            </a:r>
            <a:endParaRPr lang="en-US" sz="3000" dirty="0"/>
          </a:p>
        </p:txBody>
      </p:sp>
      <p:sp>
        <p:nvSpPr>
          <p:cNvPr id="4" name="card"/>
          <p:cNvSpPr/>
          <p:nvPr/>
        </p:nvSpPr>
        <p:spPr>
          <a:xfrm>
            <a:off x="548640" y="1371600"/>
            <a:ext cx="2560320" cy="4800600"/>
          </a:xfrm>
          <a:prstGeom prst="roundRect">
            <a:avLst>
              <a:gd name="adj" fmla="val 2857"/>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Matériel</a:t>
            </a:r>
            <a:endParaRPr lang="en-US" sz="1700" dirty="0"/>
          </a:p>
        </p:txBody>
      </p:sp>
      <p:sp>
        <p:nvSpPr>
          <p:cNvPr id="8" name="Text 4"/>
          <p:cNvSpPr txBox="1"/>
          <p:nvPr/>
        </p:nvSpPr>
        <p:spPr>
          <a:xfrm>
            <a:off x="777240" y="2286000"/>
            <a:ext cx="2103120" cy="3749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Portable, 8 Go de RAM minimum</a:t>
            </a:r>
            <a:endParaRPr lang="en-US" sz="1400" dirty="0"/>
          </a:p>
          <a:p>
            <a:pPr marL="342900" indent="-342900">
              <a:spcAft>
                <a:spcPts val="400"/>
              </a:spcAft>
              <a:buSzPct val="100000"/>
              <a:buChar char="•"/>
            </a:pPr>
            <a:r>
              <a:rPr lang="en-US" sz="1400" dirty="0">
                <a:solidFill>
                  <a:schemeClr val="tx1"/>
                </a:solidFill>
              </a:rPr>
              <a:t>QGIS LTR installé</a:t>
            </a:r>
            <a:endParaRPr lang="en-US" sz="1400" dirty="0"/>
          </a:p>
          <a:p>
            <a:pPr marL="342900" indent="-342900">
              <a:spcAft>
                <a:spcPts val="400"/>
              </a:spcAft>
              <a:buSzPct val="100000"/>
              <a:buChar char="•"/>
            </a:pPr>
            <a:r>
              <a:rPr lang="en-US" sz="1400" dirty="0">
                <a:solidFill>
                  <a:schemeClr val="tx1"/>
                </a:solidFill>
              </a:rPr>
              <a:t>Compte Google Earth Engine actif</a:t>
            </a:r>
            <a:endParaRPr lang="en-US" sz="1400" dirty="0"/>
          </a:p>
        </p:txBody>
      </p:sp>
      <p:sp>
        <p:nvSpPr>
          <p:cNvPr id="9" name="card"/>
          <p:cNvSpPr/>
          <p:nvPr/>
        </p:nvSpPr>
        <p:spPr>
          <a:xfrm>
            <a:off x="3383280" y="1371600"/>
            <a:ext cx="2560320" cy="4800600"/>
          </a:xfrm>
          <a:prstGeom prst="roundRect">
            <a:avLst>
              <a:gd name="adj" fmla="val 2857"/>
            </a:avLst>
          </a:prstGeom>
          <a:solidFill>
            <a:schemeClr val="bg2"/>
          </a:solidFill>
          <a:ln w="12700">
            <a:solidFill>
              <a:schemeClr val="bg2"/>
            </a:solidFill>
            <a:prstDash val="solid"/>
          </a:ln>
        </p:spPr>
      </p:sp>
      <p:sp>
        <p:nvSpPr>
          <p:cNvPr id="10" name="icon-circle"/>
          <p:cNvSpPr/>
          <p:nvPr/>
        </p:nvSpPr>
        <p:spPr>
          <a:xfrm>
            <a:off x="361188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3732581" y="1720901"/>
            <a:ext cx="307238" cy="307238"/>
          </a:xfrm>
          <a:prstGeom prst="rect">
            <a:avLst/>
          </a:prstGeom>
        </p:spPr>
      </p:pic>
      <p:sp>
        <p:nvSpPr>
          <p:cNvPr id="12" name="Text 7"/>
          <p:cNvSpPr txBox="1"/>
          <p:nvPr/>
        </p:nvSpPr>
        <p:spPr>
          <a:xfrm>
            <a:off x="429768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Données</a:t>
            </a:r>
            <a:endParaRPr lang="en-US" sz="1700" dirty="0"/>
          </a:p>
        </p:txBody>
      </p:sp>
      <p:sp>
        <p:nvSpPr>
          <p:cNvPr id="13" name="Text 8"/>
          <p:cNvSpPr txBox="1"/>
          <p:nvPr/>
        </p:nvSpPr>
        <p:spPr>
          <a:xfrm>
            <a:off x="3611880" y="2286000"/>
            <a:ext cx="2103120" cy="3749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Projets QGIS prêts par zone</a:t>
            </a:r>
            <a:endParaRPr lang="en-US" sz="1400" dirty="0"/>
          </a:p>
          <a:p>
            <a:pPr marL="342900" indent="-342900">
              <a:spcAft>
                <a:spcPts val="400"/>
              </a:spcAft>
              <a:buSzPct val="100000"/>
              <a:buChar char="•"/>
            </a:pPr>
            <a:r>
              <a:rPr lang="en-US" sz="1400" dirty="0">
                <a:solidFill>
                  <a:schemeClr val="tx1"/>
                </a:solidFill>
              </a:rPr>
              <a:t>Mosaïques Sentinel-2, MNT</a:t>
            </a:r>
            <a:endParaRPr lang="en-US" sz="1400" dirty="0"/>
          </a:p>
          <a:p>
            <a:pPr marL="342900" indent="-342900">
              <a:spcAft>
                <a:spcPts val="400"/>
              </a:spcAft>
              <a:buSzPct val="100000"/>
              <a:buChar char="•"/>
            </a:pPr>
            <a:r>
              <a:rPr lang="en-US" sz="1400" dirty="0">
                <a:solidFill>
                  <a:schemeClr val="tx1"/>
                </a:solidFill>
              </a:rPr>
              <a:t>Clé USB en secours hors ligne</a:t>
            </a:r>
            <a:endParaRPr lang="en-US" sz="1400" dirty="0"/>
          </a:p>
        </p:txBody>
      </p:sp>
      <p:sp>
        <p:nvSpPr>
          <p:cNvPr id="14" name="card"/>
          <p:cNvSpPr/>
          <p:nvPr/>
        </p:nvSpPr>
        <p:spPr>
          <a:xfrm>
            <a:off x="6217920" y="1371600"/>
            <a:ext cx="2560320" cy="4800600"/>
          </a:xfrm>
          <a:prstGeom prst="roundRect">
            <a:avLst>
              <a:gd name="adj" fmla="val 2857"/>
            </a:avLst>
          </a:prstGeom>
          <a:solidFill>
            <a:schemeClr val="bg2"/>
          </a:solidFill>
          <a:ln w="12700">
            <a:solidFill>
              <a:schemeClr val="bg2"/>
            </a:solidFill>
            <a:prstDash val="solid"/>
          </a:ln>
        </p:spPr>
      </p:sp>
      <p:sp>
        <p:nvSpPr>
          <p:cNvPr id="15" name="icon-circle"/>
          <p:cNvSpPr/>
          <p:nvPr/>
        </p:nvSpPr>
        <p:spPr>
          <a:xfrm>
            <a:off x="644652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6567221" y="1720901"/>
            <a:ext cx="307238" cy="307238"/>
          </a:xfrm>
          <a:prstGeom prst="rect">
            <a:avLst/>
          </a:prstGeom>
        </p:spPr>
      </p:pic>
      <p:sp>
        <p:nvSpPr>
          <p:cNvPr id="17" name="Text 11"/>
          <p:cNvSpPr txBox="1"/>
          <p:nvPr/>
        </p:nvSpPr>
        <p:spPr>
          <a:xfrm>
            <a:off x="713232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Organisation</a:t>
            </a:r>
            <a:endParaRPr lang="en-US" sz="1700" dirty="0"/>
          </a:p>
        </p:txBody>
      </p:sp>
      <p:sp>
        <p:nvSpPr>
          <p:cNvPr id="18" name="Text 12"/>
          <p:cNvSpPr txBox="1"/>
          <p:nvPr/>
        </p:nvSpPr>
        <p:spPr>
          <a:xfrm>
            <a:off x="6446520" y="2286000"/>
            <a:ext cx="2103120" cy="3749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Groupes de 3 à 4</a:t>
            </a:r>
            <a:endParaRPr lang="en-US" sz="1400" dirty="0"/>
          </a:p>
          <a:p>
            <a:pPr marL="342900" indent="-342900">
              <a:spcAft>
                <a:spcPts val="400"/>
              </a:spcAft>
              <a:buSzPct val="100000"/>
              <a:buChar char="•"/>
            </a:pPr>
            <a:r>
              <a:rPr lang="en-US" sz="1400" dirty="0">
                <a:solidFill>
                  <a:schemeClr val="tx1"/>
                </a:solidFill>
              </a:rPr>
              <a:t>12 à 24 participants</a:t>
            </a:r>
            <a:endParaRPr lang="en-US" sz="1400" dirty="0"/>
          </a:p>
          <a:p>
            <a:pPr marL="342900" indent="-342900">
              <a:spcAft>
                <a:spcPts val="400"/>
              </a:spcAft>
              <a:buSzPct val="100000"/>
              <a:buChar char="•"/>
            </a:pPr>
            <a:r>
              <a:rPr lang="en-US" sz="1400" dirty="0">
                <a:solidFill>
                  <a:schemeClr val="tx1"/>
                </a:solidFill>
              </a:rPr>
              <a:t>Une zone projet par groupe dès J3</a:t>
            </a:r>
            <a:endParaRPr lang="en-US" sz="1400" dirty="0"/>
          </a:p>
        </p:txBody>
      </p:sp>
      <p:sp>
        <p:nvSpPr>
          <p:cNvPr id="19" name="card"/>
          <p:cNvSpPr/>
          <p:nvPr/>
        </p:nvSpPr>
        <p:spPr>
          <a:xfrm>
            <a:off x="9052560" y="1371600"/>
            <a:ext cx="2560320" cy="4800600"/>
          </a:xfrm>
          <a:prstGeom prst="roundRect">
            <a:avLst>
              <a:gd name="adj" fmla="val 2857"/>
            </a:avLst>
          </a:prstGeom>
          <a:solidFill>
            <a:schemeClr val="bg2"/>
          </a:solidFill>
          <a:ln w="12700">
            <a:solidFill>
              <a:schemeClr val="bg2"/>
            </a:solidFill>
            <a:prstDash val="solid"/>
          </a:ln>
        </p:spPr>
      </p:sp>
      <p:sp>
        <p:nvSpPr>
          <p:cNvPr id="20" name="icon-circle"/>
          <p:cNvSpPr/>
          <p:nvPr/>
        </p:nvSpPr>
        <p:spPr>
          <a:xfrm>
            <a:off x="9281160" y="1600200"/>
            <a:ext cx="548640" cy="548640"/>
          </a:xfrm>
          <a:prstGeom prst="ellipse">
            <a:avLst/>
          </a:prstGeom>
          <a:solidFill>
            <a:srgbClr val="D9A441"/>
          </a:solidFill>
          <a:ln w="12700">
            <a:solidFill>
              <a:srgbClr val="D9A441"/>
            </a:solidFill>
            <a:prstDash val="solid"/>
          </a:ln>
        </p:spPr>
      </p:sp>
      <p:pic>
        <p:nvPicPr>
          <p:cNvPr id="21" name="icon" descr="preencoded.png">    </p:cNvPr>
          <p:cNvPicPr>
            <a:picLocks noChangeAspect="1"/>
          </p:cNvPicPr>
          <p:nvPr/>
        </p:nvPicPr>
        <p:blipFill>
          <a:blip r:embed="rId4"/>
          <a:stretch>
            <a:fillRect/>
          </a:stretch>
        </p:blipFill>
        <p:spPr>
          <a:xfrm>
            <a:off x="9401861" y="1720901"/>
            <a:ext cx="307238" cy="307238"/>
          </a:xfrm>
          <a:prstGeom prst="rect">
            <a:avLst/>
          </a:prstGeom>
        </p:spPr>
      </p:pic>
      <p:sp>
        <p:nvSpPr>
          <p:cNvPr id="22" name="Text 15"/>
          <p:cNvSpPr txBox="1"/>
          <p:nvPr/>
        </p:nvSpPr>
        <p:spPr>
          <a:xfrm>
            <a:off x="996696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Évaluation</a:t>
            </a:r>
            <a:endParaRPr lang="en-US" sz="1700" dirty="0"/>
          </a:p>
        </p:txBody>
      </p:sp>
      <p:sp>
        <p:nvSpPr>
          <p:cNvPr id="23" name="Text 16"/>
          <p:cNvSpPr txBox="1"/>
          <p:nvPr/>
        </p:nvSpPr>
        <p:spPr>
          <a:xfrm>
            <a:off x="9281160" y="2286000"/>
            <a:ext cx="2103120" cy="3749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Quiz d'entrée et de sortie</a:t>
            </a:r>
            <a:endParaRPr lang="en-US" sz="1400" dirty="0"/>
          </a:p>
          <a:p>
            <a:pPr marL="342900" indent="-342900">
              <a:spcAft>
                <a:spcPts val="400"/>
              </a:spcAft>
              <a:buSzPct val="100000"/>
              <a:buChar char="•"/>
            </a:pPr>
            <a:r>
              <a:rPr lang="en-US" sz="1400" dirty="0">
                <a:solidFill>
                  <a:schemeClr val="tx1"/>
                </a:solidFill>
              </a:rPr>
              <a:t>TP notés chaque jour</a:t>
            </a:r>
            <a:endParaRPr lang="en-US" sz="1400" dirty="0"/>
          </a:p>
          <a:p>
            <a:pPr marL="342900" indent="-342900">
              <a:spcAft>
                <a:spcPts val="400"/>
              </a:spcAft>
              <a:buSzPct val="100000"/>
              <a:buChar char="•"/>
            </a:pPr>
            <a:r>
              <a:rPr lang="en-US" sz="1400" dirty="0">
                <a:solidFill>
                  <a:schemeClr val="tx1"/>
                </a:solidFill>
              </a:rPr>
              <a:t>Projet final devant un jury</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nchor="b"/>
          <a:lstStyle/>
          <a:p>
            <a:pPr algn="l" indent="0" marL="0">
              <a:buNone/>
            </a:pPr>
            <a:r>
              <a:rPr lang="en-US" sz="5400" b="1" dirty="0">
                <a:solidFill>
                  <a:srgbClr val="D9A441"/>
                </a:solidFill>
                <a:latin typeface="Cambria" pitchFamily="34" charset="0"/>
                <a:ea typeface="Cambria" pitchFamily="34" charset="-122"/>
                <a:cs typeface="Cambria" pitchFamily="34" charset="-120"/>
              </a:rPr>
              <a:t>Jour 1</a:t>
            </a: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Comprendre le territoire minier</a:t>
            </a: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nchor="t"/>
          <a:lstStyle/>
          <a:p>
            <a:pPr algn="l" indent="0" marL="0">
              <a:buNone/>
            </a:pPr>
            <a:r>
              <a:rPr lang="en-US" sz="1800" dirty="0">
                <a:solidFill>
                  <a:srgbClr val="CFD8DC"/>
                </a:solidFill>
                <a:latin typeface="Calibri" pitchFamily="34" charset="0"/>
                <a:ea typeface="Calibri" pitchFamily="34" charset="-122"/>
                <a:cs typeface="Calibri" pitchFamily="34" charset="-120"/>
              </a:rPr>
              <a:t>Situer la télédétection dans la chaîne de décision minière et construire sa première carte minière dans QGIS.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Programme du jour 1</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7223760"/>
                <a:gridCol w="18288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Horaire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Séquence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8 h 30 – 9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Accueil, quiz d'entrée, constitution des groupes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9 h 00 – 10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1 — Introduction à l'intelligence minière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10 h 45 – 12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2 — Les données géologiques publiques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 + démo</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13 h 30 – 16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TP1 — Carte minière de l'Afrique dans QGIS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16 h 00 – 16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Restitution des cartes, débriefing</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Du territoire au marché : dix maillons, une seule chaîne</a:t>
            </a:r>
            <a:endParaRPr lang="en-US" sz="3000" dirty="0"/>
          </a:p>
        </p:txBody>
      </p:sp>
      <p:sp>
        <p:nvSpPr>
          <p:cNvPr id="4" name="step"/>
          <p:cNvSpPr/>
          <p:nvPr/>
        </p:nvSpPr>
        <p:spPr>
          <a:xfrm>
            <a:off x="548640" y="1417320"/>
            <a:ext cx="1920240" cy="1097280"/>
          </a:xfrm>
          <a:prstGeom prst="roundRect">
            <a:avLst>
              <a:gd name="adj" fmla="val 6667"/>
            </a:avLst>
          </a:prstGeom>
          <a:solidFill>
            <a:srgbClr val="EEF2F3"/>
          </a:solidFill>
          <a:ln w="12700">
            <a:solidFill>
              <a:srgbClr val="EEF2F3"/>
            </a:solidFill>
            <a:prstDash val="solid"/>
          </a:ln>
        </p:spPr>
      </p:sp>
      <p:sp>
        <p:nvSpPr>
          <p:cNvPr id="5" name="step-num"/>
          <p:cNvSpPr/>
          <p:nvPr/>
        </p:nvSpPr>
        <p:spPr>
          <a:xfrm>
            <a:off x="713232" y="1581912"/>
            <a:ext cx="420624" cy="420624"/>
          </a:xfrm>
          <a:prstGeom prst="ellipse">
            <a:avLst/>
          </a:prstGeom>
          <a:solidFill>
            <a:srgbClr val="3F6C9A"/>
          </a:solidFill>
          <a:ln w="12700">
            <a:solidFill>
              <a:srgbClr val="3F6C9A"/>
            </a:solidFill>
            <a:prstDash val="solid"/>
          </a:ln>
        </p:spPr>
      </p:sp>
      <p:sp>
        <p:nvSpPr>
          <p:cNvPr id="6" name="Text 3"/>
          <p:cNvSpPr txBox="1"/>
          <p:nvPr/>
        </p:nvSpPr>
        <p:spPr>
          <a:xfrm>
            <a:off x="713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658368" y="205740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Territoire</a:t>
            </a:r>
            <a:endParaRPr lang="en-US" sz="1500" dirty="0"/>
          </a:p>
        </p:txBody>
      </p:sp>
      <p:sp>
        <p:nvSpPr>
          <p:cNvPr id="8" name="arrow"/>
          <p:cNvSpPr/>
          <p:nvPr/>
        </p:nvSpPr>
        <p:spPr>
          <a:xfrm>
            <a:off x="2542032" y="1837944"/>
            <a:ext cx="219456" cy="256032"/>
          </a:xfrm>
          <a:prstGeom prst="rightArrow">
            <a:avLst/>
          </a:prstGeom>
          <a:solidFill>
            <a:srgbClr val="9AA5AC"/>
          </a:solidFill>
          <a:ln w="12700">
            <a:solidFill>
              <a:srgbClr val="9AA5AC"/>
            </a:solidFill>
            <a:prstDash val="solid"/>
          </a:ln>
        </p:spPr>
      </p:sp>
      <p:sp>
        <p:nvSpPr>
          <p:cNvPr id="9" name="step"/>
          <p:cNvSpPr/>
          <p:nvPr/>
        </p:nvSpPr>
        <p:spPr>
          <a:xfrm>
            <a:off x="2834640" y="1417320"/>
            <a:ext cx="1920240" cy="1097280"/>
          </a:xfrm>
          <a:prstGeom prst="roundRect">
            <a:avLst>
              <a:gd name="adj" fmla="val 6667"/>
            </a:avLst>
          </a:prstGeom>
          <a:solidFill>
            <a:srgbClr val="EEF2F3"/>
          </a:solidFill>
          <a:ln w="12700">
            <a:solidFill>
              <a:srgbClr val="EEF2F3"/>
            </a:solidFill>
            <a:prstDash val="solid"/>
          </a:ln>
        </p:spPr>
      </p:sp>
      <p:sp>
        <p:nvSpPr>
          <p:cNvPr id="10" name="step-num"/>
          <p:cNvSpPr/>
          <p:nvPr/>
        </p:nvSpPr>
        <p:spPr>
          <a:xfrm>
            <a:off x="2999232" y="1581912"/>
            <a:ext cx="420624" cy="420624"/>
          </a:xfrm>
          <a:prstGeom prst="ellipse">
            <a:avLst/>
          </a:prstGeom>
          <a:solidFill>
            <a:srgbClr val="3F6C9A"/>
          </a:solidFill>
          <a:ln w="12700">
            <a:solidFill>
              <a:srgbClr val="3F6C9A"/>
            </a:solidFill>
            <a:prstDash val="solid"/>
          </a:ln>
        </p:spPr>
      </p:sp>
      <p:sp>
        <p:nvSpPr>
          <p:cNvPr id="11" name="Text 8"/>
          <p:cNvSpPr txBox="1"/>
          <p:nvPr/>
        </p:nvSpPr>
        <p:spPr>
          <a:xfrm>
            <a:off x="2999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2944368" y="205740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Géologie</a:t>
            </a:r>
            <a:endParaRPr lang="en-US" sz="1500" dirty="0"/>
          </a:p>
        </p:txBody>
      </p:sp>
      <p:sp>
        <p:nvSpPr>
          <p:cNvPr id="13" name="arrow"/>
          <p:cNvSpPr/>
          <p:nvPr/>
        </p:nvSpPr>
        <p:spPr>
          <a:xfrm>
            <a:off x="4828032" y="1837944"/>
            <a:ext cx="219456" cy="256032"/>
          </a:xfrm>
          <a:prstGeom prst="rightArrow">
            <a:avLst/>
          </a:prstGeom>
          <a:solidFill>
            <a:srgbClr val="9AA5AC"/>
          </a:solidFill>
          <a:ln w="12700">
            <a:solidFill>
              <a:srgbClr val="9AA5AC"/>
            </a:solidFill>
            <a:prstDash val="solid"/>
          </a:ln>
        </p:spPr>
      </p:sp>
      <p:sp>
        <p:nvSpPr>
          <p:cNvPr id="14" name="step"/>
          <p:cNvSpPr/>
          <p:nvPr/>
        </p:nvSpPr>
        <p:spPr>
          <a:xfrm>
            <a:off x="5120640" y="1417320"/>
            <a:ext cx="1920240" cy="1097280"/>
          </a:xfrm>
          <a:prstGeom prst="roundRect">
            <a:avLst>
              <a:gd name="adj" fmla="val 6667"/>
            </a:avLst>
          </a:prstGeom>
          <a:solidFill>
            <a:srgbClr val="EEF2F3"/>
          </a:solidFill>
          <a:ln w="12700">
            <a:solidFill>
              <a:srgbClr val="EEF2F3"/>
            </a:solidFill>
            <a:prstDash val="solid"/>
          </a:ln>
        </p:spPr>
      </p:sp>
      <p:sp>
        <p:nvSpPr>
          <p:cNvPr id="15" name="step-num"/>
          <p:cNvSpPr/>
          <p:nvPr/>
        </p:nvSpPr>
        <p:spPr>
          <a:xfrm>
            <a:off x="5285232" y="1581912"/>
            <a:ext cx="420624" cy="420624"/>
          </a:xfrm>
          <a:prstGeom prst="ellipse">
            <a:avLst/>
          </a:prstGeom>
          <a:solidFill>
            <a:srgbClr val="3F6C9A"/>
          </a:solidFill>
          <a:ln w="12700">
            <a:solidFill>
              <a:srgbClr val="3F6C9A"/>
            </a:solidFill>
            <a:prstDash val="solid"/>
          </a:ln>
        </p:spPr>
      </p:sp>
      <p:sp>
        <p:nvSpPr>
          <p:cNvPr id="16" name="Text 13"/>
          <p:cNvSpPr txBox="1"/>
          <p:nvPr/>
        </p:nvSpPr>
        <p:spPr>
          <a:xfrm>
            <a:off x="5285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5230368" y="205740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Structures</a:t>
            </a:r>
            <a:endParaRPr lang="en-US" sz="1500" dirty="0"/>
          </a:p>
        </p:txBody>
      </p:sp>
      <p:sp>
        <p:nvSpPr>
          <p:cNvPr id="18" name="arrow"/>
          <p:cNvSpPr/>
          <p:nvPr/>
        </p:nvSpPr>
        <p:spPr>
          <a:xfrm>
            <a:off x="7114032" y="1837944"/>
            <a:ext cx="219456" cy="256032"/>
          </a:xfrm>
          <a:prstGeom prst="rightArrow">
            <a:avLst/>
          </a:prstGeom>
          <a:solidFill>
            <a:srgbClr val="9AA5AC"/>
          </a:solidFill>
          <a:ln w="12700">
            <a:solidFill>
              <a:srgbClr val="9AA5AC"/>
            </a:solidFill>
            <a:prstDash val="solid"/>
          </a:ln>
        </p:spPr>
      </p:sp>
      <p:sp>
        <p:nvSpPr>
          <p:cNvPr id="19" name="step"/>
          <p:cNvSpPr/>
          <p:nvPr/>
        </p:nvSpPr>
        <p:spPr>
          <a:xfrm>
            <a:off x="7406640" y="1417320"/>
            <a:ext cx="1920240" cy="1097280"/>
          </a:xfrm>
          <a:prstGeom prst="roundRect">
            <a:avLst>
              <a:gd name="adj" fmla="val 6667"/>
            </a:avLst>
          </a:prstGeom>
          <a:solidFill>
            <a:srgbClr val="EEF2F3"/>
          </a:solidFill>
          <a:ln w="12700">
            <a:solidFill>
              <a:srgbClr val="EEF2F3"/>
            </a:solidFill>
            <a:prstDash val="solid"/>
          </a:ln>
        </p:spPr>
      </p:sp>
      <p:sp>
        <p:nvSpPr>
          <p:cNvPr id="20" name="step-num"/>
          <p:cNvSpPr/>
          <p:nvPr/>
        </p:nvSpPr>
        <p:spPr>
          <a:xfrm>
            <a:off x="7571232" y="1581912"/>
            <a:ext cx="420624" cy="420624"/>
          </a:xfrm>
          <a:prstGeom prst="ellipse">
            <a:avLst/>
          </a:prstGeom>
          <a:solidFill>
            <a:srgbClr val="3F6C9A"/>
          </a:solidFill>
          <a:ln w="12700">
            <a:solidFill>
              <a:srgbClr val="3F6C9A"/>
            </a:solidFill>
            <a:prstDash val="solid"/>
          </a:ln>
        </p:spPr>
      </p:sp>
      <p:sp>
        <p:nvSpPr>
          <p:cNvPr id="21" name="Text 18"/>
          <p:cNvSpPr txBox="1"/>
          <p:nvPr/>
        </p:nvSpPr>
        <p:spPr>
          <a:xfrm>
            <a:off x="7571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19"/>
          <p:cNvSpPr txBox="1"/>
          <p:nvPr/>
        </p:nvSpPr>
        <p:spPr>
          <a:xfrm>
            <a:off x="7516368" y="205740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Minéralisation</a:t>
            </a:r>
            <a:endParaRPr lang="en-US" sz="1500" dirty="0"/>
          </a:p>
        </p:txBody>
      </p:sp>
      <p:sp>
        <p:nvSpPr>
          <p:cNvPr id="23" name="arrow"/>
          <p:cNvSpPr/>
          <p:nvPr/>
        </p:nvSpPr>
        <p:spPr>
          <a:xfrm>
            <a:off x="9400032" y="1837944"/>
            <a:ext cx="219456" cy="256032"/>
          </a:xfrm>
          <a:prstGeom prst="rightArrow">
            <a:avLst/>
          </a:prstGeom>
          <a:solidFill>
            <a:srgbClr val="9AA5AC"/>
          </a:solidFill>
          <a:ln w="12700">
            <a:solidFill>
              <a:srgbClr val="9AA5AC"/>
            </a:solidFill>
            <a:prstDash val="solid"/>
          </a:ln>
        </p:spPr>
      </p:sp>
      <p:sp>
        <p:nvSpPr>
          <p:cNvPr id="24" name="step"/>
          <p:cNvSpPr/>
          <p:nvPr/>
        </p:nvSpPr>
        <p:spPr>
          <a:xfrm>
            <a:off x="9692640" y="1417320"/>
            <a:ext cx="1920240" cy="1097280"/>
          </a:xfrm>
          <a:prstGeom prst="roundRect">
            <a:avLst>
              <a:gd name="adj" fmla="val 6667"/>
            </a:avLst>
          </a:prstGeom>
          <a:solidFill>
            <a:srgbClr val="EEF2F3"/>
          </a:solidFill>
          <a:ln w="12700">
            <a:solidFill>
              <a:srgbClr val="EEF2F3"/>
            </a:solidFill>
            <a:prstDash val="solid"/>
          </a:ln>
        </p:spPr>
      </p:sp>
      <p:sp>
        <p:nvSpPr>
          <p:cNvPr id="25" name="step-num"/>
          <p:cNvSpPr/>
          <p:nvPr/>
        </p:nvSpPr>
        <p:spPr>
          <a:xfrm>
            <a:off x="9857232" y="1581912"/>
            <a:ext cx="420624" cy="420624"/>
          </a:xfrm>
          <a:prstGeom prst="ellipse">
            <a:avLst/>
          </a:prstGeom>
          <a:solidFill>
            <a:srgbClr val="3F6C9A"/>
          </a:solidFill>
          <a:ln w="12700">
            <a:solidFill>
              <a:srgbClr val="3F6C9A"/>
            </a:solidFill>
            <a:prstDash val="solid"/>
          </a:ln>
        </p:spPr>
      </p:sp>
      <p:sp>
        <p:nvSpPr>
          <p:cNvPr id="26" name="Text 23"/>
          <p:cNvSpPr txBox="1"/>
          <p:nvPr/>
        </p:nvSpPr>
        <p:spPr>
          <a:xfrm>
            <a:off x="9857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4"/>
          <p:cNvSpPr txBox="1"/>
          <p:nvPr/>
        </p:nvSpPr>
        <p:spPr>
          <a:xfrm>
            <a:off x="9802368" y="205740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Gisement</a:t>
            </a:r>
            <a:endParaRPr lang="en-US" sz="1500" dirty="0"/>
          </a:p>
        </p:txBody>
      </p:sp>
      <p:sp>
        <p:nvSpPr>
          <p:cNvPr id="28" name="step"/>
          <p:cNvSpPr/>
          <p:nvPr/>
        </p:nvSpPr>
        <p:spPr>
          <a:xfrm>
            <a:off x="548640" y="2834640"/>
            <a:ext cx="1920240" cy="1097280"/>
          </a:xfrm>
          <a:prstGeom prst="roundRect">
            <a:avLst>
              <a:gd name="adj" fmla="val 6667"/>
            </a:avLst>
          </a:prstGeom>
          <a:solidFill>
            <a:srgbClr val="EEF2F3"/>
          </a:solidFill>
          <a:ln w="12700">
            <a:solidFill>
              <a:srgbClr val="EEF2F3"/>
            </a:solidFill>
            <a:prstDash val="solid"/>
          </a:ln>
        </p:spPr>
      </p:sp>
      <p:sp>
        <p:nvSpPr>
          <p:cNvPr id="29" name="step-num"/>
          <p:cNvSpPr/>
          <p:nvPr/>
        </p:nvSpPr>
        <p:spPr>
          <a:xfrm>
            <a:off x="713232" y="2999232"/>
            <a:ext cx="420624" cy="420624"/>
          </a:xfrm>
          <a:prstGeom prst="ellipse">
            <a:avLst/>
          </a:prstGeom>
          <a:solidFill>
            <a:srgbClr val="B5542D"/>
          </a:solidFill>
          <a:ln w="12700">
            <a:solidFill>
              <a:srgbClr val="B5542D"/>
            </a:solidFill>
            <a:prstDash val="solid"/>
          </a:ln>
        </p:spPr>
      </p:sp>
      <p:sp>
        <p:nvSpPr>
          <p:cNvPr id="30" name="Text 27"/>
          <p:cNvSpPr txBox="1"/>
          <p:nvPr/>
        </p:nvSpPr>
        <p:spPr>
          <a:xfrm>
            <a:off x="713232" y="2999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8"/>
          <p:cNvSpPr txBox="1"/>
          <p:nvPr/>
        </p:nvSpPr>
        <p:spPr>
          <a:xfrm>
            <a:off x="658368" y="34747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Mine</a:t>
            </a:r>
            <a:endParaRPr lang="en-US" sz="1500" dirty="0"/>
          </a:p>
        </p:txBody>
      </p:sp>
      <p:sp>
        <p:nvSpPr>
          <p:cNvPr id="32" name="arrow"/>
          <p:cNvSpPr/>
          <p:nvPr/>
        </p:nvSpPr>
        <p:spPr>
          <a:xfrm>
            <a:off x="2542032" y="3255264"/>
            <a:ext cx="219456" cy="256032"/>
          </a:xfrm>
          <a:prstGeom prst="rightArrow">
            <a:avLst/>
          </a:prstGeom>
          <a:solidFill>
            <a:srgbClr val="9AA5AC"/>
          </a:solidFill>
          <a:ln w="12700">
            <a:solidFill>
              <a:srgbClr val="9AA5AC"/>
            </a:solidFill>
            <a:prstDash val="solid"/>
          </a:ln>
        </p:spPr>
      </p:sp>
      <p:sp>
        <p:nvSpPr>
          <p:cNvPr id="33" name="step"/>
          <p:cNvSpPr/>
          <p:nvPr/>
        </p:nvSpPr>
        <p:spPr>
          <a:xfrm>
            <a:off x="2834640" y="2834640"/>
            <a:ext cx="1920240" cy="1097280"/>
          </a:xfrm>
          <a:prstGeom prst="roundRect">
            <a:avLst>
              <a:gd name="adj" fmla="val 6667"/>
            </a:avLst>
          </a:prstGeom>
          <a:solidFill>
            <a:srgbClr val="EEF2F3"/>
          </a:solidFill>
          <a:ln w="12700">
            <a:solidFill>
              <a:srgbClr val="EEF2F3"/>
            </a:solidFill>
            <a:prstDash val="solid"/>
          </a:ln>
        </p:spPr>
      </p:sp>
      <p:sp>
        <p:nvSpPr>
          <p:cNvPr id="34" name="step-num"/>
          <p:cNvSpPr/>
          <p:nvPr/>
        </p:nvSpPr>
        <p:spPr>
          <a:xfrm>
            <a:off x="2999232" y="2999232"/>
            <a:ext cx="420624" cy="420624"/>
          </a:xfrm>
          <a:prstGeom prst="ellipse">
            <a:avLst/>
          </a:prstGeom>
          <a:solidFill>
            <a:srgbClr val="B5542D"/>
          </a:solidFill>
          <a:ln w="12700">
            <a:solidFill>
              <a:srgbClr val="B5542D"/>
            </a:solidFill>
            <a:prstDash val="solid"/>
          </a:ln>
        </p:spPr>
      </p:sp>
      <p:sp>
        <p:nvSpPr>
          <p:cNvPr id="35" name="Text 32"/>
          <p:cNvSpPr txBox="1"/>
          <p:nvPr/>
        </p:nvSpPr>
        <p:spPr>
          <a:xfrm>
            <a:off x="2999232" y="2999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6" name="Text 33"/>
          <p:cNvSpPr txBox="1"/>
          <p:nvPr/>
        </p:nvSpPr>
        <p:spPr>
          <a:xfrm>
            <a:off x="2944368" y="34747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Minerai</a:t>
            </a:r>
            <a:endParaRPr lang="en-US" sz="1500" dirty="0"/>
          </a:p>
        </p:txBody>
      </p:sp>
      <p:sp>
        <p:nvSpPr>
          <p:cNvPr id="37" name="arrow"/>
          <p:cNvSpPr/>
          <p:nvPr/>
        </p:nvSpPr>
        <p:spPr>
          <a:xfrm>
            <a:off x="4828032" y="3255264"/>
            <a:ext cx="219456" cy="256032"/>
          </a:xfrm>
          <a:prstGeom prst="rightArrow">
            <a:avLst/>
          </a:prstGeom>
          <a:solidFill>
            <a:srgbClr val="9AA5AC"/>
          </a:solidFill>
          <a:ln w="12700">
            <a:solidFill>
              <a:srgbClr val="9AA5AC"/>
            </a:solidFill>
            <a:prstDash val="solid"/>
          </a:ln>
        </p:spPr>
      </p:sp>
      <p:sp>
        <p:nvSpPr>
          <p:cNvPr id="38" name="step"/>
          <p:cNvSpPr/>
          <p:nvPr/>
        </p:nvSpPr>
        <p:spPr>
          <a:xfrm>
            <a:off x="5120640" y="2834640"/>
            <a:ext cx="1920240" cy="1097280"/>
          </a:xfrm>
          <a:prstGeom prst="roundRect">
            <a:avLst>
              <a:gd name="adj" fmla="val 6667"/>
            </a:avLst>
          </a:prstGeom>
          <a:solidFill>
            <a:srgbClr val="EEF2F3"/>
          </a:solidFill>
          <a:ln w="12700">
            <a:solidFill>
              <a:srgbClr val="EEF2F3"/>
            </a:solidFill>
            <a:prstDash val="solid"/>
          </a:ln>
        </p:spPr>
      </p:sp>
      <p:sp>
        <p:nvSpPr>
          <p:cNvPr id="39" name="step-num"/>
          <p:cNvSpPr/>
          <p:nvPr/>
        </p:nvSpPr>
        <p:spPr>
          <a:xfrm>
            <a:off x="5285232" y="2999232"/>
            <a:ext cx="420624" cy="420624"/>
          </a:xfrm>
          <a:prstGeom prst="ellipse">
            <a:avLst/>
          </a:prstGeom>
          <a:solidFill>
            <a:srgbClr val="B5542D"/>
          </a:solidFill>
          <a:ln w="12700">
            <a:solidFill>
              <a:srgbClr val="B5542D"/>
            </a:solidFill>
            <a:prstDash val="solid"/>
          </a:ln>
        </p:spPr>
      </p:sp>
      <p:sp>
        <p:nvSpPr>
          <p:cNvPr id="40" name="Text 37"/>
          <p:cNvSpPr txBox="1"/>
          <p:nvPr/>
        </p:nvSpPr>
        <p:spPr>
          <a:xfrm>
            <a:off x="5285232" y="2999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1" name="Text 38"/>
          <p:cNvSpPr txBox="1"/>
          <p:nvPr/>
        </p:nvSpPr>
        <p:spPr>
          <a:xfrm>
            <a:off x="5230368" y="34747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Concentré</a:t>
            </a:r>
            <a:endParaRPr lang="en-US" sz="1500" dirty="0"/>
          </a:p>
        </p:txBody>
      </p:sp>
      <p:sp>
        <p:nvSpPr>
          <p:cNvPr id="42" name="arrow"/>
          <p:cNvSpPr/>
          <p:nvPr/>
        </p:nvSpPr>
        <p:spPr>
          <a:xfrm>
            <a:off x="7114032" y="3255264"/>
            <a:ext cx="219456" cy="256032"/>
          </a:xfrm>
          <a:prstGeom prst="rightArrow">
            <a:avLst/>
          </a:prstGeom>
          <a:solidFill>
            <a:srgbClr val="9AA5AC"/>
          </a:solidFill>
          <a:ln w="12700">
            <a:solidFill>
              <a:srgbClr val="9AA5AC"/>
            </a:solidFill>
            <a:prstDash val="solid"/>
          </a:ln>
        </p:spPr>
      </p:sp>
      <p:sp>
        <p:nvSpPr>
          <p:cNvPr id="43" name="step"/>
          <p:cNvSpPr/>
          <p:nvPr/>
        </p:nvSpPr>
        <p:spPr>
          <a:xfrm>
            <a:off x="7406640" y="2834640"/>
            <a:ext cx="1920240" cy="1097280"/>
          </a:xfrm>
          <a:prstGeom prst="roundRect">
            <a:avLst>
              <a:gd name="adj" fmla="val 6667"/>
            </a:avLst>
          </a:prstGeom>
          <a:solidFill>
            <a:srgbClr val="EEF2F3"/>
          </a:solidFill>
          <a:ln w="12700">
            <a:solidFill>
              <a:srgbClr val="EEF2F3"/>
            </a:solidFill>
            <a:prstDash val="solid"/>
          </a:ln>
        </p:spPr>
      </p:sp>
      <p:sp>
        <p:nvSpPr>
          <p:cNvPr id="44" name="step-num"/>
          <p:cNvSpPr/>
          <p:nvPr/>
        </p:nvSpPr>
        <p:spPr>
          <a:xfrm>
            <a:off x="7571232" y="2999232"/>
            <a:ext cx="420624" cy="420624"/>
          </a:xfrm>
          <a:prstGeom prst="ellipse">
            <a:avLst/>
          </a:prstGeom>
          <a:solidFill>
            <a:srgbClr val="B5542D"/>
          </a:solidFill>
          <a:ln w="12700">
            <a:solidFill>
              <a:srgbClr val="B5542D"/>
            </a:solidFill>
            <a:prstDash val="solid"/>
          </a:ln>
        </p:spPr>
      </p:sp>
      <p:sp>
        <p:nvSpPr>
          <p:cNvPr id="45" name="Text 42"/>
          <p:cNvSpPr txBox="1"/>
          <p:nvPr/>
        </p:nvSpPr>
        <p:spPr>
          <a:xfrm>
            <a:off x="7571232" y="2999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46" name="Text 43"/>
          <p:cNvSpPr txBox="1"/>
          <p:nvPr/>
        </p:nvSpPr>
        <p:spPr>
          <a:xfrm>
            <a:off x="7516368" y="34747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Produit minier</a:t>
            </a:r>
            <a:endParaRPr lang="en-US" sz="1500" dirty="0"/>
          </a:p>
        </p:txBody>
      </p:sp>
      <p:sp>
        <p:nvSpPr>
          <p:cNvPr id="47" name="arrow"/>
          <p:cNvSpPr/>
          <p:nvPr/>
        </p:nvSpPr>
        <p:spPr>
          <a:xfrm>
            <a:off x="9400032" y="3255264"/>
            <a:ext cx="219456" cy="256032"/>
          </a:xfrm>
          <a:prstGeom prst="rightArrow">
            <a:avLst/>
          </a:prstGeom>
          <a:solidFill>
            <a:srgbClr val="9AA5AC"/>
          </a:solidFill>
          <a:ln w="12700">
            <a:solidFill>
              <a:srgbClr val="9AA5AC"/>
            </a:solidFill>
            <a:prstDash val="solid"/>
          </a:ln>
        </p:spPr>
      </p:sp>
      <p:sp>
        <p:nvSpPr>
          <p:cNvPr id="48" name="step"/>
          <p:cNvSpPr/>
          <p:nvPr/>
        </p:nvSpPr>
        <p:spPr>
          <a:xfrm>
            <a:off x="9692640" y="2834640"/>
            <a:ext cx="1920240" cy="1097280"/>
          </a:xfrm>
          <a:prstGeom prst="roundRect">
            <a:avLst>
              <a:gd name="adj" fmla="val 6667"/>
            </a:avLst>
          </a:prstGeom>
          <a:solidFill>
            <a:srgbClr val="EEF2F3"/>
          </a:solidFill>
          <a:ln w="12700">
            <a:solidFill>
              <a:srgbClr val="EEF2F3"/>
            </a:solidFill>
            <a:prstDash val="solid"/>
          </a:ln>
        </p:spPr>
      </p:sp>
      <p:sp>
        <p:nvSpPr>
          <p:cNvPr id="49" name="step-num"/>
          <p:cNvSpPr/>
          <p:nvPr/>
        </p:nvSpPr>
        <p:spPr>
          <a:xfrm>
            <a:off x="9857232" y="2999232"/>
            <a:ext cx="420624" cy="420624"/>
          </a:xfrm>
          <a:prstGeom prst="ellipse">
            <a:avLst/>
          </a:prstGeom>
          <a:solidFill>
            <a:srgbClr val="B5542D"/>
          </a:solidFill>
          <a:ln w="12700">
            <a:solidFill>
              <a:srgbClr val="B5542D"/>
            </a:solidFill>
            <a:prstDash val="solid"/>
          </a:ln>
        </p:spPr>
      </p:sp>
      <p:sp>
        <p:nvSpPr>
          <p:cNvPr id="50" name="Text 47"/>
          <p:cNvSpPr txBox="1"/>
          <p:nvPr/>
        </p:nvSpPr>
        <p:spPr>
          <a:xfrm>
            <a:off x="9857232" y="2999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10</a:t>
            </a:r>
            <a:endParaRPr lang="en-US" sz="1400" dirty="0"/>
          </a:p>
        </p:txBody>
      </p:sp>
      <p:sp>
        <p:nvSpPr>
          <p:cNvPr id="51" name="Text 48"/>
          <p:cNvSpPr txBox="1"/>
          <p:nvPr/>
        </p:nvSpPr>
        <p:spPr>
          <a:xfrm>
            <a:off x="9802368" y="34747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Marché</a:t>
            </a:r>
            <a:endParaRPr lang="en-US" sz="1500" dirty="0"/>
          </a:p>
        </p:txBody>
      </p:sp>
      <p:sp>
        <p:nvSpPr>
          <p:cNvPr id="52" name="panel"/>
          <p:cNvSpPr/>
          <p:nvPr/>
        </p:nvSpPr>
        <p:spPr>
          <a:xfrm>
            <a:off x="548640" y="4160520"/>
            <a:ext cx="5394960" cy="2011680"/>
          </a:xfrm>
          <a:prstGeom prst="roundRect">
            <a:avLst>
              <a:gd name="adj" fmla="val 3636"/>
            </a:avLst>
          </a:prstGeom>
          <a:solidFill>
            <a:schemeClr val="bg2"/>
          </a:solidFill>
          <a:ln w="12700">
            <a:solidFill>
              <a:schemeClr val="bg2"/>
            </a:solidFill>
            <a:prstDash val="solid"/>
          </a:ln>
        </p:spPr>
      </p:sp>
      <p:sp>
        <p:nvSpPr>
          <p:cNvPr id="53" name="icon-circle"/>
          <p:cNvSpPr/>
          <p:nvPr/>
        </p:nvSpPr>
        <p:spPr>
          <a:xfrm>
            <a:off x="777240" y="4389120"/>
            <a:ext cx="548640" cy="548640"/>
          </a:xfrm>
          <a:prstGeom prst="ellipse">
            <a:avLst/>
          </a:prstGeom>
          <a:solidFill>
            <a:srgbClr val="3F6C9A"/>
          </a:solidFill>
          <a:ln w="12700">
            <a:solidFill>
              <a:srgbClr val="3F6C9A"/>
            </a:solidFill>
            <a:prstDash val="solid"/>
          </a:ln>
        </p:spPr>
      </p:sp>
      <p:pic>
        <p:nvPicPr>
          <p:cNvPr id="54" name="icon" descr="preencoded.png">    </p:cNvPr>
          <p:cNvPicPr>
            <a:picLocks noChangeAspect="1"/>
          </p:cNvPicPr>
          <p:nvPr/>
        </p:nvPicPr>
        <p:blipFill>
          <a:blip r:embed="rId1"/>
          <a:stretch>
            <a:fillRect/>
          </a:stretch>
        </p:blipFill>
        <p:spPr>
          <a:xfrm>
            <a:off x="897941" y="4509821"/>
            <a:ext cx="307238" cy="307238"/>
          </a:xfrm>
          <a:prstGeom prst="rect">
            <a:avLst/>
          </a:prstGeom>
        </p:spPr>
      </p:pic>
      <p:sp>
        <p:nvSpPr>
          <p:cNvPr id="55" name="Text 51"/>
          <p:cNvSpPr txBox="1"/>
          <p:nvPr/>
        </p:nvSpPr>
        <p:spPr>
          <a:xfrm>
            <a:off x="1463040" y="43891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Amont : savoir où chercher</a:t>
            </a:r>
            <a:endParaRPr lang="en-US" sz="1800" dirty="0"/>
          </a:p>
        </p:txBody>
      </p:sp>
      <p:sp>
        <p:nvSpPr>
          <p:cNvPr id="56" name="Text 52"/>
          <p:cNvSpPr txBox="1"/>
          <p:nvPr/>
        </p:nvSpPr>
        <p:spPr>
          <a:xfrm>
            <a:off x="822960" y="5120640"/>
            <a:ext cx="4846320" cy="914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Géologie, structures, géochimie</a:t>
            </a:r>
            <a:endParaRPr lang="en-US" sz="1500" dirty="0"/>
          </a:p>
          <a:p>
            <a:pPr marL="342900" indent="-342900">
              <a:spcAft>
                <a:spcPts val="600"/>
              </a:spcAft>
              <a:buSzPct val="100000"/>
              <a:buChar char="•"/>
            </a:pPr>
            <a:r>
              <a:rPr lang="en-US" sz="1500" dirty="0">
                <a:solidFill>
                  <a:schemeClr val="tx1"/>
                </a:solidFill>
              </a:rPr>
              <a:t>Télédétection et SIG</a:t>
            </a:r>
            <a:endParaRPr lang="en-US" sz="1500" dirty="0"/>
          </a:p>
          <a:p>
            <a:pPr marL="342900" indent="-342900">
              <a:spcAft>
                <a:spcPts val="600"/>
              </a:spcAft>
              <a:buSzPct val="100000"/>
              <a:buChar char="•"/>
            </a:pPr>
            <a:r>
              <a:rPr lang="en-US" sz="1500" dirty="0">
                <a:solidFill>
                  <a:schemeClr val="tx1"/>
                </a:solidFill>
              </a:rPr>
              <a:t>Le domaine de cette formation</a:t>
            </a:r>
            <a:endParaRPr lang="en-US" sz="1500" dirty="0"/>
          </a:p>
        </p:txBody>
      </p:sp>
      <p:sp>
        <p:nvSpPr>
          <p:cNvPr id="57" name="panel"/>
          <p:cNvSpPr/>
          <p:nvPr/>
        </p:nvSpPr>
        <p:spPr>
          <a:xfrm>
            <a:off x="6217920" y="4160520"/>
            <a:ext cx="5394960" cy="2011680"/>
          </a:xfrm>
          <a:prstGeom prst="roundRect">
            <a:avLst>
              <a:gd name="adj" fmla="val 3636"/>
            </a:avLst>
          </a:prstGeom>
          <a:solidFill>
            <a:schemeClr val="bg2"/>
          </a:solidFill>
          <a:ln w="12700">
            <a:solidFill>
              <a:schemeClr val="bg2"/>
            </a:solidFill>
            <a:prstDash val="solid"/>
          </a:ln>
        </p:spPr>
      </p:sp>
      <p:sp>
        <p:nvSpPr>
          <p:cNvPr id="58" name="icon-circle"/>
          <p:cNvSpPr/>
          <p:nvPr/>
        </p:nvSpPr>
        <p:spPr>
          <a:xfrm>
            <a:off x="6446520" y="4389120"/>
            <a:ext cx="548640" cy="548640"/>
          </a:xfrm>
          <a:prstGeom prst="ellipse">
            <a:avLst/>
          </a:prstGeom>
          <a:solidFill>
            <a:srgbClr val="B5542D"/>
          </a:solidFill>
          <a:ln w="12700">
            <a:solidFill>
              <a:srgbClr val="B5542D"/>
            </a:solidFill>
            <a:prstDash val="solid"/>
          </a:ln>
        </p:spPr>
      </p:sp>
      <p:pic>
        <p:nvPicPr>
          <p:cNvPr id="59" name="icon" descr="preencoded.png">    </p:cNvPr>
          <p:cNvPicPr>
            <a:picLocks noChangeAspect="1"/>
          </p:cNvPicPr>
          <p:nvPr/>
        </p:nvPicPr>
        <p:blipFill>
          <a:blip r:embed="rId2"/>
          <a:stretch>
            <a:fillRect/>
          </a:stretch>
        </p:blipFill>
        <p:spPr>
          <a:xfrm>
            <a:off x="6567221" y="4509821"/>
            <a:ext cx="307238" cy="307238"/>
          </a:xfrm>
          <a:prstGeom prst="rect">
            <a:avLst/>
          </a:prstGeom>
        </p:spPr>
      </p:pic>
      <p:sp>
        <p:nvSpPr>
          <p:cNvPr id="60" name="Text 55"/>
          <p:cNvSpPr txBox="1"/>
          <p:nvPr/>
        </p:nvSpPr>
        <p:spPr>
          <a:xfrm>
            <a:off x="7132320" y="43891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Aval : savoir quoi vendre</a:t>
            </a:r>
            <a:endParaRPr lang="en-US" sz="1800" dirty="0"/>
          </a:p>
        </p:txBody>
      </p:sp>
      <p:sp>
        <p:nvSpPr>
          <p:cNvPr id="61" name="Text 56"/>
          <p:cNvSpPr txBox="1"/>
          <p:nvPr/>
        </p:nvSpPr>
        <p:spPr>
          <a:xfrm>
            <a:off x="6492240" y="5120640"/>
            <a:ext cx="4846320" cy="914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Traitement, transformation</a:t>
            </a:r>
            <a:endParaRPr lang="en-US" sz="1500" dirty="0"/>
          </a:p>
          <a:p>
            <a:pPr marL="342900" indent="-342900">
              <a:spcAft>
                <a:spcPts val="600"/>
              </a:spcAft>
              <a:buSzPct val="100000"/>
              <a:buChar char="•"/>
            </a:pPr>
            <a:r>
              <a:rPr lang="en-US" sz="1500" dirty="0">
                <a:solidFill>
                  <a:schemeClr val="tx1"/>
                </a:solidFill>
              </a:rPr>
              <a:t>Produit, prix, logistique</a:t>
            </a:r>
            <a:endParaRPr lang="en-US" sz="1500" dirty="0"/>
          </a:p>
          <a:p>
            <a:pPr marL="342900" indent="-342900">
              <a:spcAft>
                <a:spcPts val="600"/>
              </a:spcAft>
              <a:buSzPct val="100000"/>
              <a:buChar char="•"/>
            </a:pPr>
            <a:r>
              <a:rPr lang="en-US" sz="1500" dirty="0">
                <a:solidFill>
                  <a:schemeClr val="tx1"/>
                </a:solidFill>
              </a:rPr>
              <a:t>Là où se crée la valeur</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Le vocabulaire qui structure tout le reste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6766560"/>
                <a:gridCol w="256032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Terme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Définition opérationnelle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Qui peut l'affirmer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Indice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Signe de minéralisation observé (affleurement, pépite, roche altérée)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Géologue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Anomalie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Valeur qui s'écarte du fond géochimique, géophysique ou spectral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Analyste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Occurrence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Minéralisation constatée, sans intérêt économique démontré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Géologue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Cible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Zone retenue pour des travaux de vérification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Analyste, géologue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Prospect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Cible où des travaux ont confirmé une minéralisation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Géologue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Gisement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Concentration potentiellement exploitable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Géologue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Ressource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Estimation déclarée selon un code (JORC, NI 43-101, PERC)</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Personne compétente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Réserve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Partie de la ressource économiquement exploitable, après études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Personne compétente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Seule une personne compétente peut déclarer une ressource</a:t>
            </a:r>
            <a:endParaRPr lang="en-US" sz="3000" dirty="0"/>
          </a:p>
        </p:txBody>
      </p:sp>
      <p:sp>
        <p:nvSpPr>
          <p:cNvPr id="4" name="card"/>
          <p:cNvSpPr/>
          <p:nvPr/>
        </p:nvSpPr>
        <p:spPr>
          <a:xfrm>
            <a:off x="548640" y="1371600"/>
            <a:ext cx="2560320" cy="3291840"/>
          </a:xfrm>
          <a:prstGeom prst="roundRect">
            <a:avLst>
              <a:gd name="adj" fmla="val 2857"/>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JORC</a:t>
            </a:r>
            <a:endParaRPr lang="en-US" sz="1700" dirty="0"/>
          </a:p>
        </p:txBody>
      </p:sp>
      <p:sp>
        <p:nvSpPr>
          <p:cNvPr id="8" name="Text 4"/>
          <p:cNvSpPr txBox="1"/>
          <p:nvPr/>
        </p:nvSpPr>
        <p:spPr>
          <a:xfrm>
            <a:off x="777240" y="2286000"/>
            <a:ext cx="2103120" cy="2240280"/>
          </a:xfrm>
          <a:prstGeom prst="rect">
            <a:avLst/>
          </a:prstGeom>
          <a:noFill/>
          <a:ln/>
        </p:spPr>
        <p:txBody>
          <a:bodyPr wrap="square" lIns="0" tIns="0" rIns="0" bIns="0" rtlCol="0" anchor="t"/>
          <a:lstStyle/>
          <a:p>
            <a:pPr indent="0" marL="0">
              <a:buNone/>
            </a:pPr>
            <a:r>
              <a:rPr lang="en-US" sz="1400" dirty="0">
                <a:solidFill>
                  <a:schemeClr val="tx1"/>
                </a:solidFill>
              </a:rPr>
              <a:t>Code australasien, référence très utilisée en Afrique par les sociétés cotées en Australie</a:t>
            </a:r>
            <a:endParaRPr lang="en-US" sz="1400" dirty="0"/>
          </a:p>
        </p:txBody>
      </p:sp>
      <p:sp>
        <p:nvSpPr>
          <p:cNvPr id="9" name="card"/>
          <p:cNvSpPr/>
          <p:nvPr/>
        </p:nvSpPr>
        <p:spPr>
          <a:xfrm>
            <a:off x="3383280" y="1371600"/>
            <a:ext cx="2560320" cy="3291840"/>
          </a:xfrm>
          <a:prstGeom prst="roundRect">
            <a:avLst>
              <a:gd name="adj" fmla="val 2857"/>
            </a:avLst>
          </a:prstGeom>
          <a:solidFill>
            <a:schemeClr val="bg2"/>
          </a:solidFill>
          <a:ln w="12700">
            <a:solidFill>
              <a:schemeClr val="bg2"/>
            </a:solidFill>
            <a:prstDash val="solid"/>
          </a:ln>
        </p:spPr>
      </p:sp>
      <p:sp>
        <p:nvSpPr>
          <p:cNvPr id="10" name="icon-circle"/>
          <p:cNvSpPr/>
          <p:nvPr/>
        </p:nvSpPr>
        <p:spPr>
          <a:xfrm>
            <a:off x="361188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3732581" y="1720901"/>
            <a:ext cx="307238" cy="307238"/>
          </a:xfrm>
          <a:prstGeom prst="rect">
            <a:avLst/>
          </a:prstGeom>
        </p:spPr>
      </p:pic>
      <p:sp>
        <p:nvSpPr>
          <p:cNvPr id="12" name="Text 7"/>
          <p:cNvSpPr txBox="1"/>
          <p:nvPr/>
        </p:nvSpPr>
        <p:spPr>
          <a:xfrm>
            <a:off x="429768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NI 43-101</a:t>
            </a:r>
            <a:endParaRPr lang="en-US" sz="1700" dirty="0"/>
          </a:p>
        </p:txBody>
      </p:sp>
      <p:sp>
        <p:nvSpPr>
          <p:cNvPr id="13" name="Text 8"/>
          <p:cNvSpPr txBox="1"/>
          <p:nvPr/>
        </p:nvSpPr>
        <p:spPr>
          <a:xfrm>
            <a:off x="3611880" y="2286000"/>
            <a:ext cx="2103120" cy="2240280"/>
          </a:xfrm>
          <a:prstGeom prst="rect">
            <a:avLst/>
          </a:prstGeom>
          <a:noFill/>
          <a:ln/>
        </p:spPr>
        <p:txBody>
          <a:bodyPr wrap="square" lIns="0" tIns="0" rIns="0" bIns="0" rtlCol="0" anchor="t"/>
          <a:lstStyle/>
          <a:p>
            <a:pPr indent="0" marL="0">
              <a:buNone/>
            </a:pPr>
            <a:r>
              <a:rPr lang="en-US" sz="1400" dirty="0">
                <a:solidFill>
                  <a:schemeClr val="tx1"/>
                </a:solidFill>
              </a:rPr>
              <a:t>Norme canadienne pour les sociétés cotées au Canada</a:t>
            </a:r>
            <a:endParaRPr lang="en-US" sz="1400" dirty="0"/>
          </a:p>
        </p:txBody>
      </p:sp>
      <p:sp>
        <p:nvSpPr>
          <p:cNvPr id="14" name="card"/>
          <p:cNvSpPr/>
          <p:nvPr/>
        </p:nvSpPr>
        <p:spPr>
          <a:xfrm>
            <a:off x="6217920" y="1371600"/>
            <a:ext cx="2560320" cy="3291840"/>
          </a:xfrm>
          <a:prstGeom prst="roundRect">
            <a:avLst>
              <a:gd name="adj" fmla="val 2857"/>
            </a:avLst>
          </a:prstGeom>
          <a:solidFill>
            <a:schemeClr val="bg2"/>
          </a:solidFill>
          <a:ln w="12700">
            <a:solidFill>
              <a:schemeClr val="bg2"/>
            </a:solidFill>
            <a:prstDash val="solid"/>
          </a:ln>
        </p:spPr>
      </p:sp>
      <p:sp>
        <p:nvSpPr>
          <p:cNvPr id="15" name="icon-circle"/>
          <p:cNvSpPr/>
          <p:nvPr/>
        </p:nvSpPr>
        <p:spPr>
          <a:xfrm>
            <a:off x="644652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6567221" y="1720901"/>
            <a:ext cx="307238" cy="307238"/>
          </a:xfrm>
          <a:prstGeom prst="rect">
            <a:avLst/>
          </a:prstGeom>
        </p:spPr>
      </p:pic>
      <p:sp>
        <p:nvSpPr>
          <p:cNvPr id="17" name="Text 11"/>
          <p:cNvSpPr txBox="1"/>
          <p:nvPr/>
        </p:nvSpPr>
        <p:spPr>
          <a:xfrm>
            <a:off x="713232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PERC</a:t>
            </a:r>
            <a:endParaRPr lang="en-US" sz="1700" dirty="0"/>
          </a:p>
        </p:txBody>
      </p:sp>
      <p:sp>
        <p:nvSpPr>
          <p:cNvPr id="18" name="Text 12"/>
          <p:cNvSpPr txBox="1"/>
          <p:nvPr/>
        </p:nvSpPr>
        <p:spPr>
          <a:xfrm>
            <a:off x="6446520" y="2286000"/>
            <a:ext cx="2103120" cy="2240280"/>
          </a:xfrm>
          <a:prstGeom prst="rect">
            <a:avLst/>
          </a:prstGeom>
          <a:noFill/>
          <a:ln/>
        </p:spPr>
        <p:txBody>
          <a:bodyPr wrap="square" lIns="0" tIns="0" rIns="0" bIns="0" rtlCol="0" anchor="t"/>
          <a:lstStyle/>
          <a:p>
            <a:pPr indent="0" marL="0">
              <a:buNone/>
            </a:pPr>
            <a:r>
              <a:rPr lang="en-US" sz="1400" dirty="0">
                <a:solidFill>
                  <a:schemeClr val="tx1"/>
                </a:solidFill>
              </a:rPr>
              <a:t>Code européen de déclaration des résultats, ressources et réserves</a:t>
            </a:r>
            <a:endParaRPr lang="en-US" sz="1400" dirty="0"/>
          </a:p>
        </p:txBody>
      </p:sp>
      <p:sp>
        <p:nvSpPr>
          <p:cNvPr id="19" name="card"/>
          <p:cNvSpPr/>
          <p:nvPr/>
        </p:nvSpPr>
        <p:spPr>
          <a:xfrm>
            <a:off x="9052560" y="1371600"/>
            <a:ext cx="2560320" cy="3291840"/>
          </a:xfrm>
          <a:prstGeom prst="roundRect">
            <a:avLst>
              <a:gd name="adj" fmla="val 2857"/>
            </a:avLst>
          </a:prstGeom>
          <a:solidFill>
            <a:schemeClr val="bg2"/>
          </a:solidFill>
          <a:ln w="12700">
            <a:solidFill>
              <a:schemeClr val="bg2"/>
            </a:solidFill>
            <a:prstDash val="solid"/>
          </a:ln>
        </p:spPr>
      </p:sp>
      <p:sp>
        <p:nvSpPr>
          <p:cNvPr id="20" name="icon-circle"/>
          <p:cNvSpPr/>
          <p:nvPr/>
        </p:nvSpPr>
        <p:spPr>
          <a:xfrm>
            <a:off x="9281160" y="1600200"/>
            <a:ext cx="548640" cy="548640"/>
          </a:xfrm>
          <a:prstGeom prst="ellipse">
            <a:avLst/>
          </a:prstGeom>
          <a:solidFill>
            <a:srgbClr val="D9A441"/>
          </a:solidFill>
          <a:ln w="12700">
            <a:solidFill>
              <a:srgbClr val="D9A441"/>
            </a:solidFill>
            <a:prstDash val="solid"/>
          </a:ln>
        </p:spPr>
      </p:sp>
      <p:pic>
        <p:nvPicPr>
          <p:cNvPr id="21" name="icon" descr="preencoded.png">    </p:cNvPr>
          <p:cNvPicPr>
            <a:picLocks noChangeAspect="1"/>
          </p:cNvPicPr>
          <p:nvPr/>
        </p:nvPicPr>
        <p:blipFill>
          <a:blip r:embed="rId4"/>
          <a:stretch>
            <a:fillRect/>
          </a:stretch>
        </p:blipFill>
        <p:spPr>
          <a:xfrm>
            <a:off x="9401861" y="1720901"/>
            <a:ext cx="307238" cy="307238"/>
          </a:xfrm>
          <a:prstGeom prst="rect">
            <a:avLst/>
          </a:prstGeom>
        </p:spPr>
      </p:pic>
      <p:sp>
        <p:nvSpPr>
          <p:cNvPr id="22" name="Text 15"/>
          <p:cNvSpPr txBox="1"/>
          <p:nvPr/>
        </p:nvSpPr>
        <p:spPr>
          <a:xfrm>
            <a:off x="996696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Personne compétente</a:t>
            </a:r>
            <a:endParaRPr lang="en-US" sz="1700" dirty="0"/>
          </a:p>
        </p:txBody>
      </p:sp>
      <p:sp>
        <p:nvSpPr>
          <p:cNvPr id="23" name="Text 16"/>
          <p:cNvSpPr txBox="1"/>
          <p:nvPr/>
        </p:nvSpPr>
        <p:spPr>
          <a:xfrm>
            <a:off x="9281160" y="2286000"/>
            <a:ext cx="2103120" cy="2240280"/>
          </a:xfrm>
          <a:prstGeom prst="rect">
            <a:avLst/>
          </a:prstGeom>
          <a:noFill/>
          <a:ln/>
        </p:spPr>
        <p:txBody>
          <a:bodyPr wrap="square" lIns="0" tIns="0" rIns="0" bIns="0" rtlCol="0" anchor="t"/>
          <a:lstStyle/>
          <a:p>
            <a:pPr indent="0" marL="0">
              <a:buNone/>
            </a:pPr>
            <a:r>
              <a:rPr lang="en-US" sz="1400" dirty="0">
                <a:solidFill>
                  <a:schemeClr val="tx1"/>
                </a:solidFill>
              </a:rPr>
              <a:t>Professionnel qualifié et expérimenté qui engage sa responsabilité sur la déclaration</a:t>
            </a:r>
            <a:endParaRPr lang="en-US" sz="1400" dirty="0"/>
          </a:p>
        </p:txBody>
      </p:sp>
      <p:sp>
        <p:nvSpPr>
          <p:cNvPr id="24" name="callout"/>
          <p:cNvSpPr/>
          <p:nvPr/>
        </p:nvSpPr>
        <p:spPr>
          <a:xfrm>
            <a:off x="548640" y="5120640"/>
            <a:ext cx="11064240" cy="640080"/>
          </a:xfrm>
          <a:prstGeom prst="roundRect">
            <a:avLst>
              <a:gd name="adj" fmla="val 11429"/>
            </a:avLst>
          </a:prstGeom>
          <a:solidFill>
            <a:srgbClr val="3E7C6B">
              <a:alpha val="15000"/>
            </a:srgbClr>
          </a:solidFill>
          <a:ln w="12700">
            <a:solidFill>
              <a:srgbClr val="3E7C6B"/>
            </a:solidFill>
            <a:prstDash val="solid"/>
          </a:ln>
        </p:spPr>
      </p:sp>
      <p:sp>
        <p:nvSpPr>
          <p:cNvPr id="25" name="icon-circle"/>
          <p:cNvSpPr/>
          <p:nvPr/>
        </p:nvSpPr>
        <p:spPr>
          <a:xfrm>
            <a:off x="685800" y="5239512"/>
            <a:ext cx="402336" cy="402336"/>
          </a:xfrm>
          <a:prstGeom prst="ellipse">
            <a:avLst/>
          </a:prstGeom>
          <a:solidFill>
            <a:srgbClr val="3E7C6B"/>
          </a:solidFill>
          <a:ln w="12700">
            <a:solidFill>
              <a:srgbClr val="3E7C6B"/>
            </a:solidFill>
            <a:prstDash val="solid"/>
          </a:ln>
        </p:spPr>
      </p:sp>
      <p:pic>
        <p:nvPicPr>
          <p:cNvPr id="26" name="icon" descr="preencoded.png">    </p:cNvPr>
          <p:cNvPicPr>
            <a:picLocks noChangeAspect="1"/>
          </p:cNvPicPr>
          <p:nvPr/>
        </p:nvPicPr>
        <p:blipFill>
          <a:blip r:embed="rId5"/>
          <a:stretch>
            <a:fillRect/>
          </a:stretch>
        </p:blipFill>
        <p:spPr>
          <a:xfrm>
            <a:off x="774314" y="5328026"/>
            <a:ext cx="225308" cy="225308"/>
          </a:xfrm>
          <a:prstGeom prst="rect">
            <a:avLst/>
          </a:prstGeom>
        </p:spPr>
      </p:pic>
      <p:sp>
        <p:nvSpPr>
          <p:cNvPr id="27" name="Text 19"/>
          <p:cNvSpPr txBox="1"/>
          <p:nvPr/>
        </p:nvSpPr>
        <p:spPr>
          <a:xfrm>
            <a:off x="1234440" y="5120640"/>
            <a:ext cx="10195560" cy="640080"/>
          </a:xfrm>
          <a:prstGeom prst="rect">
            <a:avLst/>
          </a:prstGeom>
          <a:noFill/>
          <a:ln/>
        </p:spPr>
        <p:txBody>
          <a:bodyPr wrap="square" lIns="0" tIns="0" rIns="0" bIns="0" rtlCol="0" anchor="ctr"/>
          <a:lstStyle/>
          <a:p>
            <a:pPr indent="0" marL="0">
              <a:buNone/>
            </a:pPr>
            <a:r>
              <a:rPr lang="en-US" sz="1500" dirty="0">
                <a:solidFill>
                  <a:schemeClr val="tx2"/>
                </a:solidFill>
              </a:rPr>
              <a:t>Règle de la formation : on parle de cibles et de potentiel qualitatif, jamais de tonnage.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Ce que la télédétection fait, et ce qu'elle ne fait pas</a:t>
            </a:r>
            <a:endParaRPr lang="en-US" sz="3000" dirty="0"/>
          </a:p>
        </p:txBody>
      </p:sp>
      <p:sp>
        <p:nvSpPr>
          <p:cNvPr id="4" name="panel"/>
          <p:cNvSpPr/>
          <p:nvPr/>
        </p:nvSpPr>
        <p:spPr>
          <a:xfrm>
            <a:off x="548640" y="1417320"/>
            <a:ext cx="5394960" cy="4663440"/>
          </a:xfrm>
          <a:prstGeom prst="roundRect">
            <a:avLst>
              <a:gd name="adj" fmla="val 1569"/>
            </a:avLst>
          </a:prstGeom>
          <a:solidFill>
            <a:schemeClr val="bg2"/>
          </a:solidFill>
          <a:ln w="12700">
            <a:solidFill>
              <a:schemeClr val="bg2"/>
            </a:solidFill>
            <a:prstDash val="solid"/>
          </a:ln>
        </p:spPr>
      </p:sp>
      <p:sp>
        <p:nvSpPr>
          <p:cNvPr id="5" name="icon-circle"/>
          <p:cNvSpPr/>
          <p:nvPr/>
        </p:nvSpPr>
        <p:spPr>
          <a:xfrm>
            <a:off x="777240" y="1645920"/>
            <a:ext cx="548640" cy="548640"/>
          </a:xfrm>
          <a:prstGeom prst="ellipse">
            <a:avLst/>
          </a:prstGeom>
          <a:solidFill>
            <a:srgbClr val="3E7C6B"/>
          </a:solidFill>
          <a:ln w="12700">
            <a:solidFill>
              <a:srgbClr val="3E7C6B"/>
            </a:solidFill>
            <a:prstDash val="solid"/>
          </a:ln>
        </p:spPr>
      </p:sp>
      <p:pic>
        <p:nvPicPr>
          <p:cNvPr id="6" name="icon"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7" name="Text 3"/>
          <p:cNvSpPr txBox="1"/>
          <p:nvPr/>
        </p:nvSpPr>
        <p:spPr>
          <a:xfrm>
            <a:off x="1463040" y="16459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Elle sait</a:t>
            </a:r>
            <a:endParaRPr lang="en-US" sz="1800" dirty="0"/>
          </a:p>
        </p:txBody>
      </p:sp>
      <p:sp>
        <p:nvSpPr>
          <p:cNvPr id="8"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Orienter : où regarder en premier</a:t>
            </a:r>
            <a:endParaRPr lang="en-US" sz="1500" dirty="0"/>
          </a:p>
          <a:p>
            <a:pPr marL="342900" indent="-342900">
              <a:spcAft>
                <a:spcPts val="600"/>
              </a:spcAft>
              <a:buSzPct val="100000"/>
              <a:buChar char="•"/>
            </a:pPr>
            <a:r>
              <a:rPr lang="en-US" sz="1500" dirty="0">
                <a:solidFill>
                  <a:schemeClr val="tx1"/>
                </a:solidFill>
              </a:rPr>
              <a:t>Hiérarchiser : quelles zones avant les autres</a:t>
            </a:r>
            <a:endParaRPr lang="en-US" sz="1500" dirty="0"/>
          </a:p>
          <a:p>
            <a:pPr marL="342900" indent="-342900">
              <a:spcAft>
                <a:spcPts val="600"/>
              </a:spcAft>
              <a:buSzPct val="100000"/>
              <a:buChar char="•"/>
            </a:pPr>
            <a:r>
              <a:rPr lang="en-US" sz="1500" dirty="0">
                <a:solidFill>
                  <a:schemeClr val="tx1"/>
                </a:solidFill>
              </a:rPr>
              <a:t>Cartographier : altérations, structures, latérites</a:t>
            </a:r>
            <a:endParaRPr lang="en-US" sz="1500" dirty="0"/>
          </a:p>
          <a:p>
            <a:pPr marL="342900" indent="-342900">
              <a:spcAft>
                <a:spcPts val="600"/>
              </a:spcAft>
              <a:buSzPct val="100000"/>
              <a:buChar char="•"/>
            </a:pPr>
            <a:r>
              <a:rPr lang="en-US" sz="1500" dirty="0">
                <a:solidFill>
                  <a:schemeClr val="tx1"/>
                </a:solidFill>
              </a:rPr>
              <a:t>Surveiller : défrichement, orpaillage, rivières, résidus</a:t>
            </a:r>
            <a:endParaRPr lang="en-US" sz="1500" dirty="0"/>
          </a:p>
          <a:p>
            <a:pPr marL="342900" indent="-342900">
              <a:spcAft>
                <a:spcPts val="600"/>
              </a:spcAft>
              <a:buSzPct val="100000"/>
              <a:buChar char="•"/>
            </a:pPr>
            <a:r>
              <a:rPr lang="en-US" sz="1500" dirty="0">
                <a:solidFill>
                  <a:schemeClr val="tx1"/>
                </a:solidFill>
              </a:rPr>
              <a:t>Réduire le coût du terrain</a:t>
            </a:r>
            <a:endParaRPr lang="en-US" sz="1500" dirty="0"/>
          </a:p>
        </p:txBody>
      </p:sp>
      <p:sp>
        <p:nvSpPr>
          <p:cNvPr id="9" name="panel"/>
          <p:cNvSpPr/>
          <p:nvPr/>
        </p:nvSpPr>
        <p:spPr>
          <a:xfrm>
            <a:off x="6217920" y="1417320"/>
            <a:ext cx="5394960" cy="4663440"/>
          </a:xfrm>
          <a:prstGeom prst="roundRect">
            <a:avLst>
              <a:gd name="adj" fmla="val 1569"/>
            </a:avLst>
          </a:prstGeom>
          <a:solidFill>
            <a:schemeClr val="bg2"/>
          </a:solidFill>
          <a:ln w="12700">
            <a:solidFill>
              <a:schemeClr val="bg2"/>
            </a:solidFill>
            <a:prstDash val="solid"/>
          </a:ln>
        </p:spPr>
      </p:sp>
      <p:sp>
        <p:nvSpPr>
          <p:cNvPr id="10" name="icon-circle"/>
          <p:cNvSpPr/>
          <p:nvPr/>
        </p:nvSpPr>
        <p:spPr>
          <a:xfrm>
            <a:off x="6446520" y="1645920"/>
            <a:ext cx="548640" cy="548640"/>
          </a:xfrm>
          <a:prstGeom prst="ellipse">
            <a:avLst/>
          </a:prstGeom>
          <a:solidFill>
            <a:srgbClr val="B5542D"/>
          </a:solidFill>
          <a:ln w="12700">
            <a:solidFill>
              <a:srgbClr val="B5542D"/>
            </a:solidFill>
            <a:prstDash val="solid"/>
          </a:ln>
        </p:spPr>
      </p:sp>
      <p:pic>
        <p:nvPicPr>
          <p:cNvPr id="11" name="icon" descr="preencoded.png">    </p:cNvPr>
          <p:cNvPicPr>
            <a:picLocks noChangeAspect="1"/>
          </p:cNvPicPr>
          <p:nvPr/>
        </p:nvPicPr>
        <p:blipFill>
          <a:blip r:embed="rId2"/>
          <a:stretch>
            <a:fillRect/>
          </a:stretch>
        </p:blipFill>
        <p:spPr>
          <a:xfrm>
            <a:off x="6567221" y="1766621"/>
            <a:ext cx="307238" cy="307238"/>
          </a:xfrm>
          <a:prstGeom prst="rect">
            <a:avLst/>
          </a:prstGeom>
        </p:spPr>
      </p:pic>
      <p:sp>
        <p:nvSpPr>
          <p:cNvPr id="12" name="Text 7"/>
          <p:cNvSpPr txBox="1"/>
          <p:nvPr/>
        </p:nvSpPr>
        <p:spPr>
          <a:xfrm>
            <a:off x="7132320" y="16459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Elle ne sait pas</a:t>
            </a:r>
            <a:endParaRPr lang="en-US" sz="1800" dirty="0"/>
          </a:p>
        </p:txBody>
      </p:sp>
      <p:sp>
        <p:nvSpPr>
          <p:cNvPr id="13" name="Text 8"/>
          <p:cNvSpPr txBox="1"/>
          <p:nvPr/>
        </p:nvSpPr>
        <p:spPr>
          <a:xfrm>
            <a:off x="6492240" y="2377440"/>
            <a:ext cx="484632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Prouver l'existence d'un gisement</a:t>
            </a:r>
            <a:endParaRPr lang="en-US" sz="1500" dirty="0"/>
          </a:p>
          <a:p>
            <a:pPr marL="342900" indent="-342900">
              <a:spcAft>
                <a:spcPts val="600"/>
              </a:spcAft>
              <a:buSzPct val="100000"/>
              <a:buChar char="•"/>
            </a:pPr>
            <a:r>
              <a:rPr lang="en-US" sz="1500" dirty="0">
                <a:solidFill>
                  <a:schemeClr val="tx1"/>
                </a:solidFill>
              </a:rPr>
              <a:t>Mesurer une teneur ou un tonnage</a:t>
            </a:r>
            <a:endParaRPr lang="en-US" sz="1500" dirty="0"/>
          </a:p>
          <a:p>
            <a:pPr marL="342900" indent="-342900">
              <a:spcAft>
                <a:spcPts val="600"/>
              </a:spcAft>
              <a:buSzPct val="100000"/>
              <a:buChar char="•"/>
            </a:pPr>
            <a:r>
              <a:rPr lang="en-US" sz="1500" dirty="0">
                <a:solidFill>
                  <a:schemeClr val="tx1"/>
                </a:solidFill>
              </a:rPr>
              <a:t>Voir sous un couvert forestier dense</a:t>
            </a:r>
            <a:endParaRPr lang="en-US" sz="1500" dirty="0"/>
          </a:p>
          <a:p>
            <a:pPr marL="342900" indent="-342900">
              <a:spcAft>
                <a:spcPts val="600"/>
              </a:spcAft>
              <a:buSzPct val="100000"/>
              <a:buChar char="•"/>
            </a:pPr>
            <a:r>
              <a:rPr lang="en-US" sz="1500" dirty="0">
                <a:solidFill>
                  <a:schemeClr val="tx1"/>
                </a:solidFill>
              </a:rPr>
              <a:t>Voir en profondeur</a:t>
            </a:r>
            <a:endParaRPr lang="en-US" sz="1500" dirty="0"/>
          </a:p>
          <a:p>
            <a:pPr marL="342900" indent="-342900">
              <a:spcAft>
                <a:spcPts val="600"/>
              </a:spcAft>
              <a:buSzPct val="100000"/>
              <a:buChar char="•"/>
            </a:pPr>
            <a:r>
              <a:rPr lang="en-US" sz="1500" dirty="0">
                <a:solidFill>
                  <a:schemeClr val="tx1"/>
                </a:solidFill>
              </a:rPr>
              <a:t>Remplacer les sondages et la personne compétente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Une boîte à outils de données publiques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5943600"/>
                <a:gridCol w="18288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Ce qu'on y trouve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USGS — Mineral industries of Africa</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Mines, usines, exploration, énergie, ports, rails, routes ; 58 pays ; référence 2018</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Vérifié (2021)</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OneGeology</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Cartes géologiques nationales en WMS/WFS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À tester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PRECASEM (Cameroun)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Cartes géologiques, géochimie, géophysique aéroportée, rapports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Accès à confirmer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Cadastre minier Cameroun (Landfolio)</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Titres miniers et leurs limites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Vérifié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Cadastre minier RDC (CAMI)</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Titres miniers RDC</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Vérifié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Copernicus / USGS EarthExplorer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Sentinel-1, Sentinel-2, Landsat, ASTER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Gratuit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66928">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MNT Copernicus GLO-30 ou SRTM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Relief 30 m, pentes, ombrages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Gratuit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Formats, services et coordonnées : les pièges classiques</a:t>
            </a:r>
            <a:endParaRPr lang="en-US" sz="3000" dirty="0"/>
          </a:p>
        </p:txBody>
      </p:sp>
      <p:sp>
        <p:nvSpPr>
          <p:cNvPr id="4" name="card"/>
          <p:cNvSpPr/>
          <p:nvPr/>
        </p:nvSpPr>
        <p:spPr>
          <a:xfrm>
            <a:off x="548640" y="1371600"/>
            <a:ext cx="2560320" cy="3566160"/>
          </a:xfrm>
          <a:prstGeom prst="roundRect">
            <a:avLst>
              <a:gd name="adj" fmla="val 2857"/>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Vecteur</a:t>
            </a:r>
            <a:endParaRPr lang="en-US" sz="1700" dirty="0"/>
          </a:p>
        </p:txBody>
      </p:sp>
      <p:sp>
        <p:nvSpPr>
          <p:cNvPr id="8" name="Text 4"/>
          <p:cNvSpPr txBox="1"/>
          <p:nvPr/>
        </p:nvSpPr>
        <p:spPr>
          <a:xfrm>
            <a:off x="777240" y="2286000"/>
            <a:ext cx="2103120" cy="2514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Shapefile, GeoPackage</a:t>
            </a:r>
            <a:endParaRPr lang="en-US" sz="1400" dirty="0"/>
          </a:p>
          <a:p>
            <a:pPr marL="342900" indent="-342900">
              <a:spcAft>
                <a:spcPts val="400"/>
              </a:spcAft>
              <a:buSzPct val="100000"/>
              <a:buChar char="•"/>
            </a:pPr>
            <a:r>
              <a:rPr lang="en-US" sz="1400" dirty="0">
                <a:solidFill>
                  <a:schemeClr val="tx1"/>
                </a:solidFill>
              </a:rPr>
              <a:t>Points (mines), lignes (failles), polygones (titres)</a:t>
            </a:r>
            <a:endParaRPr lang="en-US" sz="1400" dirty="0"/>
          </a:p>
        </p:txBody>
      </p:sp>
      <p:sp>
        <p:nvSpPr>
          <p:cNvPr id="9" name="card"/>
          <p:cNvSpPr/>
          <p:nvPr/>
        </p:nvSpPr>
        <p:spPr>
          <a:xfrm>
            <a:off x="3383280" y="1371600"/>
            <a:ext cx="2560320" cy="3566160"/>
          </a:xfrm>
          <a:prstGeom prst="roundRect">
            <a:avLst>
              <a:gd name="adj" fmla="val 2857"/>
            </a:avLst>
          </a:prstGeom>
          <a:solidFill>
            <a:schemeClr val="bg2"/>
          </a:solidFill>
          <a:ln w="12700">
            <a:solidFill>
              <a:schemeClr val="bg2"/>
            </a:solidFill>
            <a:prstDash val="solid"/>
          </a:ln>
        </p:spPr>
      </p:sp>
      <p:sp>
        <p:nvSpPr>
          <p:cNvPr id="10" name="icon-circle"/>
          <p:cNvSpPr/>
          <p:nvPr/>
        </p:nvSpPr>
        <p:spPr>
          <a:xfrm>
            <a:off x="361188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3732581" y="1720901"/>
            <a:ext cx="307238" cy="307238"/>
          </a:xfrm>
          <a:prstGeom prst="rect">
            <a:avLst/>
          </a:prstGeom>
        </p:spPr>
      </p:pic>
      <p:sp>
        <p:nvSpPr>
          <p:cNvPr id="12" name="Text 7"/>
          <p:cNvSpPr txBox="1"/>
          <p:nvPr/>
        </p:nvSpPr>
        <p:spPr>
          <a:xfrm>
            <a:off x="429768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Raster</a:t>
            </a:r>
            <a:endParaRPr lang="en-US" sz="1700" dirty="0"/>
          </a:p>
        </p:txBody>
      </p:sp>
      <p:sp>
        <p:nvSpPr>
          <p:cNvPr id="13" name="Text 8"/>
          <p:cNvSpPr txBox="1"/>
          <p:nvPr/>
        </p:nvSpPr>
        <p:spPr>
          <a:xfrm>
            <a:off x="3611880" y="2286000"/>
            <a:ext cx="2103120" cy="2514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GeoTIFF</a:t>
            </a:r>
            <a:endParaRPr lang="en-US" sz="1400" dirty="0"/>
          </a:p>
          <a:p>
            <a:pPr marL="342900" indent="-342900">
              <a:spcAft>
                <a:spcPts val="400"/>
              </a:spcAft>
              <a:buSzPct val="100000"/>
              <a:buChar char="•"/>
            </a:pPr>
            <a:r>
              <a:rPr lang="en-US" sz="1400" dirty="0">
                <a:solidFill>
                  <a:schemeClr val="tx1"/>
                </a:solidFill>
              </a:rPr>
              <a:t>Images, MNT, grilles géochimiques</a:t>
            </a:r>
            <a:endParaRPr lang="en-US" sz="1400" dirty="0"/>
          </a:p>
        </p:txBody>
      </p:sp>
      <p:sp>
        <p:nvSpPr>
          <p:cNvPr id="14" name="card"/>
          <p:cNvSpPr/>
          <p:nvPr/>
        </p:nvSpPr>
        <p:spPr>
          <a:xfrm>
            <a:off x="6217920" y="1371600"/>
            <a:ext cx="2560320" cy="3566160"/>
          </a:xfrm>
          <a:prstGeom prst="roundRect">
            <a:avLst>
              <a:gd name="adj" fmla="val 2857"/>
            </a:avLst>
          </a:prstGeom>
          <a:solidFill>
            <a:schemeClr val="bg2"/>
          </a:solidFill>
          <a:ln w="12700">
            <a:solidFill>
              <a:schemeClr val="bg2"/>
            </a:solidFill>
            <a:prstDash val="solid"/>
          </a:ln>
        </p:spPr>
      </p:sp>
      <p:sp>
        <p:nvSpPr>
          <p:cNvPr id="15" name="icon-circle"/>
          <p:cNvSpPr/>
          <p:nvPr/>
        </p:nvSpPr>
        <p:spPr>
          <a:xfrm>
            <a:off x="644652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6567221" y="1720901"/>
            <a:ext cx="307238" cy="307238"/>
          </a:xfrm>
          <a:prstGeom prst="rect">
            <a:avLst/>
          </a:prstGeom>
        </p:spPr>
      </p:pic>
      <p:sp>
        <p:nvSpPr>
          <p:cNvPr id="17" name="Text 11"/>
          <p:cNvSpPr txBox="1"/>
          <p:nvPr/>
        </p:nvSpPr>
        <p:spPr>
          <a:xfrm>
            <a:off x="713232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Services web</a:t>
            </a:r>
            <a:endParaRPr lang="en-US" sz="1700" dirty="0"/>
          </a:p>
        </p:txBody>
      </p:sp>
      <p:sp>
        <p:nvSpPr>
          <p:cNvPr id="18" name="Text 12"/>
          <p:cNvSpPr txBox="1"/>
          <p:nvPr/>
        </p:nvSpPr>
        <p:spPr>
          <a:xfrm>
            <a:off x="6446520" y="2286000"/>
            <a:ext cx="2103120" cy="2514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WMS : image de carte</a:t>
            </a:r>
            <a:endParaRPr lang="en-US" sz="1400" dirty="0"/>
          </a:p>
          <a:p>
            <a:pPr marL="342900" indent="-342900">
              <a:spcAft>
                <a:spcPts val="400"/>
              </a:spcAft>
              <a:buSzPct val="100000"/>
              <a:buChar char="•"/>
            </a:pPr>
            <a:r>
              <a:rPr lang="en-US" sz="1400" dirty="0">
                <a:solidFill>
                  <a:schemeClr val="tx1"/>
                </a:solidFill>
              </a:rPr>
              <a:t>WFS : objets vectoriels</a:t>
            </a:r>
            <a:endParaRPr lang="en-US" sz="1400" dirty="0"/>
          </a:p>
          <a:p>
            <a:pPr marL="342900" indent="-342900">
              <a:spcAft>
                <a:spcPts val="400"/>
              </a:spcAft>
              <a:buSzPct val="100000"/>
              <a:buChar char="•"/>
            </a:pPr>
            <a:r>
              <a:rPr lang="en-US" sz="1400" dirty="0">
                <a:solidFill>
                  <a:schemeClr val="tx1"/>
                </a:solidFill>
              </a:rPr>
              <a:t>WCS : raster</a:t>
            </a:r>
            <a:endParaRPr lang="en-US" sz="1400" dirty="0"/>
          </a:p>
        </p:txBody>
      </p:sp>
      <p:sp>
        <p:nvSpPr>
          <p:cNvPr id="19" name="card"/>
          <p:cNvSpPr/>
          <p:nvPr/>
        </p:nvSpPr>
        <p:spPr>
          <a:xfrm>
            <a:off x="9052560" y="1371600"/>
            <a:ext cx="2560320" cy="3566160"/>
          </a:xfrm>
          <a:prstGeom prst="roundRect">
            <a:avLst>
              <a:gd name="adj" fmla="val 2857"/>
            </a:avLst>
          </a:prstGeom>
          <a:solidFill>
            <a:schemeClr val="bg2"/>
          </a:solidFill>
          <a:ln w="12700">
            <a:solidFill>
              <a:schemeClr val="bg2"/>
            </a:solidFill>
            <a:prstDash val="solid"/>
          </a:ln>
        </p:spPr>
      </p:sp>
      <p:sp>
        <p:nvSpPr>
          <p:cNvPr id="20" name="icon-circle"/>
          <p:cNvSpPr/>
          <p:nvPr/>
        </p:nvSpPr>
        <p:spPr>
          <a:xfrm>
            <a:off x="9281160" y="1600200"/>
            <a:ext cx="548640" cy="548640"/>
          </a:xfrm>
          <a:prstGeom prst="ellipse">
            <a:avLst/>
          </a:prstGeom>
          <a:solidFill>
            <a:srgbClr val="D9A441"/>
          </a:solidFill>
          <a:ln w="12700">
            <a:solidFill>
              <a:srgbClr val="D9A441"/>
            </a:solidFill>
            <a:prstDash val="solid"/>
          </a:ln>
        </p:spPr>
      </p:sp>
      <p:pic>
        <p:nvPicPr>
          <p:cNvPr id="21" name="icon" descr="preencoded.png">    </p:cNvPr>
          <p:cNvPicPr>
            <a:picLocks noChangeAspect="1"/>
          </p:cNvPicPr>
          <p:nvPr/>
        </p:nvPicPr>
        <p:blipFill>
          <a:blip r:embed="rId4"/>
          <a:stretch>
            <a:fillRect/>
          </a:stretch>
        </p:blipFill>
        <p:spPr>
          <a:xfrm>
            <a:off x="9401861" y="1720901"/>
            <a:ext cx="307238" cy="307238"/>
          </a:xfrm>
          <a:prstGeom prst="rect">
            <a:avLst/>
          </a:prstGeom>
        </p:spPr>
      </p:pic>
      <p:sp>
        <p:nvSpPr>
          <p:cNvPr id="22" name="Text 15"/>
          <p:cNvSpPr txBox="1"/>
          <p:nvPr/>
        </p:nvSpPr>
        <p:spPr>
          <a:xfrm>
            <a:off x="996696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Coordonnées</a:t>
            </a:r>
            <a:endParaRPr lang="en-US" sz="1700" dirty="0"/>
          </a:p>
        </p:txBody>
      </p:sp>
      <p:sp>
        <p:nvSpPr>
          <p:cNvPr id="23" name="Text 16"/>
          <p:cNvSpPr txBox="1"/>
          <p:nvPr/>
        </p:nvSpPr>
        <p:spPr>
          <a:xfrm>
            <a:off x="9281160" y="2286000"/>
            <a:ext cx="2103120" cy="2514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WGS 84 pour l'échange</a:t>
            </a:r>
            <a:endParaRPr lang="en-US" sz="1400" dirty="0"/>
          </a:p>
          <a:p>
            <a:pPr marL="342900" indent="-342900">
              <a:spcAft>
                <a:spcPts val="400"/>
              </a:spcAft>
              <a:buSzPct val="100000"/>
              <a:buChar char="•"/>
            </a:pPr>
            <a:r>
              <a:rPr lang="en-US" sz="1400" dirty="0">
                <a:solidFill>
                  <a:schemeClr val="tx1"/>
                </a:solidFill>
              </a:rPr>
              <a:t>UTM 32N / 33N pour mesurer au Cameroun et au Congo</a:t>
            </a:r>
            <a:endParaRPr lang="en-US" sz="1400" dirty="0"/>
          </a:p>
          <a:p>
            <a:pPr marL="342900" indent="-342900">
              <a:spcAft>
                <a:spcPts val="400"/>
              </a:spcAft>
              <a:buSzPct val="100000"/>
              <a:buChar char="•"/>
            </a:pPr>
            <a:r>
              <a:rPr lang="en-US" sz="1400" dirty="0">
                <a:solidFill>
                  <a:schemeClr val="tx1"/>
                </a:solidFill>
              </a:rPr>
              <a:t>Toujours vérifier avant de superposer</a:t>
            </a:r>
            <a:endParaRPr lang="en-US" sz="1400" dirty="0"/>
          </a:p>
        </p:txBody>
      </p:sp>
      <p:sp>
        <p:nvSpPr>
          <p:cNvPr id="24" name="callout"/>
          <p:cNvSpPr/>
          <p:nvPr/>
        </p:nvSpPr>
        <p:spPr>
          <a:xfrm>
            <a:off x="548640" y="5257800"/>
            <a:ext cx="11064240" cy="640080"/>
          </a:xfrm>
          <a:prstGeom prst="roundRect">
            <a:avLst>
              <a:gd name="adj" fmla="val 11429"/>
            </a:avLst>
          </a:prstGeom>
          <a:solidFill>
            <a:srgbClr val="B5542D">
              <a:alpha val="15000"/>
            </a:srgbClr>
          </a:solidFill>
          <a:ln w="12700">
            <a:solidFill>
              <a:srgbClr val="B5542D"/>
            </a:solidFill>
            <a:prstDash val="solid"/>
          </a:ln>
        </p:spPr>
      </p:sp>
      <p:sp>
        <p:nvSpPr>
          <p:cNvPr id="25" name="icon-circle"/>
          <p:cNvSpPr/>
          <p:nvPr/>
        </p:nvSpPr>
        <p:spPr>
          <a:xfrm>
            <a:off x="685800" y="5376672"/>
            <a:ext cx="402336" cy="402336"/>
          </a:xfrm>
          <a:prstGeom prst="ellipse">
            <a:avLst/>
          </a:prstGeom>
          <a:solidFill>
            <a:srgbClr val="B5542D"/>
          </a:solidFill>
          <a:ln w="12700">
            <a:solidFill>
              <a:srgbClr val="B5542D"/>
            </a:solidFill>
            <a:prstDash val="solid"/>
          </a:ln>
        </p:spPr>
      </p:sp>
      <p:pic>
        <p:nvPicPr>
          <p:cNvPr id="26" name="icon" descr="preencoded.png">    </p:cNvPr>
          <p:cNvPicPr>
            <a:picLocks noChangeAspect="1"/>
          </p:cNvPicPr>
          <p:nvPr/>
        </p:nvPicPr>
        <p:blipFill>
          <a:blip r:embed="rId5"/>
          <a:stretch>
            <a:fillRect/>
          </a:stretch>
        </p:blipFill>
        <p:spPr>
          <a:xfrm>
            <a:off x="774314" y="5465186"/>
            <a:ext cx="225308" cy="225308"/>
          </a:xfrm>
          <a:prstGeom prst="rect">
            <a:avLst/>
          </a:prstGeom>
        </p:spPr>
      </p:pic>
      <p:sp>
        <p:nvSpPr>
          <p:cNvPr id="27" name="Text 19"/>
          <p:cNvSpPr txBox="1"/>
          <p:nvPr/>
        </p:nvSpPr>
        <p:spPr>
          <a:xfrm>
            <a:off x="1234440" y="5257800"/>
            <a:ext cx="10195560" cy="640080"/>
          </a:xfrm>
          <a:prstGeom prst="rect">
            <a:avLst/>
          </a:prstGeom>
          <a:noFill/>
          <a:ln/>
        </p:spPr>
        <p:txBody>
          <a:bodyPr wrap="square" lIns="0" tIns="0" rIns="0" bIns="0" rtlCol="0" anchor="ctr"/>
          <a:lstStyle/>
          <a:p>
            <a:pPr indent="0" marL="0">
              <a:buNone/>
            </a:pPr>
            <a:r>
              <a:rPr lang="en-US" sz="1500" dirty="0">
                <a:solidFill>
                  <a:schemeClr val="tx2"/>
                </a:solidFill>
              </a:rPr>
              <a:t>Une donnée sans date ni source n'entre pas dans un livrable.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TP1 — Construire une carte minière de l'Afrique dans QGIS</a:t>
            </a:r>
            <a:endParaRPr lang="en-US" sz="3000" dirty="0"/>
          </a:p>
        </p:txBody>
      </p:sp>
      <p:sp>
        <p:nvSpPr>
          <p:cNvPr id="4" name="num"/>
          <p:cNvSpPr/>
          <p:nvPr/>
        </p:nvSpPr>
        <p:spPr>
          <a:xfrm>
            <a:off x="548640" y="1417320"/>
            <a:ext cx="402336" cy="402336"/>
          </a:xfrm>
          <a:prstGeom prst="ellipse">
            <a:avLst/>
          </a:prstGeom>
          <a:solidFill>
            <a:srgbClr val="B5542D"/>
          </a:solidFill>
          <a:ln w="12700">
            <a:solidFill>
              <a:srgbClr val="B5542D"/>
            </a:solidFill>
            <a:prstDash val="solid"/>
          </a:ln>
        </p:spPr>
      </p:sp>
      <p:sp>
        <p:nvSpPr>
          <p:cNvPr id="5" name="Text 2"/>
          <p:cNvSpPr txBox="1"/>
          <p:nvPr/>
        </p:nvSpPr>
        <p:spPr>
          <a:xfrm>
            <a:off x="54864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097280" y="1362456"/>
            <a:ext cx="6400800" cy="621792"/>
          </a:xfrm>
          <a:prstGeom prst="rect">
            <a:avLst/>
          </a:prstGeom>
          <a:noFill/>
          <a:ln/>
        </p:spPr>
        <p:txBody>
          <a:bodyPr wrap="square" lIns="0" tIns="0" rIns="0" bIns="0" rtlCol="0" anchor="t"/>
          <a:lstStyle/>
          <a:p>
            <a:pPr indent="0" marL="0">
              <a:buNone/>
            </a:pPr>
            <a:r>
              <a:rPr lang="en-US" sz="1500" dirty="0">
                <a:solidFill>
                  <a:schemeClr val="tx1"/>
                </a:solidFill>
              </a:rPr>
              <a:t>Télécharger la géodatabase USGS Afrique et l'ouvrir dans QGIS</a:t>
            </a:r>
            <a:endParaRPr lang="en-US" sz="1500" dirty="0"/>
          </a:p>
        </p:txBody>
      </p:sp>
      <p:sp>
        <p:nvSpPr>
          <p:cNvPr id="7" name="num"/>
          <p:cNvSpPr/>
          <p:nvPr/>
        </p:nvSpPr>
        <p:spPr>
          <a:xfrm>
            <a:off x="548640" y="2075688"/>
            <a:ext cx="402336" cy="402336"/>
          </a:xfrm>
          <a:prstGeom prst="ellipse">
            <a:avLst/>
          </a:prstGeom>
          <a:solidFill>
            <a:srgbClr val="B5542D"/>
          </a:solidFill>
          <a:ln w="12700">
            <a:solidFill>
              <a:srgbClr val="B5542D"/>
            </a:solidFill>
            <a:prstDash val="solid"/>
          </a:ln>
        </p:spPr>
      </p:sp>
      <p:sp>
        <p:nvSpPr>
          <p:cNvPr id="8" name="Text 5"/>
          <p:cNvSpPr txBox="1"/>
          <p:nvPr/>
        </p:nvSpPr>
        <p:spPr>
          <a:xfrm>
            <a:off x="548640" y="2075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1097280" y="2020824"/>
            <a:ext cx="6400800" cy="621792"/>
          </a:xfrm>
          <a:prstGeom prst="rect">
            <a:avLst/>
          </a:prstGeom>
          <a:noFill/>
          <a:ln/>
        </p:spPr>
        <p:txBody>
          <a:bodyPr wrap="square" lIns="0" tIns="0" rIns="0" bIns="0" rtlCol="0" anchor="t"/>
          <a:lstStyle/>
          <a:p>
            <a:pPr indent="0" marL="0">
              <a:buNone/>
            </a:pPr>
            <a:r>
              <a:rPr lang="en-US" sz="1500" dirty="0">
                <a:solidFill>
                  <a:schemeClr val="tx1"/>
                </a:solidFill>
              </a:rPr>
              <a:t>Charger les couches mines, usines de traitement, sites d'exploration</a:t>
            </a:r>
            <a:endParaRPr lang="en-US" sz="1500" dirty="0"/>
          </a:p>
        </p:txBody>
      </p:sp>
      <p:sp>
        <p:nvSpPr>
          <p:cNvPr id="10" name="num"/>
          <p:cNvSpPr/>
          <p:nvPr/>
        </p:nvSpPr>
        <p:spPr>
          <a:xfrm>
            <a:off x="548640" y="2734056"/>
            <a:ext cx="402336" cy="402336"/>
          </a:xfrm>
          <a:prstGeom prst="ellipse">
            <a:avLst/>
          </a:prstGeom>
          <a:solidFill>
            <a:srgbClr val="B5542D"/>
          </a:solidFill>
          <a:ln w="12700">
            <a:solidFill>
              <a:srgbClr val="B5542D"/>
            </a:solidFill>
            <a:prstDash val="solid"/>
          </a:ln>
        </p:spPr>
      </p:sp>
      <p:sp>
        <p:nvSpPr>
          <p:cNvPr id="11" name="Text 8"/>
          <p:cNvSpPr txBox="1"/>
          <p:nvPr/>
        </p:nvSpPr>
        <p:spPr>
          <a:xfrm>
            <a:off x="54864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1097280" y="2679192"/>
            <a:ext cx="6400800" cy="621792"/>
          </a:xfrm>
          <a:prstGeom prst="rect">
            <a:avLst/>
          </a:prstGeom>
          <a:noFill/>
          <a:ln/>
        </p:spPr>
        <p:txBody>
          <a:bodyPr wrap="square" lIns="0" tIns="0" rIns="0" bIns="0" rtlCol="0" anchor="t"/>
          <a:lstStyle/>
          <a:p>
            <a:pPr indent="0" marL="0">
              <a:buNone/>
            </a:pPr>
            <a:r>
              <a:rPr lang="en-US" sz="1500" dirty="0">
                <a:solidFill>
                  <a:schemeClr val="tx1"/>
                </a:solidFill>
              </a:rPr>
              <a:t>Ajouter routes, voies ferrées, ports, lignes électriques</a:t>
            </a:r>
            <a:endParaRPr lang="en-US" sz="1500" dirty="0"/>
          </a:p>
        </p:txBody>
      </p:sp>
      <p:sp>
        <p:nvSpPr>
          <p:cNvPr id="13" name="num"/>
          <p:cNvSpPr/>
          <p:nvPr/>
        </p:nvSpPr>
        <p:spPr>
          <a:xfrm>
            <a:off x="548640" y="3392424"/>
            <a:ext cx="402336" cy="402336"/>
          </a:xfrm>
          <a:prstGeom prst="ellipse">
            <a:avLst/>
          </a:prstGeom>
          <a:solidFill>
            <a:srgbClr val="B5542D"/>
          </a:solidFill>
          <a:ln w="12700">
            <a:solidFill>
              <a:srgbClr val="B5542D"/>
            </a:solidFill>
            <a:prstDash val="solid"/>
          </a:ln>
        </p:spPr>
      </p:sp>
      <p:sp>
        <p:nvSpPr>
          <p:cNvPr id="14" name="Text 11"/>
          <p:cNvSpPr txBox="1"/>
          <p:nvPr/>
        </p:nvSpPr>
        <p:spPr>
          <a:xfrm>
            <a:off x="548640" y="33924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2"/>
          <p:cNvSpPr txBox="1"/>
          <p:nvPr/>
        </p:nvSpPr>
        <p:spPr>
          <a:xfrm>
            <a:off x="1097280" y="3337560"/>
            <a:ext cx="6400800" cy="621792"/>
          </a:xfrm>
          <a:prstGeom prst="rect">
            <a:avLst/>
          </a:prstGeom>
          <a:noFill/>
          <a:ln/>
        </p:spPr>
        <p:txBody>
          <a:bodyPr wrap="square" lIns="0" tIns="0" rIns="0" bIns="0" rtlCol="0" anchor="t"/>
          <a:lstStyle/>
          <a:p>
            <a:pPr indent="0" marL="0">
              <a:buNone/>
            </a:pPr>
            <a:r>
              <a:rPr lang="en-US" sz="1500" dirty="0">
                <a:solidFill>
                  <a:schemeClr val="tx1"/>
                </a:solidFill>
              </a:rPr>
              <a:t>Ajouter la géologie via un service WMS OneGeology</a:t>
            </a:r>
            <a:endParaRPr lang="en-US" sz="1500" dirty="0"/>
          </a:p>
        </p:txBody>
      </p:sp>
      <p:sp>
        <p:nvSpPr>
          <p:cNvPr id="16" name="num"/>
          <p:cNvSpPr/>
          <p:nvPr/>
        </p:nvSpPr>
        <p:spPr>
          <a:xfrm>
            <a:off x="548640" y="4050792"/>
            <a:ext cx="402336" cy="402336"/>
          </a:xfrm>
          <a:prstGeom prst="ellipse">
            <a:avLst/>
          </a:prstGeom>
          <a:solidFill>
            <a:srgbClr val="B5542D"/>
          </a:solidFill>
          <a:ln w="12700">
            <a:solidFill>
              <a:srgbClr val="B5542D"/>
            </a:solidFill>
            <a:prstDash val="solid"/>
          </a:ln>
        </p:spPr>
      </p:sp>
      <p:sp>
        <p:nvSpPr>
          <p:cNvPr id="17" name="Text 14"/>
          <p:cNvSpPr txBox="1"/>
          <p:nvPr/>
        </p:nvSpPr>
        <p:spPr>
          <a:xfrm>
            <a:off x="548640" y="40507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5"/>
          <p:cNvSpPr txBox="1"/>
          <p:nvPr/>
        </p:nvSpPr>
        <p:spPr>
          <a:xfrm>
            <a:off x="1097280" y="3995928"/>
            <a:ext cx="6400800" cy="621792"/>
          </a:xfrm>
          <a:prstGeom prst="rect">
            <a:avLst/>
          </a:prstGeom>
          <a:noFill/>
          <a:ln/>
        </p:spPr>
        <p:txBody>
          <a:bodyPr wrap="square" lIns="0" tIns="0" rIns="0" bIns="0" rtlCol="0" anchor="t"/>
          <a:lstStyle/>
          <a:p>
            <a:pPr indent="0" marL="0">
              <a:buNone/>
            </a:pPr>
            <a:r>
              <a:rPr lang="en-US" sz="1500" dirty="0">
                <a:solidFill>
                  <a:schemeClr val="tx1"/>
                </a:solidFill>
              </a:rPr>
              <a:t>Filtrer par substance : or, cuivre, cobalt, bauxite, fer</a:t>
            </a:r>
            <a:endParaRPr lang="en-US" sz="1500" dirty="0"/>
          </a:p>
        </p:txBody>
      </p:sp>
      <p:sp>
        <p:nvSpPr>
          <p:cNvPr id="19" name="num"/>
          <p:cNvSpPr/>
          <p:nvPr/>
        </p:nvSpPr>
        <p:spPr>
          <a:xfrm>
            <a:off x="548640" y="4709160"/>
            <a:ext cx="402336" cy="402336"/>
          </a:xfrm>
          <a:prstGeom prst="ellipse">
            <a:avLst/>
          </a:prstGeom>
          <a:solidFill>
            <a:srgbClr val="B5542D"/>
          </a:solidFill>
          <a:ln w="12700">
            <a:solidFill>
              <a:srgbClr val="B5542D"/>
            </a:solidFill>
            <a:prstDash val="solid"/>
          </a:ln>
        </p:spPr>
      </p:sp>
      <p:sp>
        <p:nvSpPr>
          <p:cNvPr id="20" name="Text 17"/>
          <p:cNvSpPr txBox="1"/>
          <p:nvPr/>
        </p:nvSpPr>
        <p:spPr>
          <a:xfrm>
            <a:off x="548640" y="47091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8"/>
          <p:cNvSpPr txBox="1"/>
          <p:nvPr/>
        </p:nvSpPr>
        <p:spPr>
          <a:xfrm>
            <a:off x="1097280" y="4654296"/>
            <a:ext cx="6400800" cy="621792"/>
          </a:xfrm>
          <a:prstGeom prst="rect">
            <a:avLst/>
          </a:prstGeom>
          <a:noFill/>
          <a:ln/>
        </p:spPr>
        <p:txBody>
          <a:bodyPr wrap="square" lIns="0" tIns="0" rIns="0" bIns="0" rtlCol="0" anchor="t"/>
          <a:lstStyle/>
          <a:p>
            <a:pPr indent="0" marL="0">
              <a:buNone/>
            </a:pPr>
            <a:r>
              <a:rPr lang="en-US" sz="1500" dirty="0">
                <a:solidFill>
                  <a:schemeClr val="tx1"/>
                </a:solidFill>
              </a:rPr>
              <a:t>Comparer les profils des cinq pays de la formation</a:t>
            </a:r>
            <a:endParaRPr lang="en-US" sz="1500" dirty="0"/>
          </a:p>
        </p:txBody>
      </p:sp>
      <p:sp>
        <p:nvSpPr>
          <p:cNvPr id="22" name="num"/>
          <p:cNvSpPr/>
          <p:nvPr/>
        </p:nvSpPr>
        <p:spPr>
          <a:xfrm>
            <a:off x="548640" y="5367528"/>
            <a:ext cx="402336" cy="402336"/>
          </a:xfrm>
          <a:prstGeom prst="ellipse">
            <a:avLst/>
          </a:prstGeom>
          <a:solidFill>
            <a:srgbClr val="B5542D"/>
          </a:solidFill>
          <a:ln w="12700">
            <a:solidFill>
              <a:srgbClr val="B5542D"/>
            </a:solidFill>
            <a:prstDash val="solid"/>
          </a:ln>
        </p:spPr>
      </p:sp>
      <p:sp>
        <p:nvSpPr>
          <p:cNvPr id="23" name="Text 20"/>
          <p:cNvSpPr txBox="1"/>
          <p:nvPr/>
        </p:nvSpPr>
        <p:spPr>
          <a:xfrm>
            <a:off x="548640" y="5367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4" name="Text 21"/>
          <p:cNvSpPr txBox="1"/>
          <p:nvPr/>
        </p:nvSpPr>
        <p:spPr>
          <a:xfrm>
            <a:off x="1097280" y="5312664"/>
            <a:ext cx="6400800" cy="621792"/>
          </a:xfrm>
          <a:prstGeom prst="rect">
            <a:avLst/>
          </a:prstGeom>
          <a:noFill/>
          <a:ln/>
        </p:spPr>
        <p:txBody>
          <a:bodyPr wrap="square" lIns="0" tIns="0" rIns="0" bIns="0" rtlCol="0" anchor="t"/>
          <a:lstStyle/>
          <a:p>
            <a:pPr indent="0" marL="0">
              <a:buNone/>
            </a:pPr>
            <a:r>
              <a:rPr lang="en-US" sz="1500" dirty="0">
                <a:solidFill>
                  <a:schemeClr val="tx1"/>
                </a:solidFill>
              </a:rPr>
              <a:t>Mettre en page une carte A3 : légende, échelle, nord, sources, date</a:t>
            </a:r>
            <a:endParaRPr lang="en-US" sz="1500" dirty="0"/>
          </a:p>
        </p:txBody>
      </p:sp>
      <p:sp>
        <p:nvSpPr>
          <p:cNvPr id="25" name="panel"/>
          <p:cNvSpPr/>
          <p:nvPr/>
        </p:nvSpPr>
        <p:spPr>
          <a:xfrm>
            <a:off x="7863840" y="1417320"/>
            <a:ext cx="3749040" cy="4663440"/>
          </a:xfrm>
          <a:prstGeom prst="roundRect">
            <a:avLst>
              <a:gd name="adj" fmla="val 1951"/>
            </a:avLst>
          </a:prstGeom>
          <a:solidFill>
            <a:schemeClr val="bg2"/>
          </a:solidFill>
          <a:ln w="12700">
            <a:solidFill>
              <a:schemeClr val="bg2"/>
            </a:solidFill>
            <a:prstDash val="solid"/>
          </a:ln>
        </p:spPr>
      </p:sp>
      <p:sp>
        <p:nvSpPr>
          <p:cNvPr id="26" name="icon-circle"/>
          <p:cNvSpPr/>
          <p:nvPr/>
        </p:nvSpPr>
        <p:spPr>
          <a:xfrm>
            <a:off x="8092440" y="1645920"/>
            <a:ext cx="548640" cy="548640"/>
          </a:xfrm>
          <a:prstGeom prst="ellipse">
            <a:avLst/>
          </a:prstGeom>
          <a:solidFill>
            <a:srgbClr val="D9A441"/>
          </a:solidFill>
          <a:ln w="12700">
            <a:solidFill>
              <a:srgbClr val="D9A441"/>
            </a:solidFill>
            <a:prstDash val="solid"/>
          </a:ln>
        </p:spPr>
      </p:sp>
      <p:pic>
        <p:nvPicPr>
          <p:cNvPr id="27" name="icon" descr="preencoded.png">    </p:cNvPr>
          <p:cNvPicPr>
            <a:picLocks noChangeAspect="1"/>
          </p:cNvPicPr>
          <p:nvPr/>
        </p:nvPicPr>
        <p:blipFill>
          <a:blip r:embed="rId1"/>
          <a:stretch>
            <a:fillRect/>
          </a:stretch>
        </p:blipFill>
        <p:spPr>
          <a:xfrm>
            <a:off x="8213141" y="1766621"/>
            <a:ext cx="307238" cy="307238"/>
          </a:xfrm>
          <a:prstGeom prst="rect">
            <a:avLst/>
          </a:prstGeom>
        </p:spPr>
      </p:pic>
      <p:sp>
        <p:nvSpPr>
          <p:cNvPr id="28" name="Text 24"/>
          <p:cNvSpPr txBox="1"/>
          <p:nvPr/>
        </p:nvSpPr>
        <p:spPr>
          <a:xfrm>
            <a:off x="8778240" y="1645920"/>
            <a:ext cx="2651760" cy="548640"/>
          </a:xfrm>
          <a:prstGeom prst="rect">
            <a:avLst/>
          </a:prstGeom>
          <a:noFill/>
          <a:ln/>
        </p:spPr>
        <p:txBody>
          <a:bodyPr wrap="square" lIns="0" tIns="0" rIns="0" bIns="0" rtlCol="0" anchor="ctr"/>
          <a:lstStyle/>
          <a:p>
            <a:pPr indent="0" marL="0">
              <a:buNone/>
            </a:pPr>
            <a:r>
              <a:rPr lang="en-US" sz="1800" b="1" dirty="0">
                <a:solidFill>
                  <a:schemeClr val="tx2"/>
                </a:solidFill>
              </a:rPr>
              <a:t>Livrable J1</a:t>
            </a:r>
            <a:endParaRPr lang="en-US" sz="1800" dirty="0"/>
          </a:p>
        </p:txBody>
      </p:sp>
      <p:sp>
        <p:nvSpPr>
          <p:cNvPr id="29" name="Text 25"/>
          <p:cNvSpPr txBox="1"/>
          <p:nvPr/>
        </p:nvSpPr>
        <p:spPr>
          <a:xfrm>
            <a:off x="8138160" y="237744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Carte A3 « Mines et infrastructures — Afrique centrale »</a:t>
            </a:r>
            <a:endParaRPr lang="en-US" sz="1500" dirty="0"/>
          </a:p>
          <a:p>
            <a:pPr marL="342900" indent="-342900">
              <a:spcAft>
                <a:spcPts val="600"/>
              </a:spcAft>
              <a:buSzPct val="100000"/>
              <a:buChar char="•"/>
            </a:pPr>
            <a:r>
              <a:rPr lang="en-US" sz="1500" dirty="0">
                <a:solidFill>
                  <a:schemeClr val="tx1"/>
                </a:solidFill>
              </a:rPr>
              <a:t>Sources et date visibles</a:t>
            </a:r>
            <a:endParaRPr lang="en-US" sz="1500" dirty="0"/>
          </a:p>
          <a:p>
            <a:pPr marL="342900" indent="-342900">
              <a:spcAft>
                <a:spcPts val="600"/>
              </a:spcAft>
              <a:buSzPct val="100000"/>
              <a:buChar char="•"/>
            </a:pPr>
            <a:r>
              <a:rPr lang="en-US" sz="1500" dirty="0">
                <a:solidFill>
                  <a:schemeClr val="tx1"/>
                </a:solidFill>
              </a:rPr>
              <a:t>Projection indiquée</a:t>
            </a:r>
            <a:endParaRPr lang="en-US" sz="1500" dirty="0"/>
          </a:p>
          <a:p>
            <a:pPr marL="342900" indent="-342900">
              <a:spcAft>
                <a:spcPts val="600"/>
              </a:spcAft>
              <a:buSzPct val="100000"/>
              <a:buChar char="•"/>
            </a:pPr>
            <a:r>
              <a:rPr lang="en-US" sz="1500" dirty="0">
                <a:solidFill>
                  <a:schemeClr val="tx1"/>
                </a:solidFill>
              </a:rPr>
              <a:t>Présentation de 3 minutes par groupe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nchor="b"/>
          <a:lstStyle/>
          <a:p>
            <a:pPr algn="l" indent="0" marL="0">
              <a:buNone/>
            </a:pPr>
            <a:r>
              <a:rPr lang="en-US" sz="5400" b="1" dirty="0">
                <a:solidFill>
                  <a:srgbClr val="D9A441"/>
                </a:solidFill>
                <a:latin typeface="Cambria" pitchFamily="34" charset="0"/>
                <a:ea typeface="Cambria" pitchFamily="34" charset="-122"/>
                <a:cs typeface="Cambria" pitchFamily="34" charset="-120"/>
              </a:rPr>
              <a:t>Jour 2</a:t>
            </a: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Télédétection appliquée aux mines</a:t>
            </a: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nchor="t"/>
          <a:lstStyle/>
          <a:p>
            <a:pPr algn="l" indent="0" marL="0">
              <a:buNone/>
            </a:pPr>
            <a:r>
              <a:rPr lang="en-US" sz="1800" dirty="0">
                <a:solidFill>
                  <a:srgbClr val="CFD8DC"/>
                </a:solidFill>
                <a:latin typeface="Calibri" pitchFamily="34" charset="0"/>
                <a:ea typeface="Calibri" pitchFamily="34" charset="-122"/>
                <a:cs typeface="Calibri" pitchFamily="34" charset="-120"/>
              </a:rPr>
              <a:t>Produire une carte d'anomalies spectrales, et comprendre pourquoi elle est fiable en savane et fragile sous forêt dense.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Programme du jour 2</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7223760"/>
                <a:gridCol w="18288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Horaire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Séquence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8 h 30 – 10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3 — Signatures spectrales et capteurs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10 h 45 – 12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TP2a — Acquisition et prétraitement Sentinel-2</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13 h 30 – 15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TP2b — Rapports de bandes, indices, classification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15 h 30 – 16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TP2c — Linéaments sur MNT et restitution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Chaque minéral absorbe la lumière à des longueurs d'onde précises</a:t>
            </a:r>
            <a:endParaRPr lang="en-US" sz="3000" dirty="0"/>
          </a:p>
        </p:txBody>
      </p:sp>
      <p:sp>
        <p:nvSpPr>
          <p:cNvPr id="4" name="card"/>
          <p:cNvSpPr/>
          <p:nvPr/>
        </p:nvSpPr>
        <p:spPr>
          <a:xfrm>
            <a:off x="548640" y="1371600"/>
            <a:ext cx="3505200" cy="3200400"/>
          </a:xfrm>
          <a:prstGeom prst="roundRect">
            <a:avLst>
              <a:gd name="adj" fmla="val 2286"/>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VNIR (0,4 – 1,0 µm)</a:t>
            </a:r>
            <a:endParaRPr lang="en-US" sz="1700" dirty="0"/>
          </a:p>
        </p:txBody>
      </p:sp>
      <p:sp>
        <p:nvSpPr>
          <p:cNvPr id="8" name="Text 4"/>
          <p:cNvSpPr txBox="1"/>
          <p:nvPr/>
        </p:nvSpPr>
        <p:spPr>
          <a:xfrm>
            <a:off x="777240" y="2286000"/>
            <a:ext cx="3048000" cy="2148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Oxydes et hydroxydes de fer</a:t>
            </a:r>
            <a:endParaRPr lang="en-US" sz="1400" dirty="0"/>
          </a:p>
          <a:p>
            <a:pPr marL="342900" indent="-342900">
              <a:spcAft>
                <a:spcPts val="400"/>
              </a:spcAft>
              <a:buSzPct val="100000"/>
              <a:buChar char="•"/>
            </a:pPr>
            <a:r>
              <a:rPr lang="en-US" sz="1400" dirty="0">
                <a:solidFill>
                  <a:schemeClr val="tx1"/>
                </a:solidFill>
              </a:rPr>
              <a:t>Végétation (chlorophylle)</a:t>
            </a:r>
            <a:endParaRPr lang="en-US" sz="1400" dirty="0"/>
          </a:p>
          <a:p>
            <a:pPr marL="342900" indent="-342900">
              <a:spcAft>
                <a:spcPts val="400"/>
              </a:spcAft>
              <a:buSzPct val="100000"/>
              <a:buChar char="•"/>
            </a:pPr>
            <a:r>
              <a:rPr lang="en-US" sz="1400" dirty="0">
                <a:solidFill>
                  <a:schemeClr val="tx1"/>
                </a:solidFill>
              </a:rPr>
              <a:t>Sentinel-2, Landsat, ASTER</a:t>
            </a:r>
            <a:endParaRPr lang="en-US" sz="1400" dirty="0"/>
          </a:p>
        </p:txBody>
      </p:sp>
      <p:sp>
        <p:nvSpPr>
          <p:cNvPr id="9" name="card"/>
          <p:cNvSpPr/>
          <p:nvPr/>
        </p:nvSpPr>
        <p:spPr>
          <a:xfrm>
            <a:off x="4328160" y="1371600"/>
            <a:ext cx="3505200" cy="3200400"/>
          </a:xfrm>
          <a:prstGeom prst="roundRect">
            <a:avLst>
              <a:gd name="adj" fmla="val 2286"/>
            </a:avLst>
          </a:prstGeom>
          <a:solidFill>
            <a:schemeClr val="bg2"/>
          </a:solidFill>
          <a:ln w="12700">
            <a:solidFill>
              <a:schemeClr val="bg2"/>
            </a:solidFill>
            <a:prstDash val="solid"/>
          </a:ln>
        </p:spPr>
      </p:sp>
      <p:sp>
        <p:nvSpPr>
          <p:cNvPr id="10" name="icon-circle"/>
          <p:cNvSpPr/>
          <p:nvPr/>
        </p:nvSpPr>
        <p:spPr>
          <a:xfrm>
            <a:off x="455676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4677461" y="1720901"/>
            <a:ext cx="307238" cy="307238"/>
          </a:xfrm>
          <a:prstGeom prst="rect">
            <a:avLst/>
          </a:prstGeom>
        </p:spPr>
      </p:pic>
      <p:sp>
        <p:nvSpPr>
          <p:cNvPr id="12" name="Text 7"/>
          <p:cNvSpPr txBox="1"/>
          <p:nvPr/>
        </p:nvSpPr>
        <p:spPr>
          <a:xfrm>
            <a:off x="524256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SWIR (1,0 – 2,5 µm)</a:t>
            </a:r>
            <a:endParaRPr lang="en-US" sz="1700" dirty="0"/>
          </a:p>
        </p:txBody>
      </p:sp>
      <p:sp>
        <p:nvSpPr>
          <p:cNvPr id="13" name="Text 8"/>
          <p:cNvSpPr txBox="1"/>
          <p:nvPr/>
        </p:nvSpPr>
        <p:spPr>
          <a:xfrm>
            <a:off x="4556760" y="2286000"/>
            <a:ext cx="3048000" cy="2148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Argiles, micas : Al-OH vers 2,2 µm</a:t>
            </a:r>
            <a:endParaRPr lang="en-US" sz="1400" dirty="0"/>
          </a:p>
          <a:p>
            <a:pPr marL="342900" indent="-342900">
              <a:spcAft>
                <a:spcPts val="400"/>
              </a:spcAft>
              <a:buSzPct val="100000"/>
              <a:buChar char="•"/>
            </a:pPr>
            <a:r>
              <a:rPr lang="en-US" sz="1400" dirty="0">
                <a:solidFill>
                  <a:schemeClr val="tx1"/>
                </a:solidFill>
              </a:rPr>
              <a:t>Carbonates, Mg-OH vers 2,3 µm</a:t>
            </a:r>
            <a:endParaRPr lang="en-US" sz="1400" dirty="0"/>
          </a:p>
          <a:p>
            <a:pPr marL="342900" indent="-342900">
              <a:spcAft>
                <a:spcPts val="400"/>
              </a:spcAft>
              <a:buSzPct val="100000"/>
              <a:buChar char="•"/>
            </a:pPr>
            <a:r>
              <a:rPr lang="en-US" sz="1400" dirty="0">
                <a:solidFill>
                  <a:schemeClr val="tx1"/>
                </a:solidFill>
              </a:rPr>
              <a:t>Sentinel-2 B11-B12, Landsat B6-B7</a:t>
            </a:r>
            <a:endParaRPr lang="en-US" sz="1400" dirty="0"/>
          </a:p>
        </p:txBody>
      </p:sp>
      <p:sp>
        <p:nvSpPr>
          <p:cNvPr id="14" name="card"/>
          <p:cNvSpPr/>
          <p:nvPr/>
        </p:nvSpPr>
        <p:spPr>
          <a:xfrm>
            <a:off x="8107680" y="1371600"/>
            <a:ext cx="3505200" cy="3200400"/>
          </a:xfrm>
          <a:prstGeom prst="roundRect">
            <a:avLst>
              <a:gd name="adj" fmla="val 2286"/>
            </a:avLst>
          </a:prstGeom>
          <a:solidFill>
            <a:schemeClr val="bg2"/>
          </a:solidFill>
          <a:ln w="12700">
            <a:solidFill>
              <a:schemeClr val="bg2"/>
            </a:solidFill>
            <a:prstDash val="solid"/>
          </a:ln>
        </p:spPr>
      </p:sp>
      <p:sp>
        <p:nvSpPr>
          <p:cNvPr id="15" name="icon-circle"/>
          <p:cNvSpPr/>
          <p:nvPr/>
        </p:nvSpPr>
        <p:spPr>
          <a:xfrm>
            <a:off x="833628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8456981" y="1720901"/>
            <a:ext cx="307238" cy="307238"/>
          </a:xfrm>
          <a:prstGeom prst="rect">
            <a:avLst/>
          </a:prstGeom>
        </p:spPr>
      </p:pic>
      <p:sp>
        <p:nvSpPr>
          <p:cNvPr id="17" name="Text 11"/>
          <p:cNvSpPr txBox="1"/>
          <p:nvPr/>
        </p:nvSpPr>
        <p:spPr>
          <a:xfrm>
            <a:off x="902208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TIR (8 – 12 µm)</a:t>
            </a:r>
            <a:endParaRPr lang="en-US" sz="1700" dirty="0"/>
          </a:p>
        </p:txBody>
      </p:sp>
      <p:sp>
        <p:nvSpPr>
          <p:cNvPr id="18" name="Text 12"/>
          <p:cNvSpPr txBox="1"/>
          <p:nvPr/>
        </p:nvSpPr>
        <p:spPr>
          <a:xfrm>
            <a:off x="8336280" y="2286000"/>
            <a:ext cx="3048000" cy="2148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Silice, quartz</a:t>
            </a:r>
            <a:endParaRPr lang="en-US" sz="1400" dirty="0"/>
          </a:p>
          <a:p>
            <a:pPr marL="342900" indent="-342900">
              <a:spcAft>
                <a:spcPts val="400"/>
              </a:spcAft>
              <a:buSzPct val="100000"/>
              <a:buChar char="•"/>
            </a:pPr>
            <a:r>
              <a:rPr lang="en-US" sz="1400" dirty="0">
                <a:solidFill>
                  <a:schemeClr val="tx1"/>
                </a:solidFill>
              </a:rPr>
              <a:t>Seul ASTER thermique convient</a:t>
            </a:r>
            <a:endParaRPr lang="en-US" sz="1400" dirty="0"/>
          </a:p>
          <a:p>
            <a:pPr marL="342900" indent="-342900">
              <a:spcAft>
                <a:spcPts val="400"/>
              </a:spcAft>
              <a:buSzPct val="100000"/>
              <a:buChar char="•"/>
            </a:pPr>
            <a:r>
              <a:rPr lang="en-US" sz="1400" dirty="0">
                <a:solidFill>
                  <a:schemeClr val="tx1"/>
                </a:solidFill>
              </a:rPr>
              <a:t>Résolution 90 m</a:t>
            </a:r>
            <a:endParaRPr lang="en-US" sz="1400" dirty="0"/>
          </a:p>
        </p:txBody>
      </p:sp>
      <p:sp>
        <p:nvSpPr>
          <p:cNvPr id="19" name="callout"/>
          <p:cNvSpPr/>
          <p:nvPr/>
        </p:nvSpPr>
        <p:spPr>
          <a:xfrm>
            <a:off x="548640" y="4937760"/>
            <a:ext cx="11064240" cy="731520"/>
          </a:xfrm>
          <a:prstGeom prst="roundRect">
            <a:avLst>
              <a:gd name="adj" fmla="val 10000"/>
            </a:avLst>
          </a:prstGeom>
          <a:solidFill>
            <a:srgbClr val="B5542D">
              <a:alpha val="15000"/>
            </a:srgbClr>
          </a:solidFill>
          <a:ln w="12700">
            <a:solidFill>
              <a:srgbClr val="B5542D"/>
            </a:solidFill>
            <a:prstDash val="solid"/>
          </a:ln>
        </p:spPr>
      </p:sp>
      <p:sp>
        <p:nvSpPr>
          <p:cNvPr id="20" name="icon-circle"/>
          <p:cNvSpPr/>
          <p:nvPr/>
        </p:nvSpPr>
        <p:spPr>
          <a:xfrm>
            <a:off x="685800" y="5102352"/>
            <a:ext cx="402336" cy="402336"/>
          </a:xfrm>
          <a:prstGeom prst="ellipse">
            <a:avLst/>
          </a:prstGeom>
          <a:solidFill>
            <a:srgbClr val="B5542D"/>
          </a:solidFill>
          <a:ln w="12700">
            <a:solidFill>
              <a:srgbClr val="B5542D"/>
            </a:solidFill>
            <a:prstDash val="solid"/>
          </a:ln>
        </p:spPr>
      </p:sp>
      <p:pic>
        <p:nvPicPr>
          <p:cNvPr id="21" name="icon" descr="preencoded.png">    </p:cNvPr>
          <p:cNvPicPr>
            <a:picLocks noChangeAspect="1"/>
          </p:cNvPicPr>
          <p:nvPr/>
        </p:nvPicPr>
        <p:blipFill>
          <a:blip r:embed="rId4"/>
          <a:stretch>
            <a:fillRect/>
          </a:stretch>
        </p:blipFill>
        <p:spPr>
          <a:xfrm>
            <a:off x="774314" y="5190866"/>
            <a:ext cx="225308" cy="225308"/>
          </a:xfrm>
          <a:prstGeom prst="rect">
            <a:avLst/>
          </a:prstGeom>
        </p:spPr>
      </p:pic>
      <p:sp>
        <p:nvSpPr>
          <p:cNvPr id="22" name="Text 15"/>
          <p:cNvSpPr txBox="1"/>
          <p:nvPr/>
        </p:nvSpPr>
        <p:spPr>
          <a:xfrm>
            <a:off x="1234440" y="4937760"/>
            <a:ext cx="10195560" cy="731520"/>
          </a:xfrm>
          <a:prstGeom prst="rect">
            <a:avLst/>
          </a:prstGeom>
          <a:noFill/>
          <a:ln/>
        </p:spPr>
        <p:txBody>
          <a:bodyPr wrap="square" lIns="0" tIns="0" rIns="0" bIns="0" rtlCol="0" anchor="ctr"/>
          <a:lstStyle/>
          <a:p>
            <a:pPr indent="0" marL="0">
              <a:buNone/>
            </a:pPr>
            <a:r>
              <a:rPr lang="en-US" sz="1500" dirty="0">
                <a:solidFill>
                  <a:schemeClr val="tx2"/>
                </a:solidFill>
              </a:rPr>
              <a:t>Un rapport de bandes indique une famille de minéraux probables ; il n'identifie pas un minéral.</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Quel capteur pour quelle question</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2560320"/>
                <a:gridCol w="3474720"/>
                <a:gridCol w="2834640"/>
              </a:tblGrid>
              <a:tr h="60350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Capteur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Résolution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Points forts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Limites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603504">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Sentinel-2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10 – 60 m, 13 bandes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Revisite ≈ 5 jours, SWIR, gratuit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Pas de thermique ; nuages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Landsat 8/9</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30 m (thermique 100 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Archive longue, gratuit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Résolution moyenne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03504">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ASTER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15 – 90 m, 14 bandes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6 bandes SWIR, 5 bandes thermiques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SWIR hors service depuis 2008</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Sentinel-1 (radar)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 10 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Voit à travers les nuages ; relief, structures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Pas d'information minéralogique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03504">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Hyperspectral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 30 m, &gt; 200 bandes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Identification minérale fine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Couverture et accès limités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MNT GLO-30 / SRTM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30 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Pentes, plateaux, linéaments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Pas de signal minéral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Les rapports de bandes de référence</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2286000"/>
                <a:gridCol w="2286000"/>
                <a:gridCol w="1920240"/>
                <a:gridCol w="2560320"/>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Cible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Sentinel-2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Landsat 8/9</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ASTER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Usage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62179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Oxydes de fer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B4 / B2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B4 / B2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B2 / B1</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Zones d'oxydation, chapeaux de fer, latérites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Argiles, hydroxyles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B11 / B12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B6 / B7</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Bandes SWIR 5 – 7</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Altération hydrothermale potentielle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2179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Silice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Impossible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Impossible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Thermique 10 – 14</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Zones silicifiées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Végétation (NDVI)</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(B8 − B4) / (B8 + B4)</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(B5 − B4) / (B5 + B4)</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Masque, géobotanique, défrichement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2179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Humidité (NDMI)</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(B8 − B11) / (B8 + B11)</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(B5 − B6) / (B5 + B6)</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Sols nus, eaux, zones humides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5" name="callout"/>
          <p:cNvSpPr/>
          <p:nvPr/>
        </p:nvSpPr>
        <p:spPr>
          <a:xfrm>
            <a:off x="548640" y="5623560"/>
            <a:ext cx="11064240" cy="640080"/>
          </a:xfrm>
          <a:prstGeom prst="roundRect">
            <a:avLst>
              <a:gd name="adj" fmla="val 11429"/>
            </a:avLst>
          </a:prstGeom>
          <a:solidFill>
            <a:srgbClr val="3E7C6B">
              <a:alpha val="15000"/>
            </a:srgbClr>
          </a:solidFill>
          <a:ln w="12700">
            <a:solidFill>
              <a:srgbClr val="3E7C6B"/>
            </a:solidFill>
            <a:prstDash val="solid"/>
          </a:ln>
        </p:spPr>
      </p:sp>
      <p:sp>
        <p:nvSpPr>
          <p:cNvPr id="6" name="icon-circle"/>
          <p:cNvSpPr/>
          <p:nvPr/>
        </p:nvSpPr>
        <p:spPr>
          <a:xfrm>
            <a:off x="685800" y="5742432"/>
            <a:ext cx="402336" cy="402336"/>
          </a:xfrm>
          <a:prstGeom prst="ellipse">
            <a:avLst/>
          </a:prstGeom>
          <a:solidFill>
            <a:srgbClr val="3E7C6B"/>
          </a:solidFill>
          <a:ln w="12700">
            <a:solidFill>
              <a:srgbClr val="3E7C6B"/>
            </a:solidFill>
            <a:prstDash val="solid"/>
          </a:ln>
        </p:spPr>
      </p:sp>
      <p:pic>
        <p:nvPicPr>
          <p:cNvPr id="7" name="icon" descr="preencoded.png">    </p:cNvPr>
          <p:cNvPicPr>
            <a:picLocks noChangeAspect="1"/>
          </p:cNvPicPr>
          <p:nvPr/>
        </p:nvPicPr>
        <p:blipFill>
          <a:blip r:embed="rId1"/>
          <a:stretch>
            <a:fillRect/>
          </a:stretch>
        </p:blipFill>
        <p:spPr>
          <a:xfrm>
            <a:off x="774314" y="5830946"/>
            <a:ext cx="225308" cy="225308"/>
          </a:xfrm>
          <a:prstGeom prst="rect">
            <a:avLst/>
          </a:prstGeom>
        </p:spPr>
      </p:pic>
      <p:sp>
        <p:nvSpPr>
          <p:cNvPr id="8" name="Text 3"/>
          <p:cNvSpPr txBox="1"/>
          <p:nvPr/>
        </p:nvSpPr>
        <p:spPr>
          <a:xfrm>
            <a:off x="1234440" y="5623560"/>
            <a:ext cx="10195560" cy="640080"/>
          </a:xfrm>
          <a:prstGeom prst="rect">
            <a:avLst/>
          </a:prstGeom>
          <a:noFill/>
          <a:ln/>
        </p:spPr>
        <p:txBody>
          <a:bodyPr wrap="square" lIns="0" tIns="0" rIns="0" bIns="0" rtlCol="0" anchor="ctr"/>
          <a:lstStyle/>
          <a:p>
            <a:pPr indent="0" marL="0">
              <a:buNone/>
            </a:pPr>
            <a:r>
              <a:rPr lang="en-US" sz="1500" dirty="0">
                <a:solidFill>
                  <a:schemeClr val="tx2"/>
                </a:solidFill>
              </a:rPr>
              <a:t>Toujours masquer végétation et eau avant d'interpréter un rapport de bandes.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Sous la forêt, le satellite voit surtout la canopée</a:t>
            </a:r>
            <a:endParaRPr lang="en-US" sz="3000" dirty="0"/>
          </a:p>
        </p:txBody>
      </p:sp>
      <p:sp>
        <p:nvSpPr>
          <p:cNvPr id="4" name="panel"/>
          <p:cNvSpPr/>
          <p:nvPr/>
        </p:nvSpPr>
        <p:spPr>
          <a:xfrm>
            <a:off x="548640" y="1417320"/>
            <a:ext cx="5394960" cy="3931920"/>
          </a:xfrm>
          <a:prstGeom prst="roundRect">
            <a:avLst>
              <a:gd name="adj" fmla="val 1860"/>
            </a:avLst>
          </a:prstGeom>
          <a:solidFill>
            <a:schemeClr val="bg2"/>
          </a:solidFill>
          <a:ln w="12700">
            <a:solidFill>
              <a:schemeClr val="bg2"/>
            </a:solidFill>
            <a:prstDash val="solid"/>
          </a:ln>
        </p:spPr>
      </p:sp>
      <p:sp>
        <p:nvSpPr>
          <p:cNvPr id="5" name="icon-circle"/>
          <p:cNvSpPr/>
          <p:nvPr/>
        </p:nvSpPr>
        <p:spPr>
          <a:xfrm>
            <a:off x="777240" y="1645920"/>
            <a:ext cx="548640" cy="548640"/>
          </a:xfrm>
          <a:prstGeom prst="ellipse">
            <a:avLst/>
          </a:prstGeom>
          <a:solidFill>
            <a:srgbClr val="D9A441"/>
          </a:solidFill>
          <a:ln w="12700">
            <a:solidFill>
              <a:srgbClr val="D9A441"/>
            </a:solidFill>
            <a:prstDash val="solid"/>
          </a:ln>
        </p:spPr>
      </p:sp>
      <p:pic>
        <p:nvPicPr>
          <p:cNvPr id="6" name="icon"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7" name="Text 3"/>
          <p:cNvSpPr txBox="1"/>
          <p:nvPr/>
        </p:nvSpPr>
        <p:spPr>
          <a:xfrm>
            <a:off x="1463040" y="16459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En savane (Adamaoua, Nord)</a:t>
            </a:r>
            <a:endParaRPr lang="en-US" sz="1800" dirty="0"/>
          </a:p>
        </p:txBody>
      </p:sp>
      <p:sp>
        <p:nvSpPr>
          <p:cNvPr id="8" name="Text 4"/>
          <p:cNvSpPr txBox="1"/>
          <p:nvPr/>
        </p:nvSpPr>
        <p:spPr>
          <a:xfrm>
            <a:off x="822960" y="2377440"/>
            <a:ext cx="484632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Sols et roches en partie visibles</a:t>
            </a:r>
            <a:endParaRPr lang="en-US" sz="1500" dirty="0"/>
          </a:p>
          <a:p>
            <a:pPr marL="342900" indent="-342900">
              <a:spcAft>
                <a:spcPts val="600"/>
              </a:spcAft>
              <a:buSzPct val="100000"/>
              <a:buChar char="•"/>
            </a:pPr>
            <a:r>
              <a:rPr lang="en-US" sz="1500" dirty="0">
                <a:solidFill>
                  <a:schemeClr val="tx1"/>
                </a:solidFill>
              </a:rPr>
              <a:t>Rapports de bandes exploitables</a:t>
            </a:r>
            <a:endParaRPr lang="en-US" sz="1500" dirty="0"/>
          </a:p>
          <a:p>
            <a:pPr marL="342900" indent="-342900">
              <a:spcAft>
                <a:spcPts val="600"/>
              </a:spcAft>
              <a:buSzPct val="100000"/>
              <a:buChar char="•"/>
            </a:pPr>
            <a:r>
              <a:rPr lang="en-US" sz="1500" dirty="0">
                <a:solidFill>
                  <a:schemeClr val="tx1"/>
                </a:solidFill>
              </a:rPr>
              <a:t>Bon terrain d'apprentissage</a:t>
            </a:r>
            <a:endParaRPr lang="en-US" sz="1500" dirty="0"/>
          </a:p>
        </p:txBody>
      </p:sp>
      <p:sp>
        <p:nvSpPr>
          <p:cNvPr id="9" name="panel"/>
          <p:cNvSpPr/>
          <p:nvPr/>
        </p:nvSpPr>
        <p:spPr>
          <a:xfrm>
            <a:off x="6217920" y="1417320"/>
            <a:ext cx="5394960" cy="3931920"/>
          </a:xfrm>
          <a:prstGeom prst="roundRect">
            <a:avLst>
              <a:gd name="adj" fmla="val 1860"/>
            </a:avLst>
          </a:prstGeom>
          <a:solidFill>
            <a:schemeClr val="bg2"/>
          </a:solidFill>
          <a:ln w="12700">
            <a:solidFill>
              <a:schemeClr val="bg2"/>
            </a:solidFill>
            <a:prstDash val="solid"/>
          </a:ln>
        </p:spPr>
      </p:sp>
      <p:sp>
        <p:nvSpPr>
          <p:cNvPr id="10" name="icon-circle"/>
          <p:cNvSpPr/>
          <p:nvPr/>
        </p:nvSpPr>
        <p:spPr>
          <a:xfrm>
            <a:off x="6446520" y="164592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6567221" y="1766621"/>
            <a:ext cx="307238" cy="307238"/>
          </a:xfrm>
          <a:prstGeom prst="rect">
            <a:avLst/>
          </a:prstGeom>
        </p:spPr>
      </p:pic>
      <p:sp>
        <p:nvSpPr>
          <p:cNvPr id="12" name="Text 7"/>
          <p:cNvSpPr txBox="1"/>
          <p:nvPr/>
        </p:nvSpPr>
        <p:spPr>
          <a:xfrm>
            <a:off x="7132320" y="16459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En forêt (Est, Sud)</a:t>
            </a:r>
            <a:endParaRPr lang="en-US" sz="1800" dirty="0"/>
          </a:p>
        </p:txBody>
      </p:sp>
      <p:sp>
        <p:nvSpPr>
          <p:cNvPr id="13" name="Text 8"/>
          <p:cNvSpPr txBox="1"/>
          <p:nvPr/>
        </p:nvSpPr>
        <p:spPr>
          <a:xfrm>
            <a:off x="6492240" y="2377440"/>
            <a:ext cx="484632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Signal dominé par la végétation</a:t>
            </a:r>
            <a:endParaRPr lang="en-US" sz="1500" dirty="0"/>
          </a:p>
          <a:p>
            <a:pPr marL="342900" indent="-342900">
              <a:spcAft>
                <a:spcPts val="600"/>
              </a:spcAft>
              <a:buSzPct val="100000"/>
              <a:buChar char="•"/>
            </a:pPr>
            <a:r>
              <a:rPr lang="en-US" sz="1500" dirty="0">
                <a:solidFill>
                  <a:schemeClr val="tx1"/>
                </a:solidFill>
              </a:rPr>
              <a:t>Nuages fréquents : composites saison sèche</a:t>
            </a:r>
            <a:endParaRPr lang="en-US" sz="1500" dirty="0"/>
          </a:p>
          <a:p>
            <a:pPr marL="342900" indent="-342900">
              <a:spcAft>
                <a:spcPts val="600"/>
              </a:spcAft>
              <a:buSzPct val="100000"/>
              <a:buChar char="•"/>
            </a:pPr>
            <a:r>
              <a:rPr lang="en-US" sz="1500" dirty="0">
                <a:solidFill>
                  <a:schemeClr val="tx1"/>
                </a:solidFill>
              </a:rPr>
              <a:t>Compenser par radar, MNT, géophysique, géochimie</a:t>
            </a:r>
            <a:endParaRPr lang="en-US" sz="1500" dirty="0"/>
          </a:p>
          <a:p>
            <a:pPr marL="342900" indent="-342900">
              <a:spcAft>
                <a:spcPts val="600"/>
              </a:spcAft>
              <a:buSzPct val="100000"/>
              <a:buChar char="•"/>
            </a:pPr>
            <a:r>
              <a:rPr lang="en-US" sz="1500" dirty="0">
                <a:solidFill>
                  <a:schemeClr val="tx1"/>
                </a:solidFill>
              </a:rPr>
              <a:t>Réduire le poids du spectral dans l'indice</a:t>
            </a:r>
            <a:endParaRPr lang="en-US" sz="1500" dirty="0"/>
          </a:p>
        </p:txBody>
      </p:sp>
      <p:sp>
        <p:nvSpPr>
          <p:cNvPr id="14" name="callout"/>
          <p:cNvSpPr/>
          <p:nvPr/>
        </p:nvSpPr>
        <p:spPr>
          <a:xfrm>
            <a:off x="548640" y="5577840"/>
            <a:ext cx="11064240" cy="640080"/>
          </a:xfrm>
          <a:prstGeom prst="roundRect">
            <a:avLst>
              <a:gd name="adj" fmla="val 11429"/>
            </a:avLst>
          </a:prstGeom>
          <a:solidFill>
            <a:srgbClr val="3E7C6B">
              <a:alpha val="15000"/>
            </a:srgbClr>
          </a:solidFill>
          <a:ln w="12700">
            <a:solidFill>
              <a:srgbClr val="3E7C6B"/>
            </a:solidFill>
            <a:prstDash val="solid"/>
          </a:ln>
        </p:spPr>
      </p:sp>
      <p:sp>
        <p:nvSpPr>
          <p:cNvPr id="15" name="icon-circle"/>
          <p:cNvSpPr/>
          <p:nvPr/>
        </p:nvSpPr>
        <p:spPr>
          <a:xfrm>
            <a:off x="685800" y="5696712"/>
            <a:ext cx="402336" cy="402336"/>
          </a:xfrm>
          <a:prstGeom prst="ellipse">
            <a:avLst/>
          </a:prstGeom>
          <a:solidFill>
            <a:srgbClr val="3E7C6B"/>
          </a:solidFill>
          <a:ln w="12700">
            <a:solidFill>
              <a:srgbClr val="3E7C6B"/>
            </a:solidFill>
            <a:prstDash val="solid"/>
          </a:ln>
        </p:spPr>
      </p:sp>
      <p:pic>
        <p:nvPicPr>
          <p:cNvPr id="16" name="icon" descr="preencoded.png">    </p:cNvPr>
          <p:cNvPicPr>
            <a:picLocks noChangeAspect="1"/>
          </p:cNvPicPr>
          <p:nvPr/>
        </p:nvPicPr>
        <p:blipFill>
          <a:blip r:embed="rId3"/>
          <a:stretch>
            <a:fillRect/>
          </a:stretch>
        </p:blipFill>
        <p:spPr>
          <a:xfrm>
            <a:off x="774314" y="5785226"/>
            <a:ext cx="225308" cy="225308"/>
          </a:xfrm>
          <a:prstGeom prst="rect">
            <a:avLst/>
          </a:prstGeom>
        </p:spPr>
      </p:pic>
      <p:sp>
        <p:nvSpPr>
          <p:cNvPr id="17" name="Text 11"/>
          <p:cNvSpPr txBox="1"/>
          <p:nvPr/>
        </p:nvSpPr>
        <p:spPr>
          <a:xfrm>
            <a:off x="1234440" y="5577840"/>
            <a:ext cx="10195560" cy="640080"/>
          </a:xfrm>
          <a:prstGeom prst="rect">
            <a:avLst/>
          </a:prstGeom>
          <a:noFill/>
          <a:ln/>
        </p:spPr>
        <p:txBody>
          <a:bodyPr wrap="square" lIns="0" tIns="0" rIns="0" bIns="0" rtlCol="0" anchor="ctr"/>
          <a:lstStyle/>
          <a:p>
            <a:pPr indent="0" marL="0">
              <a:buNone/>
            </a:pPr>
            <a:r>
              <a:rPr lang="en-US" sz="1500" dirty="0">
                <a:solidFill>
                  <a:schemeClr val="tx2"/>
                </a:solidFill>
              </a:rPr>
              <a:t>Conséquence pour le jour 4 : le poids de l'altération spectrale passe de 15 % à 10 % sous forêt.</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TP2 — Sentinel-2 sur une zone minière</a:t>
            </a:r>
            <a:endParaRPr lang="en-US" sz="3000" dirty="0"/>
          </a:p>
        </p:txBody>
      </p:sp>
      <p:sp>
        <p:nvSpPr>
          <p:cNvPr id="4" name="step"/>
          <p:cNvSpPr/>
          <p:nvPr/>
        </p:nvSpPr>
        <p:spPr>
          <a:xfrm>
            <a:off x="548640" y="1463040"/>
            <a:ext cx="1920240" cy="2377440"/>
          </a:xfrm>
          <a:prstGeom prst="roundRect">
            <a:avLst>
              <a:gd name="adj" fmla="val 3810"/>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Composite</a:t>
            </a:r>
            <a:endParaRPr lang="en-US" sz="1500" dirty="0"/>
          </a:p>
        </p:txBody>
      </p:sp>
      <p:sp>
        <p:nvSpPr>
          <p:cNvPr id="8" name="Text 5"/>
          <p:cNvSpPr txBox="1"/>
          <p:nvPr/>
        </p:nvSpPr>
        <p:spPr>
          <a:xfrm>
            <a:off x="713232" y="2194560"/>
            <a:ext cx="1591056" cy="1554480"/>
          </a:xfrm>
          <a:prstGeom prst="rect">
            <a:avLst/>
          </a:prstGeom>
          <a:noFill/>
          <a:ln/>
        </p:spPr>
        <p:txBody>
          <a:bodyPr wrap="square" lIns="0" tIns="0" rIns="0" bIns="0" rtlCol="0" anchor="t"/>
          <a:lstStyle/>
          <a:p>
            <a:pPr indent="0" marL="0">
              <a:buNone/>
            </a:pPr>
            <a:r>
              <a:rPr lang="en-US" sz="1400" dirty="0">
                <a:solidFill>
                  <a:schemeClr val="tx1"/>
                </a:solidFill>
              </a:rPr>
              <a:t>Médiane sans nuages, saison sèche (script GEE)</a:t>
            </a:r>
            <a:endParaRPr lang="en-US" sz="1400" dirty="0"/>
          </a:p>
        </p:txBody>
      </p:sp>
      <p:sp>
        <p:nvSpPr>
          <p:cNvPr id="9" name="arrow"/>
          <p:cNvSpPr/>
          <p:nvPr/>
        </p:nvSpPr>
        <p:spPr>
          <a:xfrm>
            <a:off x="2542032" y="2523744"/>
            <a:ext cx="219456" cy="256032"/>
          </a:xfrm>
          <a:prstGeom prst="rightArrow">
            <a:avLst/>
          </a:prstGeom>
          <a:solidFill>
            <a:srgbClr val="9AA5AC"/>
          </a:solidFill>
          <a:ln w="12700">
            <a:solidFill>
              <a:srgbClr val="9AA5AC"/>
            </a:solidFill>
            <a:prstDash val="solid"/>
          </a:ln>
        </p:spPr>
      </p:sp>
      <p:sp>
        <p:nvSpPr>
          <p:cNvPr id="10" name="step"/>
          <p:cNvSpPr/>
          <p:nvPr/>
        </p:nvSpPr>
        <p:spPr>
          <a:xfrm>
            <a:off x="2834640" y="1463040"/>
            <a:ext cx="1920240" cy="2377440"/>
          </a:xfrm>
          <a:prstGeom prst="roundRect">
            <a:avLst>
              <a:gd name="adj" fmla="val 3810"/>
            </a:avLst>
          </a:prstGeom>
          <a:solidFill>
            <a:srgbClr val="EEF2F3"/>
          </a:solidFill>
          <a:ln w="12700">
            <a:solidFill>
              <a:srgbClr val="EEF2F3"/>
            </a:solidFill>
            <a:prstDash val="solid"/>
          </a:ln>
        </p:spPr>
      </p:sp>
      <p:sp>
        <p:nvSpPr>
          <p:cNvPr id="11" name="step-num"/>
          <p:cNvSpPr/>
          <p:nvPr/>
        </p:nvSpPr>
        <p:spPr>
          <a:xfrm>
            <a:off x="2999232" y="1627632"/>
            <a:ext cx="420624" cy="420624"/>
          </a:xfrm>
          <a:prstGeom prst="ellipse">
            <a:avLst/>
          </a:prstGeom>
          <a:solidFill>
            <a:srgbClr val="B5542D"/>
          </a:solidFill>
          <a:ln w="12700">
            <a:solidFill>
              <a:srgbClr val="B5542D"/>
            </a:solidFill>
            <a:prstDash val="solid"/>
          </a:ln>
        </p:spPr>
      </p:sp>
      <p:sp>
        <p:nvSpPr>
          <p:cNvPr id="12" name="Text 9"/>
          <p:cNvSpPr txBox="1"/>
          <p:nvPr/>
        </p:nvSpPr>
        <p:spPr>
          <a:xfrm>
            <a:off x="2999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493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Couleurs</a:t>
            </a:r>
            <a:endParaRPr lang="en-US" sz="1500" dirty="0"/>
          </a:p>
        </p:txBody>
      </p:sp>
      <p:sp>
        <p:nvSpPr>
          <p:cNvPr id="14" name="Text 11"/>
          <p:cNvSpPr txBox="1"/>
          <p:nvPr/>
        </p:nvSpPr>
        <p:spPr>
          <a:xfrm>
            <a:off x="2999232" y="2194560"/>
            <a:ext cx="1591056" cy="1554480"/>
          </a:xfrm>
          <a:prstGeom prst="rect">
            <a:avLst/>
          </a:prstGeom>
          <a:noFill/>
          <a:ln/>
        </p:spPr>
        <p:txBody>
          <a:bodyPr wrap="square" lIns="0" tIns="0" rIns="0" bIns="0" rtlCol="0" anchor="t"/>
          <a:lstStyle/>
          <a:p>
            <a:pPr indent="0" marL="0">
              <a:buNone/>
            </a:pPr>
            <a:r>
              <a:rPr lang="en-US" sz="1400" dirty="0">
                <a:solidFill>
                  <a:schemeClr val="tx1"/>
                </a:solidFill>
              </a:rPr>
              <a:t>Vraies couleurs B4-B3-B2, fausses couleurs B8-B4-B3 et B12-B8-B4</a:t>
            </a:r>
            <a:endParaRPr lang="en-US" sz="1400" dirty="0"/>
          </a:p>
        </p:txBody>
      </p:sp>
      <p:sp>
        <p:nvSpPr>
          <p:cNvPr id="15" name="arrow"/>
          <p:cNvSpPr/>
          <p:nvPr/>
        </p:nvSpPr>
        <p:spPr>
          <a:xfrm>
            <a:off x="4828032" y="2523744"/>
            <a:ext cx="219456" cy="256032"/>
          </a:xfrm>
          <a:prstGeom prst="rightArrow">
            <a:avLst/>
          </a:prstGeom>
          <a:solidFill>
            <a:srgbClr val="9AA5AC"/>
          </a:solidFill>
          <a:ln w="12700">
            <a:solidFill>
              <a:srgbClr val="9AA5AC"/>
            </a:solidFill>
            <a:prstDash val="solid"/>
          </a:ln>
        </p:spPr>
      </p:sp>
      <p:sp>
        <p:nvSpPr>
          <p:cNvPr id="16" name="step"/>
          <p:cNvSpPr/>
          <p:nvPr/>
        </p:nvSpPr>
        <p:spPr>
          <a:xfrm>
            <a:off x="5120640" y="1463040"/>
            <a:ext cx="1920240" cy="2377440"/>
          </a:xfrm>
          <a:prstGeom prst="roundRect">
            <a:avLst>
              <a:gd name="adj" fmla="val 3810"/>
            </a:avLst>
          </a:prstGeom>
          <a:solidFill>
            <a:srgbClr val="EEF2F3"/>
          </a:solidFill>
          <a:ln w="12700">
            <a:solidFill>
              <a:srgbClr val="EEF2F3"/>
            </a:solidFill>
            <a:prstDash val="solid"/>
          </a:ln>
        </p:spPr>
      </p:sp>
      <p:sp>
        <p:nvSpPr>
          <p:cNvPr id="17" name="step-num"/>
          <p:cNvSpPr/>
          <p:nvPr/>
        </p:nvSpPr>
        <p:spPr>
          <a:xfrm>
            <a:off x="5285232" y="1627632"/>
            <a:ext cx="420624" cy="420624"/>
          </a:xfrm>
          <a:prstGeom prst="ellipse">
            <a:avLst/>
          </a:prstGeom>
          <a:solidFill>
            <a:srgbClr val="B5542D"/>
          </a:solidFill>
          <a:ln w="12700">
            <a:solidFill>
              <a:srgbClr val="B5542D"/>
            </a:solidFill>
            <a:prstDash val="solid"/>
          </a:ln>
        </p:spPr>
      </p:sp>
      <p:sp>
        <p:nvSpPr>
          <p:cNvPr id="18" name="Text 15"/>
          <p:cNvSpPr txBox="1"/>
          <p:nvPr/>
        </p:nvSpPr>
        <p:spPr>
          <a:xfrm>
            <a:off x="5285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5779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Ratios</a:t>
            </a:r>
            <a:endParaRPr lang="en-US" sz="1500" dirty="0"/>
          </a:p>
        </p:txBody>
      </p:sp>
      <p:sp>
        <p:nvSpPr>
          <p:cNvPr id="20" name="Text 17"/>
          <p:cNvSpPr txBox="1"/>
          <p:nvPr/>
        </p:nvSpPr>
        <p:spPr>
          <a:xfrm>
            <a:off x="5285232" y="2194560"/>
            <a:ext cx="1591056" cy="1554480"/>
          </a:xfrm>
          <a:prstGeom prst="rect">
            <a:avLst/>
          </a:prstGeom>
          <a:noFill/>
          <a:ln/>
        </p:spPr>
        <p:txBody>
          <a:bodyPr wrap="square" lIns="0" tIns="0" rIns="0" bIns="0" rtlCol="0" anchor="t"/>
          <a:lstStyle/>
          <a:p>
            <a:pPr indent="0" marL="0">
              <a:buNone/>
            </a:pPr>
            <a:r>
              <a:rPr lang="en-US" sz="1400" dirty="0">
                <a:solidFill>
                  <a:schemeClr val="tx1"/>
                </a:solidFill>
              </a:rPr>
              <a:t>Oxydes de fer, argiles ; masques végétation et eau</a:t>
            </a:r>
            <a:endParaRPr lang="en-US" sz="1400" dirty="0"/>
          </a:p>
        </p:txBody>
      </p:sp>
      <p:sp>
        <p:nvSpPr>
          <p:cNvPr id="21" name="arrow"/>
          <p:cNvSpPr/>
          <p:nvPr/>
        </p:nvSpPr>
        <p:spPr>
          <a:xfrm>
            <a:off x="7114032" y="2523744"/>
            <a:ext cx="219456" cy="256032"/>
          </a:xfrm>
          <a:prstGeom prst="rightArrow">
            <a:avLst/>
          </a:prstGeom>
          <a:solidFill>
            <a:srgbClr val="9AA5AC"/>
          </a:solidFill>
          <a:ln w="12700">
            <a:solidFill>
              <a:srgbClr val="9AA5AC"/>
            </a:solidFill>
            <a:prstDash val="solid"/>
          </a:ln>
        </p:spPr>
      </p:sp>
      <p:sp>
        <p:nvSpPr>
          <p:cNvPr id="22" name="step"/>
          <p:cNvSpPr/>
          <p:nvPr/>
        </p:nvSpPr>
        <p:spPr>
          <a:xfrm>
            <a:off x="7406640" y="1463040"/>
            <a:ext cx="1920240" cy="2377440"/>
          </a:xfrm>
          <a:prstGeom prst="roundRect">
            <a:avLst>
              <a:gd name="adj" fmla="val 3810"/>
            </a:avLst>
          </a:prstGeom>
          <a:solidFill>
            <a:srgbClr val="EEF2F3"/>
          </a:solidFill>
          <a:ln w="12700">
            <a:solidFill>
              <a:srgbClr val="EEF2F3"/>
            </a:solidFill>
            <a:prstDash val="solid"/>
          </a:ln>
        </p:spPr>
      </p:sp>
      <p:sp>
        <p:nvSpPr>
          <p:cNvPr id="23" name="step-num"/>
          <p:cNvSpPr/>
          <p:nvPr/>
        </p:nvSpPr>
        <p:spPr>
          <a:xfrm>
            <a:off x="7571232" y="162763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7571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8065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Classification</a:t>
            </a:r>
            <a:endParaRPr lang="en-US" sz="1500" dirty="0"/>
          </a:p>
        </p:txBody>
      </p:sp>
      <p:sp>
        <p:nvSpPr>
          <p:cNvPr id="26" name="Text 23"/>
          <p:cNvSpPr txBox="1"/>
          <p:nvPr/>
        </p:nvSpPr>
        <p:spPr>
          <a:xfrm>
            <a:off x="7571232" y="2194560"/>
            <a:ext cx="1591056" cy="1554480"/>
          </a:xfrm>
          <a:prstGeom prst="rect">
            <a:avLst/>
          </a:prstGeom>
          <a:noFill/>
          <a:ln/>
        </p:spPr>
        <p:txBody>
          <a:bodyPr wrap="square" lIns="0" tIns="0" rIns="0" bIns="0" rtlCol="0" anchor="t"/>
          <a:lstStyle/>
          <a:p>
            <a:pPr indent="0" marL="0">
              <a:buNone/>
            </a:pPr>
            <a:r>
              <a:rPr lang="en-US" sz="1400" dirty="0">
                <a:solidFill>
                  <a:schemeClr val="tx1"/>
                </a:solidFill>
              </a:rPr>
              <a:t>Sol nu, latérite, végétation, eau, zones exploitées</a:t>
            </a:r>
            <a:endParaRPr lang="en-US" sz="1400" dirty="0"/>
          </a:p>
        </p:txBody>
      </p:sp>
      <p:sp>
        <p:nvSpPr>
          <p:cNvPr id="27" name="arrow"/>
          <p:cNvSpPr/>
          <p:nvPr/>
        </p:nvSpPr>
        <p:spPr>
          <a:xfrm>
            <a:off x="9400032" y="2523744"/>
            <a:ext cx="219456" cy="256032"/>
          </a:xfrm>
          <a:prstGeom prst="rightArrow">
            <a:avLst/>
          </a:prstGeom>
          <a:solidFill>
            <a:srgbClr val="9AA5AC"/>
          </a:solidFill>
          <a:ln w="12700">
            <a:solidFill>
              <a:srgbClr val="9AA5AC"/>
            </a:solidFill>
            <a:prstDash val="solid"/>
          </a:ln>
        </p:spPr>
      </p:sp>
      <p:sp>
        <p:nvSpPr>
          <p:cNvPr id="28" name="step"/>
          <p:cNvSpPr/>
          <p:nvPr/>
        </p:nvSpPr>
        <p:spPr>
          <a:xfrm>
            <a:off x="9692640" y="1463040"/>
            <a:ext cx="1920240" cy="2377440"/>
          </a:xfrm>
          <a:prstGeom prst="roundRect">
            <a:avLst>
              <a:gd name="adj" fmla="val 3810"/>
            </a:avLst>
          </a:prstGeom>
          <a:solidFill>
            <a:srgbClr val="EEF2F3"/>
          </a:solidFill>
          <a:ln w="12700">
            <a:solidFill>
              <a:srgbClr val="EEF2F3"/>
            </a:solidFill>
            <a:prstDash val="solid"/>
          </a:ln>
        </p:spPr>
      </p:sp>
      <p:sp>
        <p:nvSpPr>
          <p:cNvPr id="29" name="step-num"/>
          <p:cNvSpPr/>
          <p:nvPr/>
        </p:nvSpPr>
        <p:spPr>
          <a:xfrm>
            <a:off x="9857232" y="1627632"/>
            <a:ext cx="420624" cy="420624"/>
          </a:xfrm>
          <a:prstGeom prst="ellipse">
            <a:avLst/>
          </a:prstGeom>
          <a:solidFill>
            <a:srgbClr val="B5542D"/>
          </a:solidFill>
          <a:ln w="12700">
            <a:solidFill>
              <a:srgbClr val="B5542D"/>
            </a:solidFill>
            <a:prstDash val="solid"/>
          </a:ln>
        </p:spPr>
      </p:sp>
      <p:sp>
        <p:nvSpPr>
          <p:cNvPr id="30" name="Text 27"/>
          <p:cNvSpPr txBox="1"/>
          <p:nvPr/>
        </p:nvSpPr>
        <p:spPr>
          <a:xfrm>
            <a:off x="9857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10351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Anomalies</a:t>
            </a:r>
            <a:endParaRPr lang="en-US" sz="1500" dirty="0"/>
          </a:p>
        </p:txBody>
      </p:sp>
      <p:sp>
        <p:nvSpPr>
          <p:cNvPr id="32" name="Text 29"/>
          <p:cNvSpPr txBox="1"/>
          <p:nvPr/>
        </p:nvSpPr>
        <p:spPr>
          <a:xfrm>
            <a:off x="9857232" y="2194560"/>
            <a:ext cx="1591056" cy="1554480"/>
          </a:xfrm>
          <a:prstGeom prst="rect">
            <a:avLst/>
          </a:prstGeom>
          <a:noFill/>
          <a:ln/>
        </p:spPr>
        <p:txBody>
          <a:bodyPr wrap="square" lIns="0" tIns="0" rIns="0" bIns="0" rtlCol="0" anchor="t"/>
          <a:lstStyle/>
          <a:p>
            <a:pPr indent="0" marL="0">
              <a:buNone/>
            </a:pPr>
            <a:r>
              <a:rPr lang="en-US" sz="1400" dirty="0">
                <a:solidFill>
                  <a:schemeClr val="tx1"/>
                </a:solidFill>
              </a:rPr>
              <a:t>Seuil moyenne + 2 écarts-types ; export vers QGIS</a:t>
            </a:r>
            <a:endParaRPr lang="en-US" sz="1400" dirty="0"/>
          </a:p>
        </p:txBody>
      </p:sp>
      <p:sp>
        <p:nvSpPr>
          <p:cNvPr id="33" name="panel"/>
          <p:cNvSpPr/>
          <p:nvPr/>
        </p:nvSpPr>
        <p:spPr>
          <a:xfrm>
            <a:off x="548640" y="4160520"/>
            <a:ext cx="11064240" cy="1920240"/>
          </a:xfrm>
          <a:prstGeom prst="roundRect">
            <a:avLst>
              <a:gd name="adj" fmla="val 3810"/>
            </a:avLst>
          </a:prstGeom>
          <a:solidFill>
            <a:schemeClr val="bg2"/>
          </a:solidFill>
          <a:ln w="12700">
            <a:solidFill>
              <a:schemeClr val="bg2"/>
            </a:solidFill>
            <a:prstDash val="solid"/>
          </a:ln>
        </p:spPr>
      </p:sp>
      <p:sp>
        <p:nvSpPr>
          <p:cNvPr id="34" name="icon-circle"/>
          <p:cNvSpPr/>
          <p:nvPr/>
        </p:nvSpPr>
        <p:spPr>
          <a:xfrm>
            <a:off x="777240" y="4389120"/>
            <a:ext cx="548640" cy="548640"/>
          </a:xfrm>
          <a:prstGeom prst="ellipse">
            <a:avLst/>
          </a:prstGeom>
          <a:solidFill>
            <a:srgbClr val="3F6C9A"/>
          </a:solidFill>
          <a:ln w="12700">
            <a:solidFill>
              <a:srgbClr val="3F6C9A"/>
            </a:solidFill>
            <a:prstDash val="solid"/>
          </a:ln>
        </p:spPr>
      </p:sp>
      <p:pic>
        <p:nvPicPr>
          <p:cNvPr id="35" name="icon" descr="preencoded.png">    </p:cNvPr>
          <p:cNvPicPr>
            <a:picLocks noChangeAspect="1"/>
          </p:cNvPicPr>
          <p:nvPr/>
        </p:nvPicPr>
        <p:blipFill>
          <a:blip r:embed="rId1"/>
          <a:stretch>
            <a:fillRect/>
          </a:stretch>
        </p:blipFill>
        <p:spPr>
          <a:xfrm>
            <a:off x="897941" y="4509821"/>
            <a:ext cx="307238" cy="307238"/>
          </a:xfrm>
          <a:prstGeom prst="rect">
            <a:avLst/>
          </a:prstGeom>
        </p:spPr>
      </p:pic>
      <p:sp>
        <p:nvSpPr>
          <p:cNvPr id="36" name="Text 32"/>
          <p:cNvSpPr txBox="1"/>
          <p:nvPr/>
        </p:nvSpPr>
        <p:spPr>
          <a:xfrm>
            <a:off x="1463040" y="4389120"/>
            <a:ext cx="9966960" cy="548640"/>
          </a:xfrm>
          <a:prstGeom prst="rect">
            <a:avLst/>
          </a:prstGeom>
          <a:noFill/>
          <a:ln/>
        </p:spPr>
        <p:txBody>
          <a:bodyPr wrap="square" lIns="0" tIns="0" rIns="0" bIns="0" rtlCol="0" anchor="ctr"/>
          <a:lstStyle/>
          <a:p>
            <a:pPr indent="0" marL="0">
              <a:buNone/>
            </a:pPr>
            <a:r>
              <a:rPr lang="en-US" sz="1800" b="1" dirty="0">
                <a:solidFill>
                  <a:schemeClr val="tx2"/>
                </a:solidFill>
              </a:rPr>
              <a:t>Option avancée : ACP dirigée (méthode de Crósta)</a:t>
            </a:r>
            <a:endParaRPr lang="en-US" sz="1800" dirty="0"/>
          </a:p>
        </p:txBody>
      </p:sp>
      <p:sp>
        <p:nvSpPr>
          <p:cNvPr id="37" name="Text 33"/>
          <p:cNvSpPr txBox="1"/>
          <p:nvPr/>
        </p:nvSpPr>
        <p:spPr>
          <a:xfrm>
            <a:off x="822960" y="5120640"/>
            <a:ext cx="10515600" cy="822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Choisir les bandes qui encadrent l'absorption visée, calculer l'ACP, retenir la composante où la bande d'absorption et la bande de réflexion ont des signes opposés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TP2c — Extraire les linéaments sur le relief</a:t>
            </a:r>
            <a:endParaRPr lang="en-US" sz="3000" dirty="0"/>
          </a:p>
        </p:txBody>
      </p:sp>
      <p:sp>
        <p:nvSpPr>
          <p:cNvPr id="4" name="num"/>
          <p:cNvSpPr/>
          <p:nvPr/>
        </p:nvSpPr>
        <p:spPr>
          <a:xfrm>
            <a:off x="548640" y="1417320"/>
            <a:ext cx="402336" cy="402336"/>
          </a:xfrm>
          <a:prstGeom prst="ellipse">
            <a:avLst/>
          </a:prstGeom>
          <a:solidFill>
            <a:srgbClr val="B5542D"/>
          </a:solidFill>
          <a:ln w="12700">
            <a:solidFill>
              <a:srgbClr val="B5542D"/>
            </a:solidFill>
            <a:prstDash val="solid"/>
          </a:ln>
        </p:spPr>
      </p:sp>
      <p:sp>
        <p:nvSpPr>
          <p:cNvPr id="5" name="Text 2"/>
          <p:cNvSpPr txBox="1"/>
          <p:nvPr/>
        </p:nvSpPr>
        <p:spPr>
          <a:xfrm>
            <a:off x="54864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097280" y="1362456"/>
            <a:ext cx="6217920" cy="649224"/>
          </a:xfrm>
          <a:prstGeom prst="rect">
            <a:avLst/>
          </a:prstGeom>
          <a:noFill/>
          <a:ln/>
        </p:spPr>
        <p:txBody>
          <a:bodyPr wrap="square" lIns="0" tIns="0" rIns="0" bIns="0" rtlCol="0" anchor="t"/>
          <a:lstStyle/>
          <a:p>
            <a:pPr indent="0" marL="0">
              <a:buNone/>
            </a:pPr>
            <a:r>
              <a:rPr lang="en-US" sz="1500" dirty="0">
                <a:solidFill>
                  <a:schemeClr val="tx1"/>
                </a:solidFill>
              </a:rPr>
              <a:t>Calculer des ombrages du MNT sous quatre azimuts (0°, 45°, 90°, 135°)</a:t>
            </a:r>
            <a:endParaRPr lang="en-US" sz="1500" dirty="0"/>
          </a:p>
        </p:txBody>
      </p:sp>
      <p:sp>
        <p:nvSpPr>
          <p:cNvPr id="7" name="num"/>
          <p:cNvSpPr/>
          <p:nvPr/>
        </p:nvSpPr>
        <p:spPr>
          <a:xfrm>
            <a:off x="548640" y="2103120"/>
            <a:ext cx="402336" cy="402336"/>
          </a:xfrm>
          <a:prstGeom prst="ellipse">
            <a:avLst/>
          </a:prstGeom>
          <a:solidFill>
            <a:srgbClr val="B5542D"/>
          </a:solidFill>
          <a:ln w="12700">
            <a:solidFill>
              <a:srgbClr val="B5542D"/>
            </a:solidFill>
            <a:prstDash val="solid"/>
          </a:ln>
        </p:spPr>
      </p:sp>
      <p:sp>
        <p:nvSpPr>
          <p:cNvPr id="8" name="Text 5"/>
          <p:cNvSpPr txBox="1"/>
          <p:nvPr/>
        </p:nvSpPr>
        <p:spPr>
          <a:xfrm>
            <a:off x="548640" y="2103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1097280" y="2048256"/>
            <a:ext cx="6217920" cy="649224"/>
          </a:xfrm>
          <a:prstGeom prst="rect">
            <a:avLst/>
          </a:prstGeom>
          <a:noFill/>
          <a:ln/>
        </p:spPr>
        <p:txBody>
          <a:bodyPr wrap="square" lIns="0" tIns="0" rIns="0" bIns="0" rtlCol="0" anchor="t"/>
          <a:lstStyle/>
          <a:p>
            <a:pPr indent="0" marL="0">
              <a:buNone/>
            </a:pPr>
            <a:r>
              <a:rPr lang="en-US" sz="1500" dirty="0">
                <a:solidFill>
                  <a:schemeClr val="tx1"/>
                </a:solidFill>
              </a:rPr>
              <a:t>Tracer les linéaments à l'écran, ou les extraire automatiquement</a:t>
            </a:r>
            <a:endParaRPr lang="en-US" sz="1500" dirty="0"/>
          </a:p>
        </p:txBody>
      </p:sp>
      <p:sp>
        <p:nvSpPr>
          <p:cNvPr id="10" name="num"/>
          <p:cNvSpPr/>
          <p:nvPr/>
        </p:nvSpPr>
        <p:spPr>
          <a:xfrm>
            <a:off x="548640" y="2788920"/>
            <a:ext cx="402336" cy="402336"/>
          </a:xfrm>
          <a:prstGeom prst="ellipse">
            <a:avLst/>
          </a:prstGeom>
          <a:solidFill>
            <a:srgbClr val="B5542D"/>
          </a:solidFill>
          <a:ln w="12700">
            <a:solidFill>
              <a:srgbClr val="B5542D"/>
            </a:solidFill>
            <a:prstDash val="solid"/>
          </a:ln>
        </p:spPr>
      </p:sp>
      <p:sp>
        <p:nvSpPr>
          <p:cNvPr id="11" name="Text 8"/>
          <p:cNvSpPr txBox="1"/>
          <p:nvPr/>
        </p:nvSpPr>
        <p:spPr>
          <a:xfrm>
            <a:off x="548640" y="27889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1097280" y="2734056"/>
            <a:ext cx="6217920" cy="649224"/>
          </a:xfrm>
          <a:prstGeom prst="rect">
            <a:avLst/>
          </a:prstGeom>
          <a:noFill/>
          <a:ln/>
        </p:spPr>
        <p:txBody>
          <a:bodyPr wrap="square" lIns="0" tIns="0" rIns="0" bIns="0" rtlCol="0" anchor="t"/>
          <a:lstStyle/>
          <a:p>
            <a:pPr indent="0" marL="0">
              <a:buNone/>
            </a:pPr>
            <a:r>
              <a:rPr lang="en-US" sz="1500" dirty="0">
                <a:solidFill>
                  <a:schemeClr val="tx1"/>
                </a:solidFill>
              </a:rPr>
              <a:t>Fusionner, nettoyer, supprimer routes et artefacts</a:t>
            </a:r>
            <a:endParaRPr lang="en-US" sz="1500" dirty="0"/>
          </a:p>
        </p:txBody>
      </p:sp>
      <p:sp>
        <p:nvSpPr>
          <p:cNvPr id="13" name="num"/>
          <p:cNvSpPr/>
          <p:nvPr/>
        </p:nvSpPr>
        <p:spPr>
          <a:xfrm>
            <a:off x="548640" y="3474720"/>
            <a:ext cx="402336" cy="402336"/>
          </a:xfrm>
          <a:prstGeom prst="ellipse">
            <a:avLst/>
          </a:prstGeom>
          <a:solidFill>
            <a:srgbClr val="B5542D"/>
          </a:solidFill>
          <a:ln w="12700">
            <a:solidFill>
              <a:srgbClr val="B5542D"/>
            </a:solidFill>
            <a:prstDash val="solid"/>
          </a:ln>
        </p:spPr>
      </p:sp>
      <p:sp>
        <p:nvSpPr>
          <p:cNvPr id="14" name="Text 11"/>
          <p:cNvSpPr txBox="1"/>
          <p:nvPr/>
        </p:nvSpPr>
        <p:spPr>
          <a:xfrm>
            <a:off x="54864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2"/>
          <p:cNvSpPr txBox="1"/>
          <p:nvPr/>
        </p:nvSpPr>
        <p:spPr>
          <a:xfrm>
            <a:off x="1097280" y="3419856"/>
            <a:ext cx="6217920" cy="649224"/>
          </a:xfrm>
          <a:prstGeom prst="rect">
            <a:avLst/>
          </a:prstGeom>
          <a:noFill/>
          <a:ln/>
        </p:spPr>
        <p:txBody>
          <a:bodyPr wrap="square" lIns="0" tIns="0" rIns="0" bIns="0" rtlCol="0" anchor="t"/>
          <a:lstStyle/>
          <a:p>
            <a:pPr indent="0" marL="0">
              <a:buNone/>
            </a:pPr>
            <a:r>
              <a:rPr lang="en-US" sz="1500" dirty="0">
                <a:solidFill>
                  <a:schemeClr val="tx1"/>
                </a:solidFill>
              </a:rPr>
              <a:t>Tracer la rosace des directions</a:t>
            </a:r>
            <a:endParaRPr lang="en-US" sz="1500" dirty="0"/>
          </a:p>
        </p:txBody>
      </p:sp>
      <p:sp>
        <p:nvSpPr>
          <p:cNvPr id="16" name="num"/>
          <p:cNvSpPr/>
          <p:nvPr/>
        </p:nvSpPr>
        <p:spPr>
          <a:xfrm>
            <a:off x="548640" y="4160520"/>
            <a:ext cx="402336" cy="402336"/>
          </a:xfrm>
          <a:prstGeom prst="ellipse">
            <a:avLst/>
          </a:prstGeom>
          <a:solidFill>
            <a:srgbClr val="B5542D"/>
          </a:solidFill>
          <a:ln w="12700">
            <a:solidFill>
              <a:srgbClr val="B5542D"/>
            </a:solidFill>
            <a:prstDash val="solid"/>
          </a:ln>
        </p:spPr>
      </p:sp>
      <p:sp>
        <p:nvSpPr>
          <p:cNvPr id="17" name="Text 14"/>
          <p:cNvSpPr txBox="1"/>
          <p:nvPr/>
        </p:nvSpPr>
        <p:spPr>
          <a:xfrm>
            <a:off x="548640" y="41605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5"/>
          <p:cNvSpPr txBox="1"/>
          <p:nvPr/>
        </p:nvSpPr>
        <p:spPr>
          <a:xfrm>
            <a:off x="1097280" y="4105656"/>
            <a:ext cx="6217920" cy="649224"/>
          </a:xfrm>
          <a:prstGeom prst="rect">
            <a:avLst/>
          </a:prstGeom>
          <a:noFill/>
          <a:ln/>
        </p:spPr>
        <p:txBody>
          <a:bodyPr wrap="square" lIns="0" tIns="0" rIns="0" bIns="0" rtlCol="0" anchor="t"/>
          <a:lstStyle/>
          <a:p>
            <a:pPr indent="0" marL="0">
              <a:buNone/>
            </a:pPr>
            <a:r>
              <a:rPr lang="en-US" sz="1500" dirty="0">
                <a:solidFill>
                  <a:schemeClr val="tx1"/>
                </a:solidFill>
              </a:rPr>
              <a:t>Comparer aux failles connues de la carte géologique</a:t>
            </a:r>
            <a:endParaRPr lang="en-US" sz="1500" dirty="0"/>
          </a:p>
        </p:txBody>
      </p:sp>
      <p:sp>
        <p:nvSpPr>
          <p:cNvPr id="19" name="num"/>
          <p:cNvSpPr/>
          <p:nvPr/>
        </p:nvSpPr>
        <p:spPr>
          <a:xfrm>
            <a:off x="548640" y="4846320"/>
            <a:ext cx="402336" cy="402336"/>
          </a:xfrm>
          <a:prstGeom prst="ellipse">
            <a:avLst/>
          </a:prstGeom>
          <a:solidFill>
            <a:srgbClr val="B5542D"/>
          </a:solidFill>
          <a:ln w="12700">
            <a:solidFill>
              <a:srgbClr val="B5542D"/>
            </a:solidFill>
            <a:prstDash val="solid"/>
          </a:ln>
        </p:spPr>
      </p:sp>
      <p:sp>
        <p:nvSpPr>
          <p:cNvPr id="20" name="Text 17"/>
          <p:cNvSpPr txBox="1"/>
          <p:nvPr/>
        </p:nvSpPr>
        <p:spPr>
          <a:xfrm>
            <a:off x="548640" y="4846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8"/>
          <p:cNvSpPr txBox="1"/>
          <p:nvPr/>
        </p:nvSpPr>
        <p:spPr>
          <a:xfrm>
            <a:off x="1097280" y="4791456"/>
            <a:ext cx="6217920" cy="649224"/>
          </a:xfrm>
          <a:prstGeom prst="rect">
            <a:avLst/>
          </a:prstGeom>
          <a:noFill/>
          <a:ln/>
        </p:spPr>
        <p:txBody>
          <a:bodyPr wrap="square" lIns="0" tIns="0" rIns="0" bIns="0" rtlCol="0" anchor="t"/>
          <a:lstStyle/>
          <a:p>
            <a:pPr indent="0" marL="0">
              <a:buNone/>
            </a:pPr>
            <a:r>
              <a:rPr lang="en-US" sz="1500" dirty="0">
                <a:solidFill>
                  <a:schemeClr val="tx1"/>
                </a:solidFill>
              </a:rPr>
              <a:t>Calculer une carte de densité des linéaments</a:t>
            </a:r>
            <a:endParaRPr lang="en-US" sz="1500" dirty="0"/>
          </a:p>
        </p:txBody>
      </p:sp>
      <p:sp>
        <p:nvSpPr>
          <p:cNvPr id="22" name="panel"/>
          <p:cNvSpPr/>
          <p:nvPr/>
        </p:nvSpPr>
        <p:spPr>
          <a:xfrm>
            <a:off x="7680960" y="1417320"/>
            <a:ext cx="3931920" cy="4663440"/>
          </a:xfrm>
          <a:prstGeom prst="roundRect">
            <a:avLst>
              <a:gd name="adj" fmla="val 1860"/>
            </a:avLst>
          </a:prstGeom>
          <a:solidFill>
            <a:schemeClr val="bg2"/>
          </a:solidFill>
          <a:ln w="12700">
            <a:solidFill>
              <a:schemeClr val="bg2"/>
            </a:solidFill>
            <a:prstDash val="solid"/>
          </a:ln>
        </p:spPr>
      </p:sp>
      <p:sp>
        <p:nvSpPr>
          <p:cNvPr id="23" name="icon-circle"/>
          <p:cNvSpPr/>
          <p:nvPr/>
        </p:nvSpPr>
        <p:spPr>
          <a:xfrm>
            <a:off x="7909560" y="1645920"/>
            <a:ext cx="548640" cy="548640"/>
          </a:xfrm>
          <a:prstGeom prst="ellipse">
            <a:avLst/>
          </a:prstGeom>
          <a:solidFill>
            <a:srgbClr val="D9A441"/>
          </a:solidFill>
          <a:ln w="12700">
            <a:solidFill>
              <a:srgbClr val="D9A441"/>
            </a:solidFill>
            <a:prstDash val="solid"/>
          </a:ln>
        </p:spPr>
      </p:sp>
      <p:pic>
        <p:nvPicPr>
          <p:cNvPr id="24" name="icon" descr="preencoded.png">    </p:cNvPr>
          <p:cNvPicPr>
            <a:picLocks noChangeAspect="1"/>
          </p:cNvPicPr>
          <p:nvPr/>
        </p:nvPicPr>
        <p:blipFill>
          <a:blip r:embed="rId1"/>
          <a:stretch>
            <a:fillRect/>
          </a:stretch>
        </p:blipFill>
        <p:spPr>
          <a:xfrm>
            <a:off x="8030261" y="1766621"/>
            <a:ext cx="307238" cy="307238"/>
          </a:xfrm>
          <a:prstGeom prst="rect">
            <a:avLst/>
          </a:prstGeom>
        </p:spPr>
      </p:pic>
      <p:sp>
        <p:nvSpPr>
          <p:cNvPr id="25" name="Text 21"/>
          <p:cNvSpPr txBox="1"/>
          <p:nvPr/>
        </p:nvSpPr>
        <p:spPr>
          <a:xfrm>
            <a:off x="8595360" y="1645920"/>
            <a:ext cx="2834640" cy="548640"/>
          </a:xfrm>
          <a:prstGeom prst="rect">
            <a:avLst/>
          </a:prstGeom>
          <a:noFill/>
          <a:ln/>
        </p:spPr>
        <p:txBody>
          <a:bodyPr wrap="square" lIns="0" tIns="0" rIns="0" bIns="0" rtlCol="0" anchor="ctr"/>
          <a:lstStyle/>
          <a:p>
            <a:pPr indent="0" marL="0">
              <a:buNone/>
            </a:pPr>
            <a:r>
              <a:rPr lang="en-US" sz="1800" b="1" dirty="0">
                <a:solidFill>
                  <a:schemeClr val="tx2"/>
                </a:solidFill>
              </a:rPr>
              <a:t>Livrables J2</a:t>
            </a:r>
            <a:endParaRPr lang="en-US" sz="1800" dirty="0"/>
          </a:p>
        </p:txBody>
      </p:sp>
      <p:sp>
        <p:nvSpPr>
          <p:cNvPr id="26" name="Text 22"/>
          <p:cNvSpPr txBox="1"/>
          <p:nvPr/>
        </p:nvSpPr>
        <p:spPr>
          <a:xfrm>
            <a:off x="7955280" y="2377440"/>
            <a:ext cx="338328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Carte des anomalies spectrales</a:t>
            </a:r>
            <a:endParaRPr lang="en-US" sz="1500" dirty="0"/>
          </a:p>
          <a:p>
            <a:pPr marL="342900" indent="-342900">
              <a:spcAft>
                <a:spcPts val="600"/>
              </a:spcAft>
              <a:buSzPct val="100000"/>
              <a:buChar char="•"/>
            </a:pPr>
            <a:r>
              <a:rPr lang="en-US" sz="1500" dirty="0">
                <a:solidFill>
                  <a:schemeClr val="tx1"/>
                </a:solidFill>
              </a:rPr>
              <a:t>Carte des linéaments et rosace</a:t>
            </a:r>
            <a:endParaRPr lang="en-US" sz="1500" dirty="0"/>
          </a:p>
          <a:p>
            <a:pPr marL="342900" indent="-342900">
              <a:spcAft>
                <a:spcPts val="600"/>
              </a:spcAft>
              <a:buSzPct val="100000"/>
              <a:buChar char="•"/>
            </a:pPr>
            <a:r>
              <a:rPr lang="en-US" sz="1500" dirty="0">
                <a:solidFill>
                  <a:schemeClr val="tx1"/>
                </a:solidFill>
              </a:rPr>
              <a:t>Note d'une demi-page sur les limites de la zone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nchor="b"/>
          <a:lstStyle/>
          <a:p>
            <a:pPr algn="l" indent="0" marL="0">
              <a:buNone/>
            </a:pPr>
            <a:r>
              <a:rPr lang="en-US" sz="5400" b="1" dirty="0">
                <a:solidFill>
                  <a:srgbClr val="D9A441"/>
                </a:solidFill>
                <a:latin typeface="Cambria" pitchFamily="34" charset="0"/>
                <a:ea typeface="Cambria" pitchFamily="34" charset="-122"/>
                <a:cs typeface="Cambria" pitchFamily="34" charset="-120"/>
              </a:rPr>
              <a:t>Jour 3</a:t>
            </a: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Cas fil rouge : le Cameroun</a:t>
            </a: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nchor="t"/>
          <a:lstStyle/>
          <a:p>
            <a:pPr algn="l" indent="0" marL="0">
              <a:buNone/>
            </a:pPr>
            <a:r>
              <a:rPr lang="en-US" sz="1800" dirty="0">
                <a:solidFill>
                  <a:srgbClr val="CFD8DC"/>
                </a:solidFill>
                <a:latin typeface="Calibri" pitchFamily="34" charset="0"/>
                <a:ea typeface="Calibri" pitchFamily="34" charset="-122"/>
                <a:cs typeface="Calibri" pitchFamily="34" charset="-120"/>
              </a:rPr>
              <a:t>Un cas par groupe (or, bauxite ou fer), puis tous croisent leurs cibles avec le cadastre minier.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Programme du jour 3</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7223760"/>
                <a:gridCol w="18288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Horaire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Séquence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8 h 30 – 10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Le Cameroun minier : géologie, PRECASEM, code minier, artisanat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10 h 15 – 13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Cas A, B ou C selon le groupe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14 h 00 – 15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suivi de l'orpaillage et environnement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15 h 00 – 16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Exercice cadastre : cible × titres × aires protégées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16 h 00 – 16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Restitution croisée des trois cas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Le Cameroun dispose d'un patrimoine de données rare en Afrique centrale</a:t>
            </a:r>
            <a:endParaRPr lang="en-US" sz="3000" dirty="0"/>
          </a:p>
        </p:txBody>
      </p:sp>
      <p:sp>
        <p:nvSpPr>
          <p:cNvPr id="4" name="card"/>
          <p:cNvSpPr/>
          <p:nvPr/>
        </p:nvSpPr>
        <p:spPr>
          <a:xfrm>
            <a:off x="548640" y="1371600"/>
            <a:ext cx="2560320" cy="3657600"/>
          </a:xfrm>
          <a:prstGeom prst="roundRect">
            <a:avLst>
              <a:gd name="adj" fmla="val 2857"/>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Géologie</a:t>
            </a:r>
            <a:endParaRPr lang="en-US" sz="1700" dirty="0"/>
          </a:p>
        </p:txBody>
      </p:sp>
      <p:sp>
        <p:nvSpPr>
          <p:cNvPr id="8" name="Text 4"/>
          <p:cNvSpPr txBox="1"/>
          <p:nvPr/>
        </p:nvSpPr>
        <p:spPr>
          <a:xfrm>
            <a:off x="777240" y="2286000"/>
            <a:ext cx="2103120" cy="2606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Craton du Congo au sud</a:t>
            </a:r>
            <a:endParaRPr lang="en-US" sz="1400" dirty="0"/>
          </a:p>
          <a:p>
            <a:pPr marL="342900" indent="-342900">
              <a:spcAft>
                <a:spcPts val="400"/>
              </a:spcAft>
              <a:buSzPct val="100000"/>
              <a:buChar char="•"/>
            </a:pPr>
            <a:r>
              <a:rPr lang="en-US" sz="1400" dirty="0">
                <a:solidFill>
                  <a:schemeClr val="tx1"/>
                </a:solidFill>
              </a:rPr>
              <a:t>Chaîne panafricaine au centre et au nord</a:t>
            </a:r>
            <a:endParaRPr lang="en-US" sz="1400" dirty="0"/>
          </a:p>
          <a:p>
            <a:pPr marL="342900" indent="-342900">
              <a:spcAft>
                <a:spcPts val="400"/>
              </a:spcAft>
              <a:buSzPct val="100000"/>
              <a:buChar char="•"/>
            </a:pPr>
            <a:r>
              <a:rPr lang="en-US" sz="1400" dirty="0">
                <a:solidFill>
                  <a:schemeClr val="tx1"/>
                </a:solidFill>
              </a:rPr>
              <a:t>Or, fer, bauxite, étain, cobalt-nickel</a:t>
            </a:r>
            <a:endParaRPr lang="en-US" sz="1400" dirty="0"/>
          </a:p>
        </p:txBody>
      </p:sp>
      <p:sp>
        <p:nvSpPr>
          <p:cNvPr id="9" name="card"/>
          <p:cNvSpPr/>
          <p:nvPr/>
        </p:nvSpPr>
        <p:spPr>
          <a:xfrm>
            <a:off x="3383280" y="1371600"/>
            <a:ext cx="2560320" cy="3657600"/>
          </a:xfrm>
          <a:prstGeom prst="roundRect">
            <a:avLst>
              <a:gd name="adj" fmla="val 2857"/>
            </a:avLst>
          </a:prstGeom>
          <a:solidFill>
            <a:schemeClr val="bg2"/>
          </a:solidFill>
          <a:ln w="12700">
            <a:solidFill>
              <a:schemeClr val="bg2"/>
            </a:solidFill>
            <a:prstDash val="solid"/>
          </a:ln>
        </p:spPr>
      </p:sp>
      <p:sp>
        <p:nvSpPr>
          <p:cNvPr id="10" name="icon-circle"/>
          <p:cNvSpPr/>
          <p:nvPr/>
        </p:nvSpPr>
        <p:spPr>
          <a:xfrm>
            <a:off x="361188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3732581" y="1720901"/>
            <a:ext cx="307238" cy="307238"/>
          </a:xfrm>
          <a:prstGeom prst="rect">
            <a:avLst/>
          </a:prstGeom>
        </p:spPr>
      </p:pic>
      <p:sp>
        <p:nvSpPr>
          <p:cNvPr id="12" name="Text 7"/>
          <p:cNvSpPr txBox="1"/>
          <p:nvPr/>
        </p:nvSpPr>
        <p:spPr>
          <a:xfrm>
            <a:off x="429768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PRECASEM</a:t>
            </a:r>
            <a:endParaRPr lang="en-US" sz="1700" dirty="0"/>
          </a:p>
        </p:txBody>
      </p:sp>
      <p:sp>
        <p:nvSpPr>
          <p:cNvPr id="13" name="Text 8"/>
          <p:cNvSpPr txBox="1"/>
          <p:nvPr/>
        </p:nvSpPr>
        <p:spPr>
          <a:xfrm>
            <a:off x="3611880" y="2286000"/>
            <a:ext cx="2103120" cy="2606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Projet Banque mondiale depuis 2010</a:t>
            </a:r>
            <a:endParaRPr lang="en-US" sz="1400" dirty="0"/>
          </a:p>
          <a:p>
            <a:pPr marL="342900" indent="-342900">
              <a:spcAft>
                <a:spcPts val="400"/>
              </a:spcAft>
              <a:buSzPct val="100000"/>
              <a:buChar char="•"/>
            </a:pPr>
            <a:r>
              <a:rPr lang="en-US" sz="1400" dirty="0">
                <a:solidFill>
                  <a:schemeClr val="tx1"/>
                </a:solidFill>
              </a:rPr>
              <a:t>Cartes géologiques, géochimie</a:t>
            </a:r>
            <a:endParaRPr lang="en-US" sz="1400" dirty="0"/>
          </a:p>
          <a:p>
            <a:pPr marL="342900" indent="-342900">
              <a:spcAft>
                <a:spcPts val="400"/>
              </a:spcAft>
              <a:buSzPct val="100000"/>
              <a:buChar char="•"/>
            </a:pPr>
            <a:r>
              <a:rPr lang="en-US" sz="1400" dirty="0">
                <a:solidFill>
                  <a:schemeClr val="tx1"/>
                </a:solidFill>
              </a:rPr>
              <a:t>Géophysique aéroportée</a:t>
            </a:r>
            <a:endParaRPr lang="en-US" sz="1400" dirty="0"/>
          </a:p>
        </p:txBody>
      </p:sp>
      <p:sp>
        <p:nvSpPr>
          <p:cNvPr id="14" name="card"/>
          <p:cNvSpPr/>
          <p:nvPr/>
        </p:nvSpPr>
        <p:spPr>
          <a:xfrm>
            <a:off x="6217920" y="1371600"/>
            <a:ext cx="2560320" cy="3657600"/>
          </a:xfrm>
          <a:prstGeom prst="roundRect">
            <a:avLst>
              <a:gd name="adj" fmla="val 2857"/>
            </a:avLst>
          </a:prstGeom>
          <a:solidFill>
            <a:schemeClr val="bg2"/>
          </a:solidFill>
          <a:ln w="12700">
            <a:solidFill>
              <a:schemeClr val="bg2"/>
            </a:solidFill>
            <a:prstDash val="solid"/>
          </a:ln>
        </p:spPr>
      </p:sp>
      <p:sp>
        <p:nvSpPr>
          <p:cNvPr id="15" name="icon-circle"/>
          <p:cNvSpPr/>
          <p:nvPr/>
        </p:nvSpPr>
        <p:spPr>
          <a:xfrm>
            <a:off x="644652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6567221" y="1720901"/>
            <a:ext cx="307238" cy="307238"/>
          </a:xfrm>
          <a:prstGeom prst="rect">
            <a:avLst/>
          </a:prstGeom>
        </p:spPr>
      </p:pic>
      <p:sp>
        <p:nvSpPr>
          <p:cNvPr id="17" name="Text 11"/>
          <p:cNvSpPr txBox="1"/>
          <p:nvPr/>
        </p:nvSpPr>
        <p:spPr>
          <a:xfrm>
            <a:off x="713232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Cadre légal</a:t>
            </a:r>
            <a:endParaRPr lang="en-US" sz="1700" dirty="0"/>
          </a:p>
        </p:txBody>
      </p:sp>
      <p:sp>
        <p:nvSpPr>
          <p:cNvPr id="18" name="Text 12"/>
          <p:cNvSpPr txBox="1"/>
          <p:nvPr/>
        </p:nvSpPr>
        <p:spPr>
          <a:xfrm>
            <a:off x="6446520" y="2286000"/>
            <a:ext cx="2103120" cy="2606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Code minier de décembre 2023</a:t>
            </a:r>
            <a:endParaRPr lang="en-US" sz="1400" dirty="0"/>
          </a:p>
          <a:p>
            <a:pPr marL="342900" indent="-342900">
              <a:spcAft>
                <a:spcPts val="400"/>
              </a:spcAft>
              <a:buSzPct val="100000"/>
              <a:buChar char="•"/>
            </a:pPr>
            <a:r>
              <a:rPr lang="en-US" sz="1400" dirty="0">
                <a:solidFill>
                  <a:schemeClr val="tx1"/>
                </a:solidFill>
              </a:rPr>
              <a:t>Portail public du cadastre minier</a:t>
            </a:r>
            <a:endParaRPr lang="en-US" sz="1400" dirty="0"/>
          </a:p>
          <a:p>
            <a:pPr marL="342900" indent="-342900">
              <a:spcAft>
                <a:spcPts val="400"/>
              </a:spcAft>
              <a:buSzPct val="100000"/>
              <a:buChar char="•"/>
            </a:pPr>
            <a:r>
              <a:rPr lang="en-US" sz="1400" dirty="0">
                <a:solidFill>
                  <a:schemeClr val="tx1"/>
                </a:solidFill>
              </a:rPr>
              <a:t>Données à jour à vérifier</a:t>
            </a:r>
            <a:endParaRPr lang="en-US" sz="1400" dirty="0"/>
          </a:p>
        </p:txBody>
      </p:sp>
      <p:sp>
        <p:nvSpPr>
          <p:cNvPr id="19" name="card"/>
          <p:cNvSpPr/>
          <p:nvPr/>
        </p:nvSpPr>
        <p:spPr>
          <a:xfrm>
            <a:off x="9052560" y="1371600"/>
            <a:ext cx="2560320" cy="3657600"/>
          </a:xfrm>
          <a:prstGeom prst="roundRect">
            <a:avLst>
              <a:gd name="adj" fmla="val 2857"/>
            </a:avLst>
          </a:prstGeom>
          <a:solidFill>
            <a:schemeClr val="bg2"/>
          </a:solidFill>
          <a:ln w="12700">
            <a:solidFill>
              <a:schemeClr val="bg2"/>
            </a:solidFill>
            <a:prstDash val="solid"/>
          </a:ln>
        </p:spPr>
      </p:sp>
      <p:sp>
        <p:nvSpPr>
          <p:cNvPr id="20" name="icon-circle"/>
          <p:cNvSpPr/>
          <p:nvPr/>
        </p:nvSpPr>
        <p:spPr>
          <a:xfrm>
            <a:off x="9281160" y="1600200"/>
            <a:ext cx="548640" cy="548640"/>
          </a:xfrm>
          <a:prstGeom prst="ellipse">
            <a:avLst/>
          </a:prstGeom>
          <a:solidFill>
            <a:srgbClr val="D9A441"/>
          </a:solidFill>
          <a:ln w="12700">
            <a:solidFill>
              <a:srgbClr val="D9A441"/>
            </a:solidFill>
            <a:prstDash val="solid"/>
          </a:ln>
        </p:spPr>
      </p:sp>
      <p:pic>
        <p:nvPicPr>
          <p:cNvPr id="21" name="icon" descr="preencoded.png">    </p:cNvPr>
          <p:cNvPicPr>
            <a:picLocks noChangeAspect="1"/>
          </p:cNvPicPr>
          <p:nvPr/>
        </p:nvPicPr>
        <p:blipFill>
          <a:blip r:embed="rId4"/>
          <a:stretch>
            <a:fillRect/>
          </a:stretch>
        </p:blipFill>
        <p:spPr>
          <a:xfrm>
            <a:off x="9401861" y="1720901"/>
            <a:ext cx="307238" cy="307238"/>
          </a:xfrm>
          <a:prstGeom prst="rect">
            <a:avLst/>
          </a:prstGeom>
        </p:spPr>
      </p:pic>
      <p:sp>
        <p:nvSpPr>
          <p:cNvPr id="22" name="Text 15"/>
          <p:cNvSpPr txBox="1"/>
          <p:nvPr/>
        </p:nvSpPr>
        <p:spPr>
          <a:xfrm>
            <a:off x="9966960" y="15544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Artisanat</a:t>
            </a:r>
            <a:endParaRPr lang="en-US" sz="1700" dirty="0"/>
          </a:p>
        </p:txBody>
      </p:sp>
      <p:sp>
        <p:nvSpPr>
          <p:cNvPr id="23" name="Text 16"/>
          <p:cNvSpPr txBox="1"/>
          <p:nvPr/>
        </p:nvSpPr>
        <p:spPr>
          <a:xfrm>
            <a:off x="9281160" y="2286000"/>
            <a:ext cx="2103120" cy="2606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Orpaillage important dans l'Est</a:t>
            </a:r>
            <a:endParaRPr lang="en-US" sz="1400" dirty="0"/>
          </a:p>
          <a:p>
            <a:pPr marL="342900" indent="-342900">
              <a:spcAft>
                <a:spcPts val="400"/>
              </a:spcAft>
              <a:buSzPct val="100000"/>
              <a:buChar char="•"/>
            </a:pPr>
            <a:r>
              <a:rPr lang="en-US" sz="1400" dirty="0">
                <a:solidFill>
                  <a:schemeClr val="tx1"/>
                </a:solidFill>
              </a:rPr>
              <a:t>Enjeux environnementaux et de traçabilité</a:t>
            </a:r>
            <a:endParaRPr lang="en-US" sz="1400" dirty="0"/>
          </a:p>
          <a:p>
            <a:pPr marL="342900" indent="-342900">
              <a:spcAft>
                <a:spcPts val="400"/>
              </a:spcAft>
              <a:buSzPct val="100000"/>
              <a:buChar char="•"/>
            </a:pPr>
            <a:r>
              <a:rPr lang="en-US" sz="1400" dirty="0">
                <a:solidFill>
                  <a:schemeClr val="tx1"/>
                </a:solidFill>
              </a:rPr>
              <a:t>Objet d'un module dédié</a:t>
            </a:r>
            <a:endParaRPr lang="en-US" sz="1400" dirty="0"/>
          </a:p>
        </p:txBody>
      </p:sp>
      <p:sp>
        <p:nvSpPr>
          <p:cNvPr id="24" name="callout"/>
          <p:cNvSpPr/>
          <p:nvPr/>
        </p:nvSpPr>
        <p:spPr>
          <a:xfrm>
            <a:off x="548640" y="5349240"/>
            <a:ext cx="11064240" cy="640080"/>
          </a:xfrm>
          <a:prstGeom prst="roundRect">
            <a:avLst>
              <a:gd name="adj" fmla="val 11429"/>
            </a:avLst>
          </a:prstGeom>
          <a:solidFill>
            <a:srgbClr val="B5542D">
              <a:alpha val="15000"/>
            </a:srgbClr>
          </a:solidFill>
          <a:ln w="12700">
            <a:solidFill>
              <a:srgbClr val="B5542D"/>
            </a:solidFill>
            <a:prstDash val="solid"/>
          </a:ln>
        </p:spPr>
      </p:sp>
      <p:sp>
        <p:nvSpPr>
          <p:cNvPr id="25" name="icon-circle"/>
          <p:cNvSpPr/>
          <p:nvPr/>
        </p:nvSpPr>
        <p:spPr>
          <a:xfrm>
            <a:off x="685800" y="5468112"/>
            <a:ext cx="402336" cy="402336"/>
          </a:xfrm>
          <a:prstGeom prst="ellipse">
            <a:avLst/>
          </a:prstGeom>
          <a:solidFill>
            <a:srgbClr val="B5542D"/>
          </a:solidFill>
          <a:ln w="12700">
            <a:solidFill>
              <a:srgbClr val="B5542D"/>
            </a:solidFill>
            <a:prstDash val="solid"/>
          </a:ln>
        </p:spPr>
      </p:sp>
      <p:pic>
        <p:nvPicPr>
          <p:cNvPr id="26" name="icon" descr="preencoded.png">    </p:cNvPr>
          <p:cNvPicPr>
            <a:picLocks noChangeAspect="1"/>
          </p:cNvPicPr>
          <p:nvPr/>
        </p:nvPicPr>
        <p:blipFill>
          <a:blip r:embed="rId5"/>
          <a:stretch>
            <a:fillRect/>
          </a:stretch>
        </p:blipFill>
        <p:spPr>
          <a:xfrm>
            <a:off x="774314" y="5556626"/>
            <a:ext cx="225308" cy="225308"/>
          </a:xfrm>
          <a:prstGeom prst="rect">
            <a:avLst/>
          </a:prstGeom>
        </p:spPr>
      </p:pic>
      <p:sp>
        <p:nvSpPr>
          <p:cNvPr id="27" name="Text 19"/>
          <p:cNvSpPr txBox="1"/>
          <p:nvPr/>
        </p:nvSpPr>
        <p:spPr>
          <a:xfrm>
            <a:off x="1234440" y="5349240"/>
            <a:ext cx="10195560" cy="640080"/>
          </a:xfrm>
          <a:prstGeom prst="rect">
            <a:avLst/>
          </a:prstGeom>
          <a:noFill/>
          <a:ln/>
        </p:spPr>
        <p:txBody>
          <a:bodyPr wrap="square" lIns="0" tIns="0" rIns="0" bIns="0" rtlCol="0" anchor="ctr"/>
          <a:lstStyle/>
          <a:p>
            <a:pPr indent="0" marL="0">
              <a:buNone/>
            </a:pPr>
            <a:r>
              <a:rPr lang="en-US" sz="1500" dirty="0">
                <a:solidFill>
                  <a:schemeClr val="tx2"/>
                </a:solidFill>
              </a:rPr>
              <a:t>Avant diffusion : obtenir l'accord écrit d'utilisation des données PRECASEM pour la formation.</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Trois cas, trois logiques d'exploration</a:t>
            </a:r>
            <a:endParaRPr lang="en-US" sz="3000" dirty="0"/>
          </a:p>
        </p:txBody>
      </p:sp>
      <p:sp>
        <p:nvSpPr>
          <p:cNvPr id="4" name="card"/>
          <p:cNvSpPr/>
          <p:nvPr/>
        </p:nvSpPr>
        <p:spPr>
          <a:xfrm>
            <a:off x="548640" y="1371600"/>
            <a:ext cx="3505200" cy="4754880"/>
          </a:xfrm>
          <a:prstGeom prst="roundRect">
            <a:avLst>
              <a:gd name="adj" fmla="val 2087"/>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D9A441"/>
          </a:solidFill>
          <a:ln w="12700">
            <a:solidFill>
              <a:srgbClr val="D9A441"/>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Cas A — Or</a:t>
            </a:r>
            <a:endParaRPr lang="en-US" sz="1700" dirty="0"/>
          </a:p>
        </p:txBody>
      </p:sp>
      <p:sp>
        <p:nvSpPr>
          <p:cNvPr id="8" name="Text 4"/>
          <p:cNvSpPr txBox="1"/>
          <p:nvPr/>
        </p:nvSpPr>
        <p:spPr>
          <a:xfrm>
            <a:off x="777240" y="2286000"/>
            <a:ext cx="3048000" cy="3703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Est : Bertoua – Batouri – Bétaré-Oya</a:t>
            </a:r>
            <a:endParaRPr lang="en-US" sz="1400" dirty="0"/>
          </a:p>
          <a:p>
            <a:pPr marL="342900" indent="-342900">
              <a:spcAft>
                <a:spcPts val="400"/>
              </a:spcAft>
              <a:buSzPct val="100000"/>
              <a:buChar char="•"/>
            </a:pPr>
            <a:r>
              <a:rPr lang="en-US" sz="1400" dirty="0">
                <a:solidFill>
                  <a:schemeClr val="tx1"/>
                </a:solidFill>
              </a:rPr>
              <a:t>Structures + géochimie + lithologie</a:t>
            </a:r>
            <a:endParaRPr lang="en-US" sz="1400" dirty="0"/>
          </a:p>
          <a:p>
            <a:pPr marL="342900" indent="-342900">
              <a:spcAft>
                <a:spcPts val="400"/>
              </a:spcAft>
              <a:buSzPct val="100000"/>
              <a:buChar char="•"/>
            </a:pPr>
            <a:r>
              <a:rPr lang="en-US" sz="1400" dirty="0">
                <a:solidFill>
                  <a:schemeClr val="tx1"/>
                </a:solidFill>
              </a:rPr>
              <a:t>Spectral peu utile sous forêt</a:t>
            </a:r>
            <a:endParaRPr lang="en-US" sz="1400" dirty="0"/>
          </a:p>
        </p:txBody>
      </p:sp>
      <p:sp>
        <p:nvSpPr>
          <p:cNvPr id="9" name="card"/>
          <p:cNvSpPr/>
          <p:nvPr/>
        </p:nvSpPr>
        <p:spPr>
          <a:xfrm>
            <a:off x="4328160" y="1371600"/>
            <a:ext cx="3505200" cy="4754880"/>
          </a:xfrm>
          <a:prstGeom prst="roundRect">
            <a:avLst>
              <a:gd name="adj" fmla="val 2087"/>
            </a:avLst>
          </a:prstGeom>
          <a:solidFill>
            <a:schemeClr val="bg2"/>
          </a:solidFill>
          <a:ln w="12700">
            <a:solidFill>
              <a:schemeClr val="bg2"/>
            </a:solidFill>
            <a:prstDash val="solid"/>
          </a:ln>
        </p:spPr>
      </p:sp>
      <p:sp>
        <p:nvSpPr>
          <p:cNvPr id="10" name="icon-circle"/>
          <p:cNvSpPr/>
          <p:nvPr/>
        </p:nvSpPr>
        <p:spPr>
          <a:xfrm>
            <a:off x="4556760" y="1600200"/>
            <a:ext cx="548640" cy="548640"/>
          </a:xfrm>
          <a:prstGeom prst="ellipse">
            <a:avLst/>
          </a:prstGeom>
          <a:solidFill>
            <a:srgbClr val="B5542D"/>
          </a:solidFill>
          <a:ln w="12700">
            <a:solidFill>
              <a:srgbClr val="B5542D"/>
            </a:solidFill>
            <a:prstDash val="solid"/>
          </a:ln>
        </p:spPr>
      </p:sp>
      <p:pic>
        <p:nvPicPr>
          <p:cNvPr id="11" name="icon" descr="preencoded.png">    </p:cNvPr>
          <p:cNvPicPr>
            <a:picLocks noChangeAspect="1"/>
          </p:cNvPicPr>
          <p:nvPr/>
        </p:nvPicPr>
        <p:blipFill>
          <a:blip r:embed="rId2"/>
          <a:stretch>
            <a:fillRect/>
          </a:stretch>
        </p:blipFill>
        <p:spPr>
          <a:xfrm>
            <a:off x="4677461" y="1720901"/>
            <a:ext cx="307238" cy="307238"/>
          </a:xfrm>
          <a:prstGeom prst="rect">
            <a:avLst/>
          </a:prstGeom>
        </p:spPr>
      </p:pic>
      <p:sp>
        <p:nvSpPr>
          <p:cNvPr id="12" name="Text 7"/>
          <p:cNvSpPr txBox="1"/>
          <p:nvPr/>
        </p:nvSpPr>
        <p:spPr>
          <a:xfrm>
            <a:off x="524256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Cas B — Bauxite</a:t>
            </a:r>
            <a:endParaRPr lang="en-US" sz="1700" dirty="0"/>
          </a:p>
        </p:txBody>
      </p:sp>
      <p:sp>
        <p:nvSpPr>
          <p:cNvPr id="13" name="Text 8"/>
          <p:cNvSpPr txBox="1"/>
          <p:nvPr/>
        </p:nvSpPr>
        <p:spPr>
          <a:xfrm>
            <a:off x="4556760" y="2286000"/>
            <a:ext cx="3048000" cy="3703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Adamaoua : Minim-Martap, Ngaoundal</a:t>
            </a:r>
            <a:endParaRPr lang="en-US" sz="1400" dirty="0"/>
          </a:p>
          <a:p>
            <a:pPr marL="342900" indent="-342900">
              <a:spcAft>
                <a:spcPts val="400"/>
              </a:spcAft>
              <a:buSzPct val="100000"/>
              <a:buChar char="•"/>
            </a:pPr>
            <a:r>
              <a:rPr lang="en-US" sz="1400" dirty="0">
                <a:solidFill>
                  <a:schemeClr val="tx1"/>
                </a:solidFill>
              </a:rPr>
              <a:t>Plateaux latéritiques</a:t>
            </a:r>
            <a:endParaRPr lang="en-US" sz="1400" dirty="0"/>
          </a:p>
          <a:p>
            <a:pPr marL="342900" indent="-342900">
              <a:spcAft>
                <a:spcPts val="400"/>
              </a:spcAft>
              <a:buSzPct val="100000"/>
              <a:buChar char="•"/>
            </a:pPr>
            <a:r>
              <a:rPr lang="en-US" sz="1400" dirty="0">
                <a:solidFill>
                  <a:schemeClr val="tx1"/>
                </a:solidFill>
              </a:rPr>
              <a:t>MNT et classification de surface</a:t>
            </a:r>
            <a:endParaRPr lang="en-US" sz="1400" dirty="0"/>
          </a:p>
        </p:txBody>
      </p:sp>
      <p:sp>
        <p:nvSpPr>
          <p:cNvPr id="14" name="card"/>
          <p:cNvSpPr/>
          <p:nvPr/>
        </p:nvSpPr>
        <p:spPr>
          <a:xfrm>
            <a:off x="8107680" y="1371600"/>
            <a:ext cx="3505200" cy="4754880"/>
          </a:xfrm>
          <a:prstGeom prst="roundRect">
            <a:avLst>
              <a:gd name="adj" fmla="val 2087"/>
            </a:avLst>
          </a:prstGeom>
          <a:solidFill>
            <a:schemeClr val="bg2"/>
          </a:solidFill>
          <a:ln w="12700">
            <a:solidFill>
              <a:schemeClr val="bg2"/>
            </a:solidFill>
            <a:prstDash val="solid"/>
          </a:ln>
        </p:spPr>
      </p:sp>
      <p:sp>
        <p:nvSpPr>
          <p:cNvPr id="15" name="icon-circle"/>
          <p:cNvSpPr/>
          <p:nvPr/>
        </p:nvSpPr>
        <p:spPr>
          <a:xfrm>
            <a:off x="8336280" y="1600200"/>
            <a:ext cx="548640" cy="548640"/>
          </a:xfrm>
          <a:prstGeom prst="ellipse">
            <a:avLst/>
          </a:prstGeom>
          <a:solidFill>
            <a:srgbClr val="6B7780"/>
          </a:solidFill>
          <a:ln w="12700">
            <a:solidFill>
              <a:srgbClr val="6B7780"/>
            </a:solidFill>
            <a:prstDash val="solid"/>
          </a:ln>
        </p:spPr>
      </p:sp>
      <p:pic>
        <p:nvPicPr>
          <p:cNvPr id="16" name="icon" descr="preencoded.png">    </p:cNvPr>
          <p:cNvPicPr>
            <a:picLocks noChangeAspect="1"/>
          </p:cNvPicPr>
          <p:nvPr/>
        </p:nvPicPr>
        <p:blipFill>
          <a:blip r:embed="rId3"/>
          <a:stretch>
            <a:fillRect/>
          </a:stretch>
        </p:blipFill>
        <p:spPr>
          <a:xfrm>
            <a:off x="8456981" y="1720901"/>
            <a:ext cx="307238" cy="307238"/>
          </a:xfrm>
          <a:prstGeom prst="rect">
            <a:avLst/>
          </a:prstGeom>
        </p:spPr>
      </p:pic>
      <p:sp>
        <p:nvSpPr>
          <p:cNvPr id="17" name="Text 11"/>
          <p:cNvSpPr txBox="1"/>
          <p:nvPr/>
        </p:nvSpPr>
        <p:spPr>
          <a:xfrm>
            <a:off x="902208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Cas C — Fer</a:t>
            </a:r>
            <a:endParaRPr lang="en-US" sz="1700" dirty="0"/>
          </a:p>
        </p:txBody>
      </p:sp>
      <p:sp>
        <p:nvSpPr>
          <p:cNvPr id="18" name="Text 12"/>
          <p:cNvSpPr txBox="1"/>
          <p:nvPr/>
        </p:nvSpPr>
        <p:spPr>
          <a:xfrm>
            <a:off x="8336280" y="2286000"/>
            <a:ext cx="3048000" cy="3703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Sud et Est : Mbalam, Nkout, Kribi</a:t>
            </a:r>
            <a:endParaRPr lang="en-US" sz="1400" dirty="0"/>
          </a:p>
          <a:p>
            <a:pPr marL="342900" indent="-342900">
              <a:spcAft>
                <a:spcPts val="400"/>
              </a:spcAft>
              <a:buSzPct val="100000"/>
              <a:buChar char="•"/>
            </a:pPr>
            <a:r>
              <a:rPr lang="en-US" sz="1400" dirty="0">
                <a:solidFill>
                  <a:schemeClr val="tx1"/>
                </a:solidFill>
              </a:rPr>
              <a:t>Formations ferrifères rubanées</a:t>
            </a:r>
            <a:endParaRPr lang="en-US" sz="1400" dirty="0"/>
          </a:p>
          <a:p>
            <a:pPr marL="342900" indent="-342900">
              <a:spcAft>
                <a:spcPts val="400"/>
              </a:spcAft>
              <a:buSzPct val="100000"/>
              <a:buChar char="•"/>
            </a:pPr>
            <a:r>
              <a:rPr lang="en-US" sz="1400" dirty="0">
                <a:solidFill>
                  <a:schemeClr val="tx1"/>
                </a:solidFill>
              </a:rPr>
              <a:t>Logistique rail-port décisive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Cas A — Or : combiner structures, lithologie et géochimie</a:t>
            </a:r>
            <a:endParaRPr lang="en-US" sz="3000" dirty="0"/>
          </a:p>
        </p:txBody>
      </p:sp>
      <p:sp>
        <p:nvSpPr>
          <p:cNvPr id="4" name="step"/>
          <p:cNvSpPr/>
          <p:nvPr/>
        </p:nvSpPr>
        <p:spPr>
          <a:xfrm>
            <a:off x="548640" y="1463040"/>
            <a:ext cx="1920240" cy="2103120"/>
          </a:xfrm>
          <a:prstGeom prst="roundRect">
            <a:avLst>
              <a:gd name="adj" fmla="val 3810"/>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Géologie</a:t>
            </a:r>
            <a:endParaRPr lang="en-US" sz="1500" dirty="0"/>
          </a:p>
        </p:txBody>
      </p:sp>
      <p:sp>
        <p:nvSpPr>
          <p:cNvPr id="8" name="Text 5"/>
          <p:cNvSpPr txBox="1"/>
          <p:nvPr/>
        </p:nvSpPr>
        <p:spPr>
          <a:xfrm>
            <a:off x="713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Lithologies favorables, contacts</a:t>
            </a:r>
            <a:endParaRPr lang="en-US" sz="1400" dirty="0"/>
          </a:p>
        </p:txBody>
      </p:sp>
      <p:sp>
        <p:nvSpPr>
          <p:cNvPr id="9" name="arrow"/>
          <p:cNvSpPr/>
          <p:nvPr/>
        </p:nvSpPr>
        <p:spPr>
          <a:xfrm>
            <a:off x="2542032" y="2386584"/>
            <a:ext cx="219456" cy="256032"/>
          </a:xfrm>
          <a:prstGeom prst="rightArrow">
            <a:avLst/>
          </a:prstGeom>
          <a:solidFill>
            <a:srgbClr val="9AA5AC"/>
          </a:solidFill>
          <a:ln w="12700">
            <a:solidFill>
              <a:srgbClr val="9AA5AC"/>
            </a:solidFill>
            <a:prstDash val="solid"/>
          </a:ln>
        </p:spPr>
      </p:sp>
      <p:sp>
        <p:nvSpPr>
          <p:cNvPr id="10" name="step"/>
          <p:cNvSpPr/>
          <p:nvPr/>
        </p:nvSpPr>
        <p:spPr>
          <a:xfrm>
            <a:off x="2834640" y="1463040"/>
            <a:ext cx="1920240" cy="2103120"/>
          </a:xfrm>
          <a:prstGeom prst="roundRect">
            <a:avLst>
              <a:gd name="adj" fmla="val 3810"/>
            </a:avLst>
          </a:prstGeom>
          <a:solidFill>
            <a:srgbClr val="EEF2F3"/>
          </a:solidFill>
          <a:ln w="12700">
            <a:solidFill>
              <a:srgbClr val="EEF2F3"/>
            </a:solidFill>
            <a:prstDash val="solid"/>
          </a:ln>
        </p:spPr>
      </p:sp>
      <p:sp>
        <p:nvSpPr>
          <p:cNvPr id="11" name="step-num"/>
          <p:cNvSpPr/>
          <p:nvPr/>
        </p:nvSpPr>
        <p:spPr>
          <a:xfrm>
            <a:off x="2999232" y="1627632"/>
            <a:ext cx="420624" cy="420624"/>
          </a:xfrm>
          <a:prstGeom prst="ellipse">
            <a:avLst/>
          </a:prstGeom>
          <a:solidFill>
            <a:srgbClr val="B5542D"/>
          </a:solidFill>
          <a:ln w="12700">
            <a:solidFill>
              <a:srgbClr val="B5542D"/>
            </a:solidFill>
            <a:prstDash val="solid"/>
          </a:ln>
        </p:spPr>
      </p:sp>
      <p:sp>
        <p:nvSpPr>
          <p:cNvPr id="12" name="Text 9"/>
          <p:cNvSpPr txBox="1"/>
          <p:nvPr/>
        </p:nvSpPr>
        <p:spPr>
          <a:xfrm>
            <a:off x="2999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493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Structures</a:t>
            </a:r>
            <a:endParaRPr lang="en-US" sz="1500" dirty="0"/>
          </a:p>
        </p:txBody>
      </p:sp>
      <p:sp>
        <p:nvSpPr>
          <p:cNvPr id="14" name="Text 11"/>
          <p:cNvSpPr txBox="1"/>
          <p:nvPr/>
        </p:nvSpPr>
        <p:spPr>
          <a:xfrm>
            <a:off x="2999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Cisaillements, linéaments J2, radar</a:t>
            </a:r>
            <a:endParaRPr lang="en-US" sz="1400" dirty="0"/>
          </a:p>
        </p:txBody>
      </p:sp>
      <p:sp>
        <p:nvSpPr>
          <p:cNvPr id="15" name="arrow"/>
          <p:cNvSpPr/>
          <p:nvPr/>
        </p:nvSpPr>
        <p:spPr>
          <a:xfrm>
            <a:off x="4828032" y="2386584"/>
            <a:ext cx="219456" cy="256032"/>
          </a:xfrm>
          <a:prstGeom prst="rightArrow">
            <a:avLst/>
          </a:prstGeom>
          <a:solidFill>
            <a:srgbClr val="9AA5AC"/>
          </a:solidFill>
          <a:ln w="12700">
            <a:solidFill>
              <a:srgbClr val="9AA5AC"/>
            </a:solidFill>
            <a:prstDash val="solid"/>
          </a:ln>
        </p:spPr>
      </p:sp>
      <p:sp>
        <p:nvSpPr>
          <p:cNvPr id="16" name="step"/>
          <p:cNvSpPr/>
          <p:nvPr/>
        </p:nvSpPr>
        <p:spPr>
          <a:xfrm>
            <a:off x="5120640" y="1463040"/>
            <a:ext cx="1920240" cy="2103120"/>
          </a:xfrm>
          <a:prstGeom prst="roundRect">
            <a:avLst>
              <a:gd name="adj" fmla="val 3810"/>
            </a:avLst>
          </a:prstGeom>
          <a:solidFill>
            <a:srgbClr val="EEF2F3"/>
          </a:solidFill>
          <a:ln w="12700">
            <a:solidFill>
              <a:srgbClr val="EEF2F3"/>
            </a:solidFill>
            <a:prstDash val="solid"/>
          </a:ln>
        </p:spPr>
      </p:sp>
      <p:sp>
        <p:nvSpPr>
          <p:cNvPr id="17" name="step-num"/>
          <p:cNvSpPr/>
          <p:nvPr/>
        </p:nvSpPr>
        <p:spPr>
          <a:xfrm>
            <a:off x="5285232" y="1627632"/>
            <a:ext cx="420624" cy="420624"/>
          </a:xfrm>
          <a:prstGeom prst="ellipse">
            <a:avLst/>
          </a:prstGeom>
          <a:solidFill>
            <a:srgbClr val="B5542D"/>
          </a:solidFill>
          <a:ln w="12700">
            <a:solidFill>
              <a:srgbClr val="B5542D"/>
            </a:solidFill>
            <a:prstDash val="solid"/>
          </a:ln>
        </p:spPr>
      </p:sp>
      <p:sp>
        <p:nvSpPr>
          <p:cNvPr id="18" name="Text 15"/>
          <p:cNvSpPr txBox="1"/>
          <p:nvPr/>
        </p:nvSpPr>
        <p:spPr>
          <a:xfrm>
            <a:off x="5285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5779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Géochimie</a:t>
            </a:r>
            <a:endParaRPr lang="en-US" sz="1500" dirty="0"/>
          </a:p>
        </p:txBody>
      </p:sp>
      <p:sp>
        <p:nvSpPr>
          <p:cNvPr id="20" name="Text 17"/>
          <p:cNvSpPr txBox="1"/>
          <p:nvPr/>
        </p:nvSpPr>
        <p:spPr>
          <a:xfrm>
            <a:off x="5285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Au et indicateurs As, Sb, W, Bi</a:t>
            </a:r>
            <a:endParaRPr lang="en-US" sz="1400" dirty="0"/>
          </a:p>
        </p:txBody>
      </p:sp>
      <p:sp>
        <p:nvSpPr>
          <p:cNvPr id="21" name="arrow"/>
          <p:cNvSpPr/>
          <p:nvPr/>
        </p:nvSpPr>
        <p:spPr>
          <a:xfrm>
            <a:off x="7114032" y="2386584"/>
            <a:ext cx="219456" cy="256032"/>
          </a:xfrm>
          <a:prstGeom prst="rightArrow">
            <a:avLst/>
          </a:prstGeom>
          <a:solidFill>
            <a:srgbClr val="9AA5AC"/>
          </a:solidFill>
          <a:ln w="12700">
            <a:solidFill>
              <a:srgbClr val="9AA5AC"/>
            </a:solidFill>
            <a:prstDash val="solid"/>
          </a:ln>
        </p:spPr>
      </p:sp>
      <p:sp>
        <p:nvSpPr>
          <p:cNvPr id="22" name="step"/>
          <p:cNvSpPr/>
          <p:nvPr/>
        </p:nvSpPr>
        <p:spPr>
          <a:xfrm>
            <a:off x="7406640" y="1463040"/>
            <a:ext cx="1920240" cy="2103120"/>
          </a:xfrm>
          <a:prstGeom prst="roundRect">
            <a:avLst>
              <a:gd name="adj" fmla="val 3810"/>
            </a:avLst>
          </a:prstGeom>
          <a:solidFill>
            <a:srgbClr val="EEF2F3"/>
          </a:solidFill>
          <a:ln w="12700">
            <a:solidFill>
              <a:srgbClr val="EEF2F3"/>
            </a:solidFill>
            <a:prstDash val="solid"/>
          </a:ln>
        </p:spPr>
      </p:sp>
      <p:sp>
        <p:nvSpPr>
          <p:cNvPr id="23" name="step-num"/>
          <p:cNvSpPr/>
          <p:nvPr/>
        </p:nvSpPr>
        <p:spPr>
          <a:xfrm>
            <a:off x="7571232" y="162763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7571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8065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Spectral</a:t>
            </a:r>
            <a:endParaRPr lang="en-US" sz="1500" dirty="0"/>
          </a:p>
        </p:txBody>
      </p:sp>
      <p:sp>
        <p:nvSpPr>
          <p:cNvPr id="26" name="Text 23"/>
          <p:cNvSpPr txBox="1"/>
          <p:nvPr/>
        </p:nvSpPr>
        <p:spPr>
          <a:xfrm>
            <a:off x="7571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Altérations là où le sol est visible</a:t>
            </a:r>
            <a:endParaRPr lang="en-US" sz="1400" dirty="0"/>
          </a:p>
        </p:txBody>
      </p:sp>
      <p:sp>
        <p:nvSpPr>
          <p:cNvPr id="27" name="arrow"/>
          <p:cNvSpPr/>
          <p:nvPr/>
        </p:nvSpPr>
        <p:spPr>
          <a:xfrm>
            <a:off x="9400032" y="2386584"/>
            <a:ext cx="219456" cy="256032"/>
          </a:xfrm>
          <a:prstGeom prst="rightArrow">
            <a:avLst/>
          </a:prstGeom>
          <a:solidFill>
            <a:srgbClr val="9AA5AC"/>
          </a:solidFill>
          <a:ln w="12700">
            <a:solidFill>
              <a:srgbClr val="9AA5AC"/>
            </a:solidFill>
            <a:prstDash val="solid"/>
          </a:ln>
        </p:spPr>
      </p:sp>
      <p:sp>
        <p:nvSpPr>
          <p:cNvPr id="28" name="step"/>
          <p:cNvSpPr/>
          <p:nvPr/>
        </p:nvSpPr>
        <p:spPr>
          <a:xfrm>
            <a:off x="9692640" y="1463040"/>
            <a:ext cx="1920240" cy="2103120"/>
          </a:xfrm>
          <a:prstGeom prst="roundRect">
            <a:avLst>
              <a:gd name="adj" fmla="val 3810"/>
            </a:avLst>
          </a:prstGeom>
          <a:solidFill>
            <a:srgbClr val="D9A441">
              <a:alpha val="30000"/>
            </a:srgbClr>
          </a:solidFill>
          <a:ln w="25400">
            <a:solidFill>
              <a:srgbClr val="D9A441"/>
            </a:solidFill>
            <a:prstDash val="solid"/>
          </a:ln>
        </p:spPr>
      </p:sp>
      <p:sp>
        <p:nvSpPr>
          <p:cNvPr id="29" name="step-num"/>
          <p:cNvSpPr/>
          <p:nvPr/>
        </p:nvSpPr>
        <p:spPr>
          <a:xfrm>
            <a:off x="9857232" y="1627632"/>
            <a:ext cx="420624" cy="420624"/>
          </a:xfrm>
          <a:prstGeom prst="ellipse">
            <a:avLst/>
          </a:prstGeom>
          <a:solidFill>
            <a:srgbClr val="D9A441"/>
          </a:solidFill>
          <a:ln w="12700">
            <a:solidFill>
              <a:srgbClr val="D9A441"/>
            </a:solidFill>
            <a:prstDash val="solid"/>
          </a:ln>
        </p:spPr>
      </p:sp>
      <p:sp>
        <p:nvSpPr>
          <p:cNvPr id="30" name="Text 27"/>
          <p:cNvSpPr txBox="1"/>
          <p:nvPr/>
        </p:nvSpPr>
        <p:spPr>
          <a:xfrm>
            <a:off x="9857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10351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Prospectivité</a:t>
            </a:r>
            <a:endParaRPr lang="en-US" sz="1500" dirty="0"/>
          </a:p>
        </p:txBody>
      </p:sp>
      <p:sp>
        <p:nvSpPr>
          <p:cNvPr id="32" name="Text 29"/>
          <p:cNvSpPr txBox="1"/>
          <p:nvPr/>
        </p:nvSpPr>
        <p:spPr>
          <a:xfrm>
            <a:off x="9857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Carte aurifère préliminaire</a:t>
            </a:r>
            <a:endParaRPr lang="en-US" sz="1400" dirty="0"/>
          </a:p>
        </p:txBody>
      </p:sp>
      <p:sp>
        <p:nvSpPr>
          <p:cNvPr id="33" name="panel"/>
          <p:cNvSpPr/>
          <p:nvPr/>
        </p:nvSpPr>
        <p:spPr>
          <a:xfrm>
            <a:off x="548640" y="3886200"/>
            <a:ext cx="11064240" cy="2194560"/>
          </a:xfrm>
          <a:prstGeom prst="roundRect">
            <a:avLst>
              <a:gd name="adj" fmla="val 3333"/>
            </a:avLst>
          </a:prstGeom>
          <a:solidFill>
            <a:schemeClr val="bg2"/>
          </a:solidFill>
          <a:ln w="12700">
            <a:solidFill>
              <a:schemeClr val="bg2"/>
            </a:solidFill>
            <a:prstDash val="solid"/>
          </a:ln>
        </p:spPr>
      </p:sp>
      <p:sp>
        <p:nvSpPr>
          <p:cNvPr id="34" name="icon-circle"/>
          <p:cNvSpPr/>
          <p:nvPr/>
        </p:nvSpPr>
        <p:spPr>
          <a:xfrm>
            <a:off x="777240" y="4114800"/>
            <a:ext cx="548640" cy="548640"/>
          </a:xfrm>
          <a:prstGeom prst="ellipse">
            <a:avLst/>
          </a:prstGeom>
          <a:solidFill>
            <a:srgbClr val="D9A441"/>
          </a:solidFill>
          <a:ln w="12700">
            <a:solidFill>
              <a:srgbClr val="D9A441"/>
            </a:solidFill>
            <a:prstDash val="solid"/>
          </a:ln>
        </p:spPr>
      </p:sp>
      <p:pic>
        <p:nvPicPr>
          <p:cNvPr id="35" name="icon" descr="preencoded.png">    </p:cNvPr>
          <p:cNvPicPr>
            <a:picLocks noChangeAspect="1"/>
          </p:cNvPicPr>
          <p:nvPr/>
        </p:nvPicPr>
        <p:blipFill>
          <a:blip r:embed="rId1"/>
          <a:stretch>
            <a:fillRect/>
          </a:stretch>
        </p:blipFill>
        <p:spPr>
          <a:xfrm>
            <a:off x="897941" y="4235501"/>
            <a:ext cx="307238" cy="307238"/>
          </a:xfrm>
          <a:prstGeom prst="rect">
            <a:avLst/>
          </a:prstGeom>
        </p:spPr>
      </p:pic>
      <p:sp>
        <p:nvSpPr>
          <p:cNvPr id="36" name="Text 32"/>
          <p:cNvSpPr txBox="1"/>
          <p:nvPr/>
        </p:nvSpPr>
        <p:spPr>
          <a:xfrm>
            <a:off x="1463040" y="4114800"/>
            <a:ext cx="9966960" cy="548640"/>
          </a:xfrm>
          <a:prstGeom prst="rect">
            <a:avLst/>
          </a:prstGeom>
          <a:noFill/>
          <a:ln/>
        </p:spPr>
        <p:txBody>
          <a:bodyPr wrap="square" lIns="0" tIns="0" rIns="0" bIns="0" rtlCol="0" anchor="ctr"/>
          <a:lstStyle/>
          <a:p>
            <a:pPr indent="0" marL="0">
              <a:buNone/>
            </a:pPr>
            <a:r>
              <a:rPr lang="en-US" sz="1800" b="1" dirty="0">
                <a:solidFill>
                  <a:schemeClr val="tx2"/>
                </a:solidFill>
              </a:rPr>
              <a:t>Mission du groupe</a:t>
            </a:r>
            <a:endParaRPr lang="en-US" sz="1800" dirty="0"/>
          </a:p>
        </p:txBody>
      </p:sp>
      <p:sp>
        <p:nvSpPr>
          <p:cNvPr id="37" name="Text 33"/>
          <p:cNvSpPr txBox="1"/>
          <p:nvPr/>
        </p:nvSpPr>
        <p:spPr>
          <a:xfrm>
            <a:off x="822960" y="4846320"/>
            <a:ext cx="10515600"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Repérer les zones où se combinent structures cisaillantes, lithologies favorables et anomalies géochimiques</a:t>
            </a:r>
            <a:endParaRPr lang="en-US" sz="1500" dirty="0"/>
          </a:p>
          <a:p>
            <a:pPr marL="342900" indent="-342900">
              <a:spcAft>
                <a:spcPts val="600"/>
              </a:spcAft>
              <a:buSzPct val="100000"/>
              <a:buChar char="•"/>
            </a:pPr>
            <a:r>
              <a:rPr lang="en-US" sz="1500" dirty="0">
                <a:solidFill>
                  <a:schemeClr val="tx1"/>
                </a:solidFill>
              </a:rPr>
              <a:t>Produire la carte géochimique (Au, As) et une carte de prospectivité préliminaire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Cas B — Bauxite : lire les plateaux latéritiques</a:t>
            </a:r>
            <a:endParaRPr lang="en-US" sz="3000" dirty="0"/>
          </a:p>
        </p:txBody>
      </p:sp>
      <p:sp>
        <p:nvSpPr>
          <p:cNvPr id="4" name="step"/>
          <p:cNvSpPr/>
          <p:nvPr/>
        </p:nvSpPr>
        <p:spPr>
          <a:xfrm>
            <a:off x="548640" y="1463040"/>
            <a:ext cx="1539240" cy="2103120"/>
          </a:xfrm>
          <a:prstGeom prst="roundRect">
            <a:avLst>
              <a:gd name="adj" fmla="val 4752"/>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658368" y="210312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Sentinel-2</a:t>
            </a:r>
            <a:endParaRPr lang="en-US" sz="1400" dirty="0"/>
          </a:p>
        </p:txBody>
      </p:sp>
      <p:sp>
        <p:nvSpPr>
          <p:cNvPr id="8" name="Text 5"/>
          <p:cNvSpPr txBox="1"/>
          <p:nvPr/>
        </p:nvSpPr>
        <p:spPr>
          <a:xfrm>
            <a:off x="713232" y="2578608"/>
            <a:ext cx="1210056" cy="914400"/>
          </a:xfrm>
          <a:prstGeom prst="rect">
            <a:avLst/>
          </a:prstGeom>
          <a:noFill/>
          <a:ln/>
        </p:spPr>
        <p:txBody>
          <a:bodyPr wrap="square" lIns="0" tIns="0" rIns="0" bIns="0" rtlCol="0" anchor="t"/>
          <a:lstStyle/>
          <a:p>
            <a:pPr indent="0" marL="0">
              <a:buNone/>
            </a:pPr>
            <a:r>
              <a:rPr lang="en-US" sz="1400" dirty="0">
                <a:solidFill>
                  <a:schemeClr val="tx1"/>
                </a:solidFill>
              </a:rPr>
              <a:t>Classification des surfaces</a:t>
            </a:r>
            <a:endParaRPr lang="en-US" sz="1400" dirty="0"/>
          </a:p>
        </p:txBody>
      </p:sp>
      <p:sp>
        <p:nvSpPr>
          <p:cNvPr id="9" name="arrow"/>
          <p:cNvSpPr/>
          <p:nvPr/>
        </p:nvSpPr>
        <p:spPr>
          <a:xfrm>
            <a:off x="2161032" y="2386584"/>
            <a:ext cx="219456" cy="256032"/>
          </a:xfrm>
          <a:prstGeom prst="rightArrow">
            <a:avLst/>
          </a:prstGeom>
          <a:solidFill>
            <a:srgbClr val="9AA5AC"/>
          </a:solidFill>
          <a:ln w="12700">
            <a:solidFill>
              <a:srgbClr val="9AA5AC"/>
            </a:solidFill>
            <a:prstDash val="solid"/>
          </a:ln>
        </p:spPr>
      </p:sp>
      <p:sp>
        <p:nvSpPr>
          <p:cNvPr id="10" name="step"/>
          <p:cNvSpPr/>
          <p:nvPr/>
        </p:nvSpPr>
        <p:spPr>
          <a:xfrm>
            <a:off x="2453640" y="1463040"/>
            <a:ext cx="1539240" cy="2103120"/>
          </a:xfrm>
          <a:prstGeom prst="roundRect">
            <a:avLst>
              <a:gd name="adj" fmla="val 4752"/>
            </a:avLst>
          </a:prstGeom>
          <a:solidFill>
            <a:srgbClr val="EEF2F3"/>
          </a:solidFill>
          <a:ln w="12700">
            <a:solidFill>
              <a:srgbClr val="EEF2F3"/>
            </a:solidFill>
            <a:prstDash val="solid"/>
          </a:ln>
        </p:spPr>
      </p:sp>
      <p:sp>
        <p:nvSpPr>
          <p:cNvPr id="11" name="step-num"/>
          <p:cNvSpPr/>
          <p:nvPr/>
        </p:nvSpPr>
        <p:spPr>
          <a:xfrm>
            <a:off x="2618232" y="1627632"/>
            <a:ext cx="420624" cy="420624"/>
          </a:xfrm>
          <a:prstGeom prst="ellipse">
            <a:avLst/>
          </a:prstGeom>
          <a:solidFill>
            <a:srgbClr val="B5542D"/>
          </a:solidFill>
          <a:ln w="12700">
            <a:solidFill>
              <a:srgbClr val="B5542D"/>
            </a:solidFill>
            <a:prstDash val="solid"/>
          </a:ln>
        </p:spPr>
      </p:sp>
      <p:sp>
        <p:nvSpPr>
          <p:cNvPr id="12" name="Text 9"/>
          <p:cNvSpPr txBox="1"/>
          <p:nvPr/>
        </p:nvSpPr>
        <p:spPr>
          <a:xfrm>
            <a:off x="2618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2563368" y="210312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Indices</a:t>
            </a:r>
            <a:endParaRPr lang="en-US" sz="1400" dirty="0"/>
          </a:p>
        </p:txBody>
      </p:sp>
      <p:sp>
        <p:nvSpPr>
          <p:cNvPr id="14" name="Text 11"/>
          <p:cNvSpPr txBox="1"/>
          <p:nvPr/>
        </p:nvSpPr>
        <p:spPr>
          <a:xfrm>
            <a:off x="2618232" y="2578608"/>
            <a:ext cx="1210056" cy="914400"/>
          </a:xfrm>
          <a:prstGeom prst="rect">
            <a:avLst/>
          </a:prstGeom>
          <a:noFill/>
          <a:ln/>
        </p:spPr>
        <p:txBody>
          <a:bodyPr wrap="square" lIns="0" tIns="0" rIns="0" bIns="0" rtlCol="0" anchor="t"/>
          <a:lstStyle/>
          <a:p>
            <a:pPr indent="0" marL="0">
              <a:buNone/>
            </a:pPr>
            <a:r>
              <a:rPr lang="en-US" sz="1400" dirty="0">
                <a:solidFill>
                  <a:schemeClr val="tx1"/>
                </a:solidFill>
              </a:rPr>
              <a:t>Oxydes de fer, sols nus</a:t>
            </a:r>
            <a:endParaRPr lang="en-US" sz="1400" dirty="0"/>
          </a:p>
        </p:txBody>
      </p:sp>
      <p:sp>
        <p:nvSpPr>
          <p:cNvPr id="15" name="arrow"/>
          <p:cNvSpPr/>
          <p:nvPr/>
        </p:nvSpPr>
        <p:spPr>
          <a:xfrm>
            <a:off x="4066032" y="2386584"/>
            <a:ext cx="219456" cy="256032"/>
          </a:xfrm>
          <a:prstGeom prst="rightArrow">
            <a:avLst/>
          </a:prstGeom>
          <a:solidFill>
            <a:srgbClr val="9AA5AC"/>
          </a:solidFill>
          <a:ln w="12700">
            <a:solidFill>
              <a:srgbClr val="9AA5AC"/>
            </a:solidFill>
            <a:prstDash val="solid"/>
          </a:ln>
        </p:spPr>
      </p:sp>
      <p:sp>
        <p:nvSpPr>
          <p:cNvPr id="16" name="step"/>
          <p:cNvSpPr/>
          <p:nvPr/>
        </p:nvSpPr>
        <p:spPr>
          <a:xfrm>
            <a:off x="4358640" y="1463040"/>
            <a:ext cx="1539240" cy="2103120"/>
          </a:xfrm>
          <a:prstGeom prst="roundRect">
            <a:avLst>
              <a:gd name="adj" fmla="val 4752"/>
            </a:avLst>
          </a:prstGeom>
          <a:solidFill>
            <a:srgbClr val="EEF2F3"/>
          </a:solidFill>
          <a:ln w="12700">
            <a:solidFill>
              <a:srgbClr val="EEF2F3"/>
            </a:solidFill>
            <a:prstDash val="solid"/>
          </a:ln>
        </p:spPr>
      </p:sp>
      <p:sp>
        <p:nvSpPr>
          <p:cNvPr id="17" name="step-num"/>
          <p:cNvSpPr/>
          <p:nvPr/>
        </p:nvSpPr>
        <p:spPr>
          <a:xfrm>
            <a:off x="4523232" y="1627632"/>
            <a:ext cx="420624" cy="420624"/>
          </a:xfrm>
          <a:prstGeom prst="ellipse">
            <a:avLst/>
          </a:prstGeom>
          <a:solidFill>
            <a:srgbClr val="B5542D"/>
          </a:solidFill>
          <a:ln w="12700">
            <a:solidFill>
              <a:srgbClr val="B5542D"/>
            </a:solidFill>
            <a:prstDash val="solid"/>
          </a:ln>
        </p:spPr>
      </p:sp>
      <p:sp>
        <p:nvSpPr>
          <p:cNvPr id="18" name="Text 15"/>
          <p:cNvSpPr txBox="1"/>
          <p:nvPr/>
        </p:nvSpPr>
        <p:spPr>
          <a:xfrm>
            <a:off x="452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4468368" y="210312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MNT</a:t>
            </a:r>
            <a:endParaRPr lang="en-US" sz="1400" dirty="0"/>
          </a:p>
        </p:txBody>
      </p:sp>
      <p:sp>
        <p:nvSpPr>
          <p:cNvPr id="20" name="Text 17"/>
          <p:cNvSpPr txBox="1"/>
          <p:nvPr/>
        </p:nvSpPr>
        <p:spPr>
          <a:xfrm>
            <a:off x="4523232" y="2578608"/>
            <a:ext cx="1210056" cy="914400"/>
          </a:xfrm>
          <a:prstGeom prst="rect">
            <a:avLst/>
          </a:prstGeom>
          <a:noFill/>
          <a:ln/>
        </p:spPr>
        <p:txBody>
          <a:bodyPr wrap="square" lIns="0" tIns="0" rIns="0" bIns="0" rtlCol="0" anchor="t"/>
          <a:lstStyle/>
          <a:p>
            <a:pPr indent="0" marL="0">
              <a:buNone/>
            </a:pPr>
            <a:r>
              <a:rPr lang="en-US" sz="1400" dirty="0">
                <a:solidFill>
                  <a:schemeClr val="tx1"/>
                </a:solidFill>
              </a:rPr>
              <a:t>Pente, altitude, plateaux</a:t>
            </a:r>
            <a:endParaRPr lang="en-US" sz="1400" dirty="0"/>
          </a:p>
        </p:txBody>
      </p:sp>
      <p:sp>
        <p:nvSpPr>
          <p:cNvPr id="21" name="arrow"/>
          <p:cNvSpPr/>
          <p:nvPr/>
        </p:nvSpPr>
        <p:spPr>
          <a:xfrm>
            <a:off x="5971032" y="2386584"/>
            <a:ext cx="219456" cy="256032"/>
          </a:xfrm>
          <a:prstGeom prst="rightArrow">
            <a:avLst/>
          </a:prstGeom>
          <a:solidFill>
            <a:srgbClr val="9AA5AC"/>
          </a:solidFill>
          <a:ln w="12700">
            <a:solidFill>
              <a:srgbClr val="9AA5AC"/>
            </a:solidFill>
            <a:prstDash val="solid"/>
          </a:ln>
        </p:spPr>
      </p:sp>
      <p:sp>
        <p:nvSpPr>
          <p:cNvPr id="22" name="step"/>
          <p:cNvSpPr/>
          <p:nvPr/>
        </p:nvSpPr>
        <p:spPr>
          <a:xfrm>
            <a:off x="6263640" y="1463040"/>
            <a:ext cx="1539240" cy="2103120"/>
          </a:xfrm>
          <a:prstGeom prst="roundRect">
            <a:avLst>
              <a:gd name="adj" fmla="val 4752"/>
            </a:avLst>
          </a:prstGeom>
          <a:solidFill>
            <a:srgbClr val="EEF2F3"/>
          </a:solidFill>
          <a:ln w="12700">
            <a:solidFill>
              <a:srgbClr val="EEF2F3"/>
            </a:solidFill>
            <a:prstDash val="solid"/>
          </a:ln>
        </p:spPr>
      </p:sp>
      <p:sp>
        <p:nvSpPr>
          <p:cNvPr id="23" name="step-num"/>
          <p:cNvSpPr/>
          <p:nvPr/>
        </p:nvSpPr>
        <p:spPr>
          <a:xfrm>
            <a:off x="6428232" y="162763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6428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6373368" y="210312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Géologie</a:t>
            </a:r>
            <a:endParaRPr lang="en-US" sz="1400" dirty="0"/>
          </a:p>
        </p:txBody>
      </p:sp>
      <p:sp>
        <p:nvSpPr>
          <p:cNvPr id="26" name="Text 23"/>
          <p:cNvSpPr txBox="1"/>
          <p:nvPr/>
        </p:nvSpPr>
        <p:spPr>
          <a:xfrm>
            <a:off x="6428232" y="2578608"/>
            <a:ext cx="1210056" cy="914400"/>
          </a:xfrm>
          <a:prstGeom prst="rect">
            <a:avLst/>
          </a:prstGeom>
          <a:noFill/>
          <a:ln/>
        </p:spPr>
        <p:txBody>
          <a:bodyPr wrap="square" lIns="0" tIns="0" rIns="0" bIns="0" rtlCol="0" anchor="t"/>
          <a:lstStyle/>
          <a:p>
            <a:pPr indent="0" marL="0">
              <a:buNone/>
            </a:pPr>
            <a:r>
              <a:rPr lang="en-US" sz="1400" dirty="0">
                <a:solidFill>
                  <a:schemeClr val="tx1"/>
                </a:solidFill>
              </a:rPr>
              <a:t>Substrat favorable</a:t>
            </a:r>
            <a:endParaRPr lang="en-US" sz="1400" dirty="0"/>
          </a:p>
        </p:txBody>
      </p:sp>
      <p:sp>
        <p:nvSpPr>
          <p:cNvPr id="27" name="arrow"/>
          <p:cNvSpPr/>
          <p:nvPr/>
        </p:nvSpPr>
        <p:spPr>
          <a:xfrm>
            <a:off x="7876032" y="2386584"/>
            <a:ext cx="219456" cy="256032"/>
          </a:xfrm>
          <a:prstGeom prst="rightArrow">
            <a:avLst/>
          </a:prstGeom>
          <a:solidFill>
            <a:srgbClr val="9AA5AC"/>
          </a:solidFill>
          <a:ln w="12700">
            <a:solidFill>
              <a:srgbClr val="9AA5AC"/>
            </a:solidFill>
            <a:prstDash val="solid"/>
          </a:ln>
        </p:spPr>
      </p:sp>
      <p:sp>
        <p:nvSpPr>
          <p:cNvPr id="28" name="step"/>
          <p:cNvSpPr/>
          <p:nvPr/>
        </p:nvSpPr>
        <p:spPr>
          <a:xfrm>
            <a:off x="8168640" y="1463040"/>
            <a:ext cx="1539240" cy="2103120"/>
          </a:xfrm>
          <a:prstGeom prst="roundRect">
            <a:avLst>
              <a:gd name="adj" fmla="val 4752"/>
            </a:avLst>
          </a:prstGeom>
          <a:solidFill>
            <a:srgbClr val="EEF2F3"/>
          </a:solidFill>
          <a:ln w="12700">
            <a:solidFill>
              <a:srgbClr val="EEF2F3"/>
            </a:solidFill>
            <a:prstDash val="solid"/>
          </a:ln>
        </p:spPr>
      </p:sp>
      <p:sp>
        <p:nvSpPr>
          <p:cNvPr id="29" name="step-num"/>
          <p:cNvSpPr/>
          <p:nvPr/>
        </p:nvSpPr>
        <p:spPr>
          <a:xfrm>
            <a:off x="8333232" y="1627632"/>
            <a:ext cx="420624" cy="420624"/>
          </a:xfrm>
          <a:prstGeom prst="ellipse">
            <a:avLst/>
          </a:prstGeom>
          <a:solidFill>
            <a:srgbClr val="B5542D"/>
          </a:solidFill>
          <a:ln w="12700">
            <a:solidFill>
              <a:srgbClr val="B5542D"/>
            </a:solidFill>
            <a:prstDash val="solid"/>
          </a:ln>
        </p:spPr>
      </p:sp>
      <p:sp>
        <p:nvSpPr>
          <p:cNvPr id="30" name="Text 27"/>
          <p:cNvSpPr txBox="1"/>
          <p:nvPr/>
        </p:nvSpPr>
        <p:spPr>
          <a:xfrm>
            <a:off x="833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8278368" y="210312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Occurrences</a:t>
            </a:r>
            <a:endParaRPr lang="en-US" sz="1400" dirty="0"/>
          </a:p>
        </p:txBody>
      </p:sp>
      <p:sp>
        <p:nvSpPr>
          <p:cNvPr id="32" name="Text 29"/>
          <p:cNvSpPr txBox="1"/>
          <p:nvPr/>
        </p:nvSpPr>
        <p:spPr>
          <a:xfrm>
            <a:off x="8333232" y="2578608"/>
            <a:ext cx="1210056" cy="914400"/>
          </a:xfrm>
          <a:prstGeom prst="rect">
            <a:avLst/>
          </a:prstGeom>
          <a:noFill/>
          <a:ln/>
        </p:spPr>
        <p:txBody>
          <a:bodyPr wrap="square" lIns="0" tIns="0" rIns="0" bIns="0" rtlCol="0" anchor="t"/>
          <a:lstStyle/>
          <a:p>
            <a:pPr indent="0" marL="0">
              <a:buNone/>
            </a:pPr>
            <a:r>
              <a:rPr lang="en-US" sz="1400" dirty="0">
                <a:solidFill>
                  <a:schemeClr val="tx1"/>
                </a:solidFill>
              </a:rPr>
              <a:t>Gisements connus</a:t>
            </a:r>
            <a:endParaRPr lang="en-US" sz="1400" dirty="0"/>
          </a:p>
        </p:txBody>
      </p:sp>
      <p:sp>
        <p:nvSpPr>
          <p:cNvPr id="33" name="arrow"/>
          <p:cNvSpPr/>
          <p:nvPr/>
        </p:nvSpPr>
        <p:spPr>
          <a:xfrm>
            <a:off x="9781032" y="2386584"/>
            <a:ext cx="219456" cy="256032"/>
          </a:xfrm>
          <a:prstGeom prst="rightArrow">
            <a:avLst/>
          </a:prstGeom>
          <a:solidFill>
            <a:srgbClr val="9AA5AC"/>
          </a:solidFill>
          <a:ln w="12700">
            <a:solidFill>
              <a:srgbClr val="9AA5AC"/>
            </a:solidFill>
            <a:prstDash val="solid"/>
          </a:ln>
        </p:spPr>
      </p:sp>
      <p:sp>
        <p:nvSpPr>
          <p:cNvPr id="34" name="step"/>
          <p:cNvSpPr/>
          <p:nvPr/>
        </p:nvSpPr>
        <p:spPr>
          <a:xfrm>
            <a:off x="10073640" y="1463040"/>
            <a:ext cx="1539240" cy="2103120"/>
          </a:xfrm>
          <a:prstGeom prst="roundRect">
            <a:avLst>
              <a:gd name="adj" fmla="val 4752"/>
            </a:avLst>
          </a:prstGeom>
          <a:solidFill>
            <a:srgbClr val="D9A441">
              <a:alpha val="30000"/>
            </a:srgbClr>
          </a:solidFill>
          <a:ln w="25400">
            <a:solidFill>
              <a:srgbClr val="D9A441"/>
            </a:solidFill>
            <a:prstDash val="solid"/>
          </a:ln>
        </p:spPr>
      </p:sp>
      <p:sp>
        <p:nvSpPr>
          <p:cNvPr id="35" name="step-num"/>
          <p:cNvSpPr/>
          <p:nvPr/>
        </p:nvSpPr>
        <p:spPr>
          <a:xfrm>
            <a:off x="10238232" y="1627632"/>
            <a:ext cx="420624" cy="420624"/>
          </a:xfrm>
          <a:prstGeom prst="ellipse">
            <a:avLst/>
          </a:prstGeom>
          <a:solidFill>
            <a:srgbClr val="D9A441"/>
          </a:solidFill>
          <a:ln w="12700">
            <a:solidFill>
              <a:srgbClr val="D9A441"/>
            </a:solidFill>
            <a:prstDash val="solid"/>
          </a:ln>
        </p:spPr>
      </p:sp>
      <p:sp>
        <p:nvSpPr>
          <p:cNvPr id="36" name="Text 33"/>
          <p:cNvSpPr txBox="1"/>
          <p:nvPr/>
        </p:nvSpPr>
        <p:spPr>
          <a:xfrm>
            <a:off x="10238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7" name="Text 34"/>
          <p:cNvSpPr txBox="1"/>
          <p:nvPr/>
        </p:nvSpPr>
        <p:spPr>
          <a:xfrm>
            <a:off x="10183368" y="210312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Zones favorables</a:t>
            </a:r>
            <a:endParaRPr lang="en-US" sz="1400" dirty="0"/>
          </a:p>
        </p:txBody>
      </p:sp>
      <p:sp>
        <p:nvSpPr>
          <p:cNvPr id="38" name="Text 35"/>
          <p:cNvSpPr txBox="1"/>
          <p:nvPr/>
        </p:nvSpPr>
        <p:spPr>
          <a:xfrm>
            <a:off x="10238232" y="2578608"/>
            <a:ext cx="1210056" cy="914400"/>
          </a:xfrm>
          <a:prstGeom prst="rect">
            <a:avLst/>
          </a:prstGeom>
          <a:noFill/>
          <a:ln/>
        </p:spPr>
        <p:txBody>
          <a:bodyPr wrap="square" lIns="0" tIns="0" rIns="0" bIns="0" rtlCol="0" anchor="t"/>
          <a:lstStyle/>
          <a:p>
            <a:pPr indent="0" marL="0">
              <a:buNone/>
            </a:pPr>
            <a:r>
              <a:rPr lang="en-US" sz="1400" dirty="0">
                <a:solidFill>
                  <a:schemeClr val="tx1"/>
                </a:solidFill>
              </a:rPr>
              <a:t>Plateaux candidats</a:t>
            </a:r>
            <a:endParaRPr lang="en-US" sz="1400" dirty="0"/>
          </a:p>
        </p:txBody>
      </p:sp>
      <p:sp>
        <p:nvSpPr>
          <p:cNvPr id="39" name="panel"/>
          <p:cNvSpPr/>
          <p:nvPr/>
        </p:nvSpPr>
        <p:spPr>
          <a:xfrm>
            <a:off x="548640" y="3886200"/>
            <a:ext cx="5394960" cy="2194560"/>
          </a:xfrm>
          <a:prstGeom prst="roundRect">
            <a:avLst>
              <a:gd name="adj" fmla="val 3333"/>
            </a:avLst>
          </a:prstGeom>
          <a:solidFill>
            <a:schemeClr val="bg2"/>
          </a:solidFill>
          <a:ln w="12700">
            <a:solidFill>
              <a:schemeClr val="bg2"/>
            </a:solidFill>
            <a:prstDash val="solid"/>
          </a:ln>
        </p:spPr>
      </p:sp>
      <p:sp>
        <p:nvSpPr>
          <p:cNvPr id="40" name="icon-circle"/>
          <p:cNvSpPr/>
          <p:nvPr/>
        </p:nvSpPr>
        <p:spPr>
          <a:xfrm>
            <a:off x="777240" y="4114800"/>
            <a:ext cx="548640" cy="548640"/>
          </a:xfrm>
          <a:prstGeom prst="ellipse">
            <a:avLst/>
          </a:prstGeom>
          <a:solidFill>
            <a:srgbClr val="B5542D"/>
          </a:solidFill>
          <a:ln w="12700">
            <a:solidFill>
              <a:srgbClr val="B5542D"/>
            </a:solidFill>
            <a:prstDash val="solid"/>
          </a:ln>
        </p:spPr>
      </p:sp>
      <p:pic>
        <p:nvPicPr>
          <p:cNvPr id="41" name="icon" descr="preencoded.png">    </p:cNvPr>
          <p:cNvPicPr>
            <a:picLocks noChangeAspect="1"/>
          </p:cNvPicPr>
          <p:nvPr/>
        </p:nvPicPr>
        <p:blipFill>
          <a:blip r:embed="rId1"/>
          <a:stretch>
            <a:fillRect/>
          </a:stretch>
        </p:blipFill>
        <p:spPr>
          <a:xfrm>
            <a:off x="897941" y="4235501"/>
            <a:ext cx="307238" cy="307238"/>
          </a:xfrm>
          <a:prstGeom prst="rect">
            <a:avLst/>
          </a:prstGeom>
        </p:spPr>
      </p:pic>
      <p:sp>
        <p:nvSpPr>
          <p:cNvPr id="42" name="Text 38"/>
          <p:cNvSpPr txBox="1"/>
          <p:nvPr/>
        </p:nvSpPr>
        <p:spPr>
          <a:xfrm>
            <a:off x="1463040" y="411480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Critères</a:t>
            </a:r>
            <a:endParaRPr lang="en-US" sz="1800" dirty="0"/>
          </a:p>
        </p:txBody>
      </p:sp>
      <p:sp>
        <p:nvSpPr>
          <p:cNvPr id="43" name="Text 39"/>
          <p:cNvSpPr txBox="1"/>
          <p:nvPr/>
        </p:nvSpPr>
        <p:spPr>
          <a:xfrm>
            <a:off x="822960" y="4846320"/>
            <a:ext cx="4846320"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Plateau sub-horizontal, cuirasse</a:t>
            </a:r>
            <a:endParaRPr lang="en-US" sz="1500" dirty="0"/>
          </a:p>
          <a:p>
            <a:pPr marL="342900" indent="-342900">
              <a:spcAft>
                <a:spcPts val="600"/>
              </a:spcAft>
              <a:buSzPct val="100000"/>
              <a:buChar char="•"/>
            </a:pPr>
            <a:r>
              <a:rPr lang="en-US" sz="1500" dirty="0">
                <a:solidFill>
                  <a:schemeClr val="tx1"/>
                </a:solidFill>
              </a:rPr>
              <a:t>Substrat favorable</a:t>
            </a:r>
            <a:endParaRPr lang="en-US" sz="1500" dirty="0"/>
          </a:p>
          <a:p>
            <a:pPr marL="342900" indent="-342900">
              <a:spcAft>
                <a:spcPts val="600"/>
              </a:spcAft>
              <a:buSzPct val="100000"/>
              <a:buChar char="•"/>
            </a:pPr>
            <a:r>
              <a:rPr lang="en-US" sz="1500" dirty="0">
                <a:solidFill>
                  <a:schemeClr val="tx1"/>
                </a:solidFill>
              </a:rPr>
              <a:t>Épaisseur : non mesurable par satellite</a:t>
            </a:r>
            <a:endParaRPr lang="en-US" sz="1500" dirty="0"/>
          </a:p>
        </p:txBody>
      </p:sp>
      <p:sp>
        <p:nvSpPr>
          <p:cNvPr id="44" name="panel"/>
          <p:cNvSpPr/>
          <p:nvPr/>
        </p:nvSpPr>
        <p:spPr>
          <a:xfrm>
            <a:off x="6217920" y="3886200"/>
            <a:ext cx="5394960" cy="2194560"/>
          </a:xfrm>
          <a:prstGeom prst="roundRect">
            <a:avLst>
              <a:gd name="adj" fmla="val 3333"/>
            </a:avLst>
          </a:prstGeom>
          <a:solidFill>
            <a:schemeClr val="bg2"/>
          </a:solidFill>
          <a:ln w="12700">
            <a:solidFill>
              <a:schemeClr val="bg2"/>
            </a:solidFill>
            <a:prstDash val="solid"/>
          </a:ln>
        </p:spPr>
      </p:sp>
      <p:sp>
        <p:nvSpPr>
          <p:cNvPr id="45" name="icon-circle"/>
          <p:cNvSpPr/>
          <p:nvPr/>
        </p:nvSpPr>
        <p:spPr>
          <a:xfrm>
            <a:off x="6446520" y="4114800"/>
            <a:ext cx="548640" cy="548640"/>
          </a:xfrm>
          <a:prstGeom prst="ellipse">
            <a:avLst/>
          </a:prstGeom>
          <a:solidFill>
            <a:srgbClr val="C9772F"/>
          </a:solidFill>
          <a:ln w="12700">
            <a:solidFill>
              <a:srgbClr val="C9772F"/>
            </a:solidFill>
            <a:prstDash val="solid"/>
          </a:ln>
        </p:spPr>
      </p:sp>
      <p:pic>
        <p:nvPicPr>
          <p:cNvPr id="46" name="icon" descr="preencoded.png">    </p:cNvPr>
          <p:cNvPicPr>
            <a:picLocks noChangeAspect="1"/>
          </p:cNvPicPr>
          <p:nvPr/>
        </p:nvPicPr>
        <p:blipFill>
          <a:blip r:embed="rId2"/>
          <a:stretch>
            <a:fillRect/>
          </a:stretch>
        </p:blipFill>
        <p:spPr>
          <a:xfrm>
            <a:off x="6567221" y="4235501"/>
            <a:ext cx="307238" cy="307238"/>
          </a:xfrm>
          <a:prstGeom prst="rect">
            <a:avLst/>
          </a:prstGeom>
        </p:spPr>
      </p:pic>
      <p:sp>
        <p:nvSpPr>
          <p:cNvPr id="47" name="Text 42"/>
          <p:cNvSpPr txBox="1"/>
          <p:nvPr/>
        </p:nvSpPr>
        <p:spPr>
          <a:xfrm>
            <a:off x="7132320" y="411480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Piège</a:t>
            </a:r>
            <a:endParaRPr lang="en-US" sz="1800" dirty="0"/>
          </a:p>
        </p:txBody>
      </p:sp>
      <p:sp>
        <p:nvSpPr>
          <p:cNvPr id="48" name="Text 43"/>
          <p:cNvSpPr txBox="1"/>
          <p:nvPr/>
        </p:nvSpPr>
        <p:spPr>
          <a:xfrm>
            <a:off x="6492240" y="4846320"/>
            <a:ext cx="4846320"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Cuirasse ferrugineuse ≠ bauxite</a:t>
            </a:r>
            <a:endParaRPr lang="en-US" sz="1500" dirty="0"/>
          </a:p>
          <a:p>
            <a:pPr marL="342900" indent="-342900">
              <a:spcAft>
                <a:spcPts val="600"/>
              </a:spcAft>
              <a:buSzPct val="100000"/>
              <a:buChar char="•"/>
            </a:pPr>
            <a:r>
              <a:rPr lang="en-US" sz="1500" dirty="0">
                <a:solidFill>
                  <a:schemeClr val="tx1"/>
                </a:solidFill>
              </a:rPr>
              <a:t>Seuls sondages et analyses tranchent</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Cas C — Fer : la logistique pèse autant que la teneur</a:t>
            </a:r>
            <a:endParaRPr lang="en-US" sz="3000" dirty="0"/>
          </a:p>
        </p:txBody>
      </p:sp>
      <p:sp>
        <p:nvSpPr>
          <p:cNvPr id="4" name="step"/>
          <p:cNvSpPr/>
          <p:nvPr/>
        </p:nvSpPr>
        <p:spPr>
          <a:xfrm>
            <a:off x="548640" y="1463040"/>
            <a:ext cx="1920240" cy="2103120"/>
          </a:xfrm>
          <a:prstGeom prst="roundRect">
            <a:avLst>
              <a:gd name="adj" fmla="val 3810"/>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Spectral</a:t>
            </a:r>
            <a:endParaRPr lang="en-US" sz="1500" dirty="0"/>
          </a:p>
        </p:txBody>
      </p:sp>
      <p:sp>
        <p:nvSpPr>
          <p:cNvPr id="8" name="Text 5"/>
          <p:cNvSpPr txBox="1"/>
          <p:nvPr/>
        </p:nvSpPr>
        <p:spPr>
          <a:xfrm>
            <a:off x="713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Signature des oxydes de fer</a:t>
            </a:r>
            <a:endParaRPr lang="en-US" sz="1400" dirty="0"/>
          </a:p>
        </p:txBody>
      </p:sp>
      <p:sp>
        <p:nvSpPr>
          <p:cNvPr id="9" name="arrow"/>
          <p:cNvSpPr/>
          <p:nvPr/>
        </p:nvSpPr>
        <p:spPr>
          <a:xfrm>
            <a:off x="2542032" y="2386584"/>
            <a:ext cx="219456" cy="256032"/>
          </a:xfrm>
          <a:prstGeom prst="rightArrow">
            <a:avLst/>
          </a:prstGeom>
          <a:solidFill>
            <a:srgbClr val="9AA5AC"/>
          </a:solidFill>
          <a:ln w="12700">
            <a:solidFill>
              <a:srgbClr val="9AA5AC"/>
            </a:solidFill>
            <a:prstDash val="solid"/>
          </a:ln>
        </p:spPr>
      </p:sp>
      <p:sp>
        <p:nvSpPr>
          <p:cNvPr id="10" name="step"/>
          <p:cNvSpPr/>
          <p:nvPr/>
        </p:nvSpPr>
        <p:spPr>
          <a:xfrm>
            <a:off x="2834640" y="1463040"/>
            <a:ext cx="1920240" cy="2103120"/>
          </a:xfrm>
          <a:prstGeom prst="roundRect">
            <a:avLst>
              <a:gd name="adj" fmla="val 3810"/>
            </a:avLst>
          </a:prstGeom>
          <a:solidFill>
            <a:srgbClr val="EEF2F3"/>
          </a:solidFill>
          <a:ln w="12700">
            <a:solidFill>
              <a:srgbClr val="EEF2F3"/>
            </a:solidFill>
            <a:prstDash val="solid"/>
          </a:ln>
        </p:spPr>
      </p:sp>
      <p:sp>
        <p:nvSpPr>
          <p:cNvPr id="11" name="step-num"/>
          <p:cNvSpPr/>
          <p:nvPr/>
        </p:nvSpPr>
        <p:spPr>
          <a:xfrm>
            <a:off x="2999232" y="1627632"/>
            <a:ext cx="420624" cy="420624"/>
          </a:xfrm>
          <a:prstGeom prst="ellipse">
            <a:avLst/>
          </a:prstGeom>
          <a:solidFill>
            <a:srgbClr val="B5542D"/>
          </a:solidFill>
          <a:ln w="12700">
            <a:solidFill>
              <a:srgbClr val="B5542D"/>
            </a:solidFill>
            <a:prstDash val="solid"/>
          </a:ln>
        </p:spPr>
      </p:sp>
      <p:sp>
        <p:nvSpPr>
          <p:cNvPr id="12" name="Text 9"/>
          <p:cNvSpPr txBox="1"/>
          <p:nvPr/>
        </p:nvSpPr>
        <p:spPr>
          <a:xfrm>
            <a:off x="2999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493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Géologie</a:t>
            </a:r>
            <a:endParaRPr lang="en-US" sz="1500" dirty="0"/>
          </a:p>
        </p:txBody>
      </p:sp>
      <p:sp>
        <p:nvSpPr>
          <p:cNvPr id="14" name="Text 11"/>
          <p:cNvSpPr txBox="1"/>
          <p:nvPr/>
        </p:nvSpPr>
        <p:spPr>
          <a:xfrm>
            <a:off x="2999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Formations ferrifères rubanées</a:t>
            </a:r>
            <a:endParaRPr lang="en-US" sz="1400" dirty="0"/>
          </a:p>
        </p:txBody>
      </p:sp>
      <p:sp>
        <p:nvSpPr>
          <p:cNvPr id="15" name="arrow"/>
          <p:cNvSpPr/>
          <p:nvPr/>
        </p:nvSpPr>
        <p:spPr>
          <a:xfrm>
            <a:off x="4828032" y="2386584"/>
            <a:ext cx="219456" cy="256032"/>
          </a:xfrm>
          <a:prstGeom prst="rightArrow">
            <a:avLst/>
          </a:prstGeom>
          <a:solidFill>
            <a:srgbClr val="9AA5AC"/>
          </a:solidFill>
          <a:ln w="12700">
            <a:solidFill>
              <a:srgbClr val="9AA5AC"/>
            </a:solidFill>
            <a:prstDash val="solid"/>
          </a:ln>
        </p:spPr>
      </p:sp>
      <p:sp>
        <p:nvSpPr>
          <p:cNvPr id="16" name="step"/>
          <p:cNvSpPr/>
          <p:nvPr/>
        </p:nvSpPr>
        <p:spPr>
          <a:xfrm>
            <a:off x="5120640" y="1463040"/>
            <a:ext cx="1920240" cy="2103120"/>
          </a:xfrm>
          <a:prstGeom prst="roundRect">
            <a:avLst>
              <a:gd name="adj" fmla="val 3810"/>
            </a:avLst>
          </a:prstGeom>
          <a:solidFill>
            <a:srgbClr val="EEF2F3"/>
          </a:solidFill>
          <a:ln w="12700">
            <a:solidFill>
              <a:srgbClr val="EEF2F3"/>
            </a:solidFill>
            <a:prstDash val="solid"/>
          </a:ln>
        </p:spPr>
      </p:sp>
      <p:sp>
        <p:nvSpPr>
          <p:cNvPr id="17" name="step-num"/>
          <p:cNvSpPr/>
          <p:nvPr/>
        </p:nvSpPr>
        <p:spPr>
          <a:xfrm>
            <a:off x="5285232" y="1627632"/>
            <a:ext cx="420624" cy="420624"/>
          </a:xfrm>
          <a:prstGeom prst="ellipse">
            <a:avLst/>
          </a:prstGeom>
          <a:solidFill>
            <a:srgbClr val="B5542D"/>
          </a:solidFill>
          <a:ln w="12700">
            <a:solidFill>
              <a:srgbClr val="B5542D"/>
            </a:solidFill>
            <a:prstDash val="solid"/>
          </a:ln>
        </p:spPr>
      </p:sp>
      <p:sp>
        <p:nvSpPr>
          <p:cNvPr id="18" name="Text 15"/>
          <p:cNvSpPr txBox="1"/>
          <p:nvPr/>
        </p:nvSpPr>
        <p:spPr>
          <a:xfrm>
            <a:off x="5285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5779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Relief</a:t>
            </a:r>
            <a:endParaRPr lang="en-US" sz="1500" dirty="0"/>
          </a:p>
        </p:txBody>
      </p:sp>
      <p:sp>
        <p:nvSpPr>
          <p:cNvPr id="20" name="Text 17"/>
          <p:cNvSpPr txBox="1"/>
          <p:nvPr/>
        </p:nvSpPr>
        <p:spPr>
          <a:xfrm>
            <a:off x="5285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Crêtes résistantes</a:t>
            </a:r>
            <a:endParaRPr lang="en-US" sz="1400" dirty="0"/>
          </a:p>
        </p:txBody>
      </p:sp>
      <p:sp>
        <p:nvSpPr>
          <p:cNvPr id="21" name="arrow"/>
          <p:cNvSpPr/>
          <p:nvPr/>
        </p:nvSpPr>
        <p:spPr>
          <a:xfrm>
            <a:off x="7114032" y="2386584"/>
            <a:ext cx="219456" cy="256032"/>
          </a:xfrm>
          <a:prstGeom prst="rightArrow">
            <a:avLst/>
          </a:prstGeom>
          <a:solidFill>
            <a:srgbClr val="9AA5AC"/>
          </a:solidFill>
          <a:ln w="12700">
            <a:solidFill>
              <a:srgbClr val="9AA5AC"/>
            </a:solidFill>
            <a:prstDash val="solid"/>
          </a:ln>
        </p:spPr>
      </p:sp>
      <p:sp>
        <p:nvSpPr>
          <p:cNvPr id="22" name="step"/>
          <p:cNvSpPr/>
          <p:nvPr/>
        </p:nvSpPr>
        <p:spPr>
          <a:xfrm>
            <a:off x="7406640" y="1463040"/>
            <a:ext cx="1920240" cy="2103120"/>
          </a:xfrm>
          <a:prstGeom prst="roundRect">
            <a:avLst>
              <a:gd name="adj" fmla="val 3810"/>
            </a:avLst>
          </a:prstGeom>
          <a:solidFill>
            <a:srgbClr val="EEF2F3"/>
          </a:solidFill>
          <a:ln w="12700">
            <a:solidFill>
              <a:srgbClr val="EEF2F3"/>
            </a:solidFill>
            <a:prstDash val="solid"/>
          </a:ln>
        </p:spPr>
      </p:sp>
      <p:sp>
        <p:nvSpPr>
          <p:cNvPr id="23" name="step-num"/>
          <p:cNvSpPr/>
          <p:nvPr/>
        </p:nvSpPr>
        <p:spPr>
          <a:xfrm>
            <a:off x="7571232" y="162763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7571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8065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Structures</a:t>
            </a:r>
            <a:endParaRPr lang="en-US" sz="1500" dirty="0"/>
          </a:p>
        </p:txBody>
      </p:sp>
      <p:sp>
        <p:nvSpPr>
          <p:cNvPr id="26" name="Text 23"/>
          <p:cNvSpPr txBox="1"/>
          <p:nvPr/>
        </p:nvSpPr>
        <p:spPr>
          <a:xfrm>
            <a:off x="7571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Plis, failles</a:t>
            </a:r>
            <a:endParaRPr lang="en-US" sz="1400" dirty="0"/>
          </a:p>
        </p:txBody>
      </p:sp>
      <p:sp>
        <p:nvSpPr>
          <p:cNvPr id="27" name="arrow"/>
          <p:cNvSpPr/>
          <p:nvPr/>
        </p:nvSpPr>
        <p:spPr>
          <a:xfrm>
            <a:off x="9400032" y="2386584"/>
            <a:ext cx="219456" cy="256032"/>
          </a:xfrm>
          <a:prstGeom prst="rightArrow">
            <a:avLst/>
          </a:prstGeom>
          <a:solidFill>
            <a:srgbClr val="9AA5AC"/>
          </a:solidFill>
          <a:ln w="12700">
            <a:solidFill>
              <a:srgbClr val="9AA5AC"/>
            </a:solidFill>
            <a:prstDash val="solid"/>
          </a:ln>
        </p:spPr>
      </p:sp>
      <p:sp>
        <p:nvSpPr>
          <p:cNvPr id="28" name="step"/>
          <p:cNvSpPr/>
          <p:nvPr/>
        </p:nvSpPr>
        <p:spPr>
          <a:xfrm>
            <a:off x="9692640" y="1463040"/>
            <a:ext cx="1920240" cy="2103120"/>
          </a:xfrm>
          <a:prstGeom prst="roundRect">
            <a:avLst>
              <a:gd name="adj" fmla="val 3810"/>
            </a:avLst>
          </a:prstGeom>
          <a:solidFill>
            <a:srgbClr val="D9A441">
              <a:alpha val="30000"/>
            </a:srgbClr>
          </a:solidFill>
          <a:ln w="25400">
            <a:solidFill>
              <a:srgbClr val="D9A441"/>
            </a:solidFill>
            <a:prstDash val="solid"/>
          </a:ln>
        </p:spPr>
      </p:sp>
      <p:sp>
        <p:nvSpPr>
          <p:cNvPr id="29" name="step-num"/>
          <p:cNvSpPr/>
          <p:nvPr/>
        </p:nvSpPr>
        <p:spPr>
          <a:xfrm>
            <a:off x="9857232" y="1627632"/>
            <a:ext cx="420624" cy="420624"/>
          </a:xfrm>
          <a:prstGeom prst="ellipse">
            <a:avLst/>
          </a:prstGeom>
          <a:solidFill>
            <a:srgbClr val="D9A441"/>
          </a:solidFill>
          <a:ln w="12700">
            <a:solidFill>
              <a:srgbClr val="D9A441"/>
            </a:solidFill>
            <a:prstDash val="solid"/>
          </a:ln>
        </p:spPr>
      </p:sp>
      <p:sp>
        <p:nvSpPr>
          <p:cNvPr id="30" name="Text 27"/>
          <p:cNvSpPr txBox="1"/>
          <p:nvPr/>
        </p:nvSpPr>
        <p:spPr>
          <a:xfrm>
            <a:off x="9857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10351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Cibles</a:t>
            </a:r>
            <a:endParaRPr lang="en-US" sz="1500" dirty="0"/>
          </a:p>
        </p:txBody>
      </p:sp>
      <p:sp>
        <p:nvSpPr>
          <p:cNvPr id="32" name="Text 29"/>
          <p:cNvSpPr txBox="1"/>
          <p:nvPr/>
        </p:nvSpPr>
        <p:spPr>
          <a:xfrm>
            <a:off x="9857232" y="2194560"/>
            <a:ext cx="1591056" cy="1280160"/>
          </a:xfrm>
          <a:prstGeom prst="rect">
            <a:avLst/>
          </a:prstGeom>
          <a:noFill/>
          <a:ln/>
        </p:spPr>
        <p:txBody>
          <a:bodyPr wrap="square" lIns="0" tIns="0" rIns="0" bIns="0" rtlCol="0" anchor="t"/>
          <a:lstStyle/>
          <a:p>
            <a:pPr indent="0" marL="0">
              <a:buNone/>
            </a:pPr>
            <a:r>
              <a:rPr lang="en-US" sz="1400" dirty="0">
                <a:solidFill>
                  <a:schemeClr val="tx1"/>
                </a:solidFill>
              </a:rPr>
              <a:t>Cibles ferrifères</a:t>
            </a:r>
            <a:endParaRPr lang="en-US" sz="1400" dirty="0"/>
          </a:p>
        </p:txBody>
      </p:sp>
      <p:sp>
        <p:nvSpPr>
          <p:cNvPr id="33" name="card"/>
          <p:cNvSpPr/>
          <p:nvPr/>
        </p:nvSpPr>
        <p:spPr>
          <a:xfrm>
            <a:off x="548640" y="3886200"/>
            <a:ext cx="3505200" cy="2194560"/>
          </a:xfrm>
          <a:prstGeom prst="roundRect">
            <a:avLst>
              <a:gd name="adj" fmla="val 3333"/>
            </a:avLst>
          </a:prstGeom>
          <a:solidFill>
            <a:schemeClr val="bg2"/>
          </a:solidFill>
          <a:ln w="12700">
            <a:solidFill>
              <a:schemeClr val="bg2"/>
            </a:solidFill>
            <a:prstDash val="solid"/>
          </a:ln>
        </p:spPr>
      </p:sp>
      <p:sp>
        <p:nvSpPr>
          <p:cNvPr id="34" name="icon-circle"/>
          <p:cNvSpPr/>
          <p:nvPr/>
        </p:nvSpPr>
        <p:spPr>
          <a:xfrm>
            <a:off x="777240" y="4114800"/>
            <a:ext cx="548640" cy="548640"/>
          </a:xfrm>
          <a:prstGeom prst="ellipse">
            <a:avLst/>
          </a:prstGeom>
          <a:solidFill>
            <a:srgbClr val="B5542D"/>
          </a:solidFill>
          <a:ln w="12700">
            <a:solidFill>
              <a:srgbClr val="B5542D"/>
            </a:solidFill>
            <a:prstDash val="solid"/>
          </a:ln>
        </p:spPr>
      </p:sp>
      <p:pic>
        <p:nvPicPr>
          <p:cNvPr id="35" name="icon" descr="preencoded.png">    </p:cNvPr>
          <p:cNvPicPr>
            <a:picLocks noChangeAspect="1"/>
          </p:cNvPicPr>
          <p:nvPr/>
        </p:nvPicPr>
        <p:blipFill>
          <a:blip r:embed="rId1"/>
          <a:stretch>
            <a:fillRect/>
          </a:stretch>
        </p:blipFill>
        <p:spPr>
          <a:xfrm>
            <a:off x="897941" y="4235501"/>
            <a:ext cx="307238" cy="307238"/>
          </a:xfrm>
          <a:prstGeom prst="rect">
            <a:avLst/>
          </a:prstGeom>
        </p:spPr>
      </p:pic>
      <p:sp>
        <p:nvSpPr>
          <p:cNvPr id="36" name="Text 32"/>
          <p:cNvSpPr txBox="1"/>
          <p:nvPr/>
        </p:nvSpPr>
        <p:spPr>
          <a:xfrm>
            <a:off x="1463040" y="40690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Géophysique</a:t>
            </a:r>
            <a:endParaRPr lang="en-US" sz="1700" dirty="0"/>
          </a:p>
        </p:txBody>
      </p:sp>
      <p:sp>
        <p:nvSpPr>
          <p:cNvPr id="37" name="Text 33"/>
          <p:cNvSpPr txBox="1"/>
          <p:nvPr/>
        </p:nvSpPr>
        <p:spPr>
          <a:xfrm>
            <a:off x="777240" y="4800600"/>
            <a:ext cx="3048000" cy="1143000"/>
          </a:xfrm>
          <a:prstGeom prst="rect">
            <a:avLst/>
          </a:prstGeom>
          <a:noFill/>
          <a:ln/>
        </p:spPr>
        <p:txBody>
          <a:bodyPr wrap="square" lIns="0" tIns="0" rIns="0" bIns="0" rtlCol="0" anchor="t"/>
          <a:lstStyle/>
          <a:p>
            <a:pPr indent="0" marL="0">
              <a:buNone/>
            </a:pPr>
            <a:r>
              <a:rPr lang="en-US" sz="1400" dirty="0">
                <a:solidFill>
                  <a:schemeClr val="tx1"/>
                </a:solidFill>
              </a:rPr>
              <a:t>Magnétisme aéroporté : l'outil le plus direct si accessible</a:t>
            </a:r>
            <a:endParaRPr lang="en-US" sz="1400" dirty="0"/>
          </a:p>
        </p:txBody>
      </p:sp>
      <p:sp>
        <p:nvSpPr>
          <p:cNvPr id="38" name="card"/>
          <p:cNvSpPr/>
          <p:nvPr/>
        </p:nvSpPr>
        <p:spPr>
          <a:xfrm>
            <a:off x="4328160" y="3886200"/>
            <a:ext cx="3505200" cy="2194560"/>
          </a:xfrm>
          <a:prstGeom prst="roundRect">
            <a:avLst>
              <a:gd name="adj" fmla="val 3333"/>
            </a:avLst>
          </a:prstGeom>
          <a:solidFill>
            <a:schemeClr val="bg2"/>
          </a:solidFill>
          <a:ln w="12700">
            <a:solidFill>
              <a:schemeClr val="bg2"/>
            </a:solidFill>
            <a:prstDash val="solid"/>
          </a:ln>
        </p:spPr>
      </p:sp>
      <p:sp>
        <p:nvSpPr>
          <p:cNvPr id="39" name="icon-circle"/>
          <p:cNvSpPr/>
          <p:nvPr/>
        </p:nvSpPr>
        <p:spPr>
          <a:xfrm>
            <a:off x="4556760" y="4114800"/>
            <a:ext cx="548640" cy="548640"/>
          </a:xfrm>
          <a:prstGeom prst="ellipse">
            <a:avLst/>
          </a:prstGeom>
          <a:solidFill>
            <a:srgbClr val="3E7C6B"/>
          </a:solidFill>
          <a:ln w="12700">
            <a:solidFill>
              <a:srgbClr val="3E7C6B"/>
            </a:solidFill>
            <a:prstDash val="solid"/>
          </a:ln>
        </p:spPr>
      </p:sp>
      <p:pic>
        <p:nvPicPr>
          <p:cNvPr id="40" name="icon" descr="preencoded.png">    </p:cNvPr>
          <p:cNvPicPr>
            <a:picLocks noChangeAspect="1"/>
          </p:cNvPicPr>
          <p:nvPr/>
        </p:nvPicPr>
        <p:blipFill>
          <a:blip r:embed="rId2"/>
          <a:stretch>
            <a:fillRect/>
          </a:stretch>
        </p:blipFill>
        <p:spPr>
          <a:xfrm>
            <a:off x="4677461" y="4235501"/>
            <a:ext cx="307238" cy="307238"/>
          </a:xfrm>
          <a:prstGeom prst="rect">
            <a:avLst/>
          </a:prstGeom>
        </p:spPr>
      </p:pic>
      <p:sp>
        <p:nvSpPr>
          <p:cNvPr id="41" name="Text 36"/>
          <p:cNvSpPr txBox="1"/>
          <p:nvPr/>
        </p:nvSpPr>
        <p:spPr>
          <a:xfrm>
            <a:off x="5242560" y="40690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Logistique</a:t>
            </a:r>
            <a:endParaRPr lang="en-US" sz="1700" dirty="0"/>
          </a:p>
        </p:txBody>
      </p:sp>
      <p:sp>
        <p:nvSpPr>
          <p:cNvPr id="42" name="Text 37"/>
          <p:cNvSpPr txBox="1"/>
          <p:nvPr/>
        </p:nvSpPr>
        <p:spPr>
          <a:xfrm>
            <a:off x="4556760" y="4800600"/>
            <a:ext cx="3048000" cy="1143000"/>
          </a:xfrm>
          <a:prstGeom prst="rect">
            <a:avLst/>
          </a:prstGeom>
          <a:noFill/>
          <a:ln/>
        </p:spPr>
        <p:txBody>
          <a:bodyPr wrap="square" lIns="0" tIns="0" rIns="0" bIns="0" rtlCol="0" anchor="t"/>
          <a:lstStyle/>
          <a:p>
            <a:pPr indent="0" marL="0">
              <a:buNone/>
            </a:pPr>
            <a:r>
              <a:rPr lang="en-US" sz="1400" dirty="0">
                <a:solidFill>
                  <a:schemeClr val="tx1"/>
                </a:solidFill>
              </a:rPr>
              <a:t>Distance au rail et au port de Kribi</a:t>
            </a:r>
            <a:endParaRPr lang="en-US" sz="1400" dirty="0"/>
          </a:p>
        </p:txBody>
      </p:sp>
      <p:sp>
        <p:nvSpPr>
          <p:cNvPr id="43" name="card"/>
          <p:cNvSpPr/>
          <p:nvPr/>
        </p:nvSpPr>
        <p:spPr>
          <a:xfrm>
            <a:off x="8107680" y="3886200"/>
            <a:ext cx="3505200" cy="2194560"/>
          </a:xfrm>
          <a:prstGeom prst="roundRect">
            <a:avLst>
              <a:gd name="adj" fmla="val 3333"/>
            </a:avLst>
          </a:prstGeom>
          <a:solidFill>
            <a:schemeClr val="bg2"/>
          </a:solidFill>
          <a:ln w="12700">
            <a:solidFill>
              <a:schemeClr val="bg2"/>
            </a:solidFill>
            <a:prstDash val="solid"/>
          </a:ln>
        </p:spPr>
      </p:sp>
      <p:sp>
        <p:nvSpPr>
          <p:cNvPr id="44" name="icon-circle"/>
          <p:cNvSpPr/>
          <p:nvPr/>
        </p:nvSpPr>
        <p:spPr>
          <a:xfrm>
            <a:off x="8336280" y="4114800"/>
            <a:ext cx="548640" cy="548640"/>
          </a:xfrm>
          <a:prstGeom prst="ellipse">
            <a:avLst/>
          </a:prstGeom>
          <a:solidFill>
            <a:srgbClr val="3F6C9A"/>
          </a:solidFill>
          <a:ln w="12700">
            <a:solidFill>
              <a:srgbClr val="3F6C9A"/>
            </a:solidFill>
            <a:prstDash val="solid"/>
          </a:ln>
        </p:spPr>
      </p:sp>
      <p:pic>
        <p:nvPicPr>
          <p:cNvPr id="45" name="icon" descr="preencoded.png">    </p:cNvPr>
          <p:cNvPicPr>
            <a:picLocks noChangeAspect="1"/>
          </p:cNvPicPr>
          <p:nvPr/>
        </p:nvPicPr>
        <p:blipFill>
          <a:blip r:embed="rId3"/>
          <a:stretch>
            <a:fillRect/>
          </a:stretch>
        </p:blipFill>
        <p:spPr>
          <a:xfrm>
            <a:off x="8456981" y="4235501"/>
            <a:ext cx="307238" cy="307238"/>
          </a:xfrm>
          <a:prstGeom prst="rect">
            <a:avLst/>
          </a:prstGeom>
        </p:spPr>
      </p:pic>
      <p:sp>
        <p:nvSpPr>
          <p:cNvPr id="46" name="Text 40"/>
          <p:cNvSpPr txBox="1"/>
          <p:nvPr/>
        </p:nvSpPr>
        <p:spPr>
          <a:xfrm>
            <a:off x="9022080" y="40690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Transfrontalier</a:t>
            </a:r>
            <a:endParaRPr lang="en-US" sz="1700" dirty="0"/>
          </a:p>
        </p:txBody>
      </p:sp>
      <p:sp>
        <p:nvSpPr>
          <p:cNvPr id="47" name="Text 41"/>
          <p:cNvSpPr txBox="1"/>
          <p:nvPr/>
        </p:nvSpPr>
        <p:spPr>
          <a:xfrm>
            <a:off x="8336280" y="4800600"/>
            <a:ext cx="3048000" cy="1143000"/>
          </a:xfrm>
          <a:prstGeom prst="rect">
            <a:avLst/>
          </a:prstGeom>
          <a:noFill/>
          <a:ln/>
        </p:spPr>
        <p:txBody>
          <a:bodyPr wrap="square" lIns="0" tIns="0" rIns="0" bIns="0" rtlCol="0" anchor="t"/>
          <a:lstStyle/>
          <a:p>
            <a:pPr indent="0" marL="0">
              <a:buNone/>
            </a:pPr>
            <a:r>
              <a:rPr lang="en-US" sz="1400" dirty="0">
                <a:solidFill>
                  <a:schemeClr val="tx1"/>
                </a:solidFill>
              </a:rPr>
              <a:t>Mbalam (Cameroun) – Nabeba (Congo)</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Suivre l'orpaillage et ses impacts depuis l'espace</a:t>
            </a:r>
            <a:endParaRPr lang="en-US" sz="3000" dirty="0"/>
          </a:p>
        </p:txBody>
      </p:sp>
      <p:sp>
        <p:nvSpPr>
          <p:cNvPr id="4" name="num"/>
          <p:cNvSpPr/>
          <p:nvPr/>
        </p:nvSpPr>
        <p:spPr>
          <a:xfrm>
            <a:off x="548640" y="1417320"/>
            <a:ext cx="402336" cy="402336"/>
          </a:xfrm>
          <a:prstGeom prst="ellipse">
            <a:avLst/>
          </a:prstGeom>
          <a:solidFill>
            <a:srgbClr val="3F6C9A"/>
          </a:solidFill>
          <a:ln w="12700">
            <a:solidFill>
              <a:srgbClr val="3F6C9A"/>
            </a:solidFill>
            <a:prstDash val="solid"/>
          </a:ln>
        </p:spPr>
      </p:sp>
      <p:sp>
        <p:nvSpPr>
          <p:cNvPr id="5" name="Text 2"/>
          <p:cNvSpPr txBox="1"/>
          <p:nvPr/>
        </p:nvSpPr>
        <p:spPr>
          <a:xfrm>
            <a:off x="54864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097280" y="1362456"/>
            <a:ext cx="6217920" cy="740664"/>
          </a:xfrm>
          <a:prstGeom prst="rect">
            <a:avLst/>
          </a:prstGeom>
          <a:noFill/>
          <a:ln/>
        </p:spPr>
        <p:txBody>
          <a:bodyPr wrap="square" lIns="0" tIns="0" rIns="0" bIns="0" rtlCol="0" anchor="t"/>
          <a:lstStyle/>
          <a:p>
            <a:pPr indent="0" marL="0">
              <a:buNone/>
            </a:pPr>
            <a:r>
              <a:rPr lang="en-US" sz="1500" dirty="0">
                <a:solidFill>
                  <a:schemeClr val="tx1"/>
                </a:solidFill>
              </a:rPr>
              <a:t>Série temporelle Sentinel-2 sur un tronçon de rivière aurifère</a:t>
            </a:r>
            <a:endParaRPr lang="en-US" sz="1500" dirty="0"/>
          </a:p>
        </p:txBody>
      </p:sp>
      <p:sp>
        <p:nvSpPr>
          <p:cNvPr id="7" name="num"/>
          <p:cNvSpPr/>
          <p:nvPr/>
        </p:nvSpPr>
        <p:spPr>
          <a:xfrm>
            <a:off x="548640" y="2194560"/>
            <a:ext cx="402336" cy="402336"/>
          </a:xfrm>
          <a:prstGeom prst="ellipse">
            <a:avLst/>
          </a:prstGeom>
          <a:solidFill>
            <a:srgbClr val="3F6C9A"/>
          </a:solidFill>
          <a:ln w="12700">
            <a:solidFill>
              <a:srgbClr val="3F6C9A"/>
            </a:solidFill>
            <a:prstDash val="solid"/>
          </a:ln>
        </p:spPr>
      </p:sp>
      <p:sp>
        <p:nvSpPr>
          <p:cNvPr id="8" name="Text 5"/>
          <p:cNvSpPr txBox="1"/>
          <p:nvPr/>
        </p:nvSpPr>
        <p:spPr>
          <a:xfrm>
            <a:off x="548640" y="21945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1097280" y="2139696"/>
            <a:ext cx="6217920" cy="740664"/>
          </a:xfrm>
          <a:prstGeom prst="rect">
            <a:avLst/>
          </a:prstGeom>
          <a:noFill/>
          <a:ln/>
        </p:spPr>
        <p:txBody>
          <a:bodyPr wrap="square" lIns="0" tIns="0" rIns="0" bIns="0" rtlCol="0" anchor="t"/>
          <a:lstStyle/>
          <a:p>
            <a:pPr indent="0" marL="0">
              <a:buNone/>
            </a:pPr>
            <a:r>
              <a:rPr lang="en-US" sz="1500" dirty="0">
                <a:solidFill>
                  <a:schemeClr val="tx1"/>
                </a:solidFill>
              </a:rPr>
              <a:t>Détecter sols mis à nu, bassins et barges</a:t>
            </a:r>
            <a:endParaRPr lang="en-US" sz="1500" dirty="0"/>
          </a:p>
        </p:txBody>
      </p:sp>
      <p:sp>
        <p:nvSpPr>
          <p:cNvPr id="10" name="num"/>
          <p:cNvSpPr/>
          <p:nvPr/>
        </p:nvSpPr>
        <p:spPr>
          <a:xfrm>
            <a:off x="548640" y="2971800"/>
            <a:ext cx="402336" cy="402336"/>
          </a:xfrm>
          <a:prstGeom prst="ellipse">
            <a:avLst/>
          </a:prstGeom>
          <a:solidFill>
            <a:srgbClr val="3F6C9A"/>
          </a:solidFill>
          <a:ln w="12700">
            <a:solidFill>
              <a:srgbClr val="3F6C9A"/>
            </a:solidFill>
            <a:prstDash val="solid"/>
          </a:ln>
        </p:spPr>
      </p:sp>
      <p:sp>
        <p:nvSpPr>
          <p:cNvPr id="11" name="Text 8"/>
          <p:cNvSpPr txBox="1"/>
          <p:nvPr/>
        </p:nvSpPr>
        <p:spPr>
          <a:xfrm>
            <a:off x="548640" y="29718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1097280" y="2916936"/>
            <a:ext cx="6217920" cy="740664"/>
          </a:xfrm>
          <a:prstGeom prst="rect">
            <a:avLst/>
          </a:prstGeom>
          <a:noFill/>
          <a:ln/>
        </p:spPr>
        <p:txBody>
          <a:bodyPr wrap="square" lIns="0" tIns="0" rIns="0" bIns="0" rtlCol="0" anchor="t"/>
          <a:lstStyle/>
          <a:p>
            <a:pPr indent="0" marL="0">
              <a:buNone/>
            </a:pPr>
            <a:r>
              <a:rPr lang="en-US" sz="1500" dirty="0">
                <a:solidFill>
                  <a:schemeClr val="tx1"/>
                </a:solidFill>
              </a:rPr>
              <a:t>Indice de turbidité de l'eau en amont et en aval des chantiers</a:t>
            </a:r>
            <a:endParaRPr lang="en-US" sz="1500" dirty="0"/>
          </a:p>
        </p:txBody>
      </p:sp>
      <p:sp>
        <p:nvSpPr>
          <p:cNvPr id="13" name="num"/>
          <p:cNvSpPr/>
          <p:nvPr/>
        </p:nvSpPr>
        <p:spPr>
          <a:xfrm>
            <a:off x="548640" y="3749040"/>
            <a:ext cx="402336" cy="402336"/>
          </a:xfrm>
          <a:prstGeom prst="ellipse">
            <a:avLst/>
          </a:prstGeom>
          <a:solidFill>
            <a:srgbClr val="3F6C9A"/>
          </a:solidFill>
          <a:ln w="12700">
            <a:solidFill>
              <a:srgbClr val="3F6C9A"/>
            </a:solidFill>
            <a:prstDash val="solid"/>
          </a:ln>
        </p:spPr>
      </p:sp>
      <p:sp>
        <p:nvSpPr>
          <p:cNvPr id="14" name="Text 11"/>
          <p:cNvSpPr txBox="1"/>
          <p:nvPr/>
        </p:nvSpPr>
        <p:spPr>
          <a:xfrm>
            <a:off x="548640" y="3749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2"/>
          <p:cNvSpPr txBox="1"/>
          <p:nvPr/>
        </p:nvSpPr>
        <p:spPr>
          <a:xfrm>
            <a:off x="1097280" y="3694176"/>
            <a:ext cx="6217920" cy="740664"/>
          </a:xfrm>
          <a:prstGeom prst="rect">
            <a:avLst/>
          </a:prstGeom>
          <a:noFill/>
          <a:ln/>
        </p:spPr>
        <p:txBody>
          <a:bodyPr wrap="square" lIns="0" tIns="0" rIns="0" bIns="0" rtlCol="0" anchor="t"/>
          <a:lstStyle/>
          <a:p>
            <a:pPr indent="0" marL="0">
              <a:buNone/>
            </a:pPr>
            <a:r>
              <a:rPr lang="en-US" sz="1500" dirty="0">
                <a:solidFill>
                  <a:schemeClr val="tx1"/>
                </a:solidFill>
              </a:rPr>
              <a:t>Calculer les surfaces perturbées par année</a:t>
            </a:r>
            <a:endParaRPr lang="en-US" sz="1500" dirty="0"/>
          </a:p>
        </p:txBody>
      </p:sp>
      <p:sp>
        <p:nvSpPr>
          <p:cNvPr id="16" name="num"/>
          <p:cNvSpPr/>
          <p:nvPr/>
        </p:nvSpPr>
        <p:spPr>
          <a:xfrm>
            <a:off x="548640" y="4526280"/>
            <a:ext cx="402336" cy="402336"/>
          </a:xfrm>
          <a:prstGeom prst="ellipse">
            <a:avLst/>
          </a:prstGeom>
          <a:solidFill>
            <a:srgbClr val="3F6C9A"/>
          </a:solidFill>
          <a:ln w="12700">
            <a:solidFill>
              <a:srgbClr val="3F6C9A"/>
            </a:solidFill>
            <a:prstDash val="solid"/>
          </a:ln>
        </p:spPr>
      </p:sp>
      <p:sp>
        <p:nvSpPr>
          <p:cNvPr id="17" name="Text 14"/>
          <p:cNvSpPr txBox="1"/>
          <p:nvPr/>
        </p:nvSpPr>
        <p:spPr>
          <a:xfrm>
            <a:off x="548640" y="4526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5"/>
          <p:cNvSpPr txBox="1"/>
          <p:nvPr/>
        </p:nvSpPr>
        <p:spPr>
          <a:xfrm>
            <a:off x="1097280" y="4471416"/>
            <a:ext cx="6217920" cy="740664"/>
          </a:xfrm>
          <a:prstGeom prst="rect">
            <a:avLst/>
          </a:prstGeom>
          <a:noFill/>
          <a:ln/>
        </p:spPr>
        <p:txBody>
          <a:bodyPr wrap="square" lIns="0" tIns="0" rIns="0" bIns="0" rtlCol="0" anchor="t"/>
          <a:lstStyle/>
          <a:p>
            <a:pPr indent="0" marL="0">
              <a:buNone/>
            </a:pPr>
            <a:r>
              <a:rPr lang="en-US" sz="1500" dirty="0">
                <a:solidFill>
                  <a:schemeClr val="tx1"/>
                </a:solidFill>
              </a:rPr>
              <a:t>Comparer aux titres miniers : chantier autorisé ou non ?</a:t>
            </a:r>
            <a:endParaRPr lang="en-US" sz="1500" dirty="0"/>
          </a:p>
        </p:txBody>
      </p:sp>
      <p:sp>
        <p:nvSpPr>
          <p:cNvPr id="19" name="panel"/>
          <p:cNvSpPr/>
          <p:nvPr/>
        </p:nvSpPr>
        <p:spPr>
          <a:xfrm>
            <a:off x="7680960" y="1417320"/>
            <a:ext cx="3931920" cy="4663440"/>
          </a:xfrm>
          <a:prstGeom prst="roundRect">
            <a:avLst>
              <a:gd name="adj" fmla="val 1860"/>
            </a:avLst>
          </a:prstGeom>
          <a:solidFill>
            <a:schemeClr val="bg2"/>
          </a:solidFill>
          <a:ln w="12700">
            <a:solidFill>
              <a:schemeClr val="bg2"/>
            </a:solidFill>
            <a:prstDash val="solid"/>
          </a:ln>
        </p:spPr>
      </p:sp>
      <p:sp>
        <p:nvSpPr>
          <p:cNvPr id="20" name="icon-circle"/>
          <p:cNvSpPr/>
          <p:nvPr/>
        </p:nvSpPr>
        <p:spPr>
          <a:xfrm>
            <a:off x="7909560" y="1645920"/>
            <a:ext cx="548640" cy="548640"/>
          </a:xfrm>
          <a:prstGeom prst="ellipse">
            <a:avLst/>
          </a:prstGeom>
          <a:solidFill>
            <a:srgbClr val="3F6C9A"/>
          </a:solidFill>
          <a:ln w="12700">
            <a:solidFill>
              <a:srgbClr val="3F6C9A"/>
            </a:solidFill>
            <a:prstDash val="solid"/>
          </a:ln>
        </p:spPr>
      </p:sp>
      <p:pic>
        <p:nvPicPr>
          <p:cNvPr id="21" name="icon" descr="preencoded.png">    </p:cNvPr>
          <p:cNvPicPr>
            <a:picLocks noChangeAspect="1"/>
          </p:cNvPicPr>
          <p:nvPr/>
        </p:nvPicPr>
        <p:blipFill>
          <a:blip r:embed="rId1"/>
          <a:stretch>
            <a:fillRect/>
          </a:stretch>
        </p:blipFill>
        <p:spPr>
          <a:xfrm>
            <a:off x="8030261" y="1766621"/>
            <a:ext cx="307238" cy="307238"/>
          </a:xfrm>
          <a:prstGeom prst="rect">
            <a:avLst/>
          </a:prstGeom>
        </p:spPr>
      </p:pic>
      <p:sp>
        <p:nvSpPr>
          <p:cNvPr id="22" name="Text 18"/>
          <p:cNvSpPr txBox="1"/>
          <p:nvPr/>
        </p:nvSpPr>
        <p:spPr>
          <a:xfrm>
            <a:off x="8595360" y="1645920"/>
            <a:ext cx="2834640" cy="548640"/>
          </a:xfrm>
          <a:prstGeom prst="rect">
            <a:avLst/>
          </a:prstGeom>
          <a:noFill/>
          <a:ln/>
        </p:spPr>
        <p:txBody>
          <a:bodyPr wrap="square" lIns="0" tIns="0" rIns="0" bIns="0" rtlCol="0" anchor="ctr"/>
          <a:lstStyle/>
          <a:p>
            <a:pPr indent="0" marL="0">
              <a:buNone/>
            </a:pPr>
            <a:r>
              <a:rPr lang="en-US" sz="1800" b="1" dirty="0">
                <a:solidFill>
                  <a:schemeClr val="tx2"/>
                </a:solidFill>
              </a:rPr>
              <a:t>Pourquoi c'est utile</a:t>
            </a:r>
            <a:endParaRPr lang="en-US" sz="1800" dirty="0"/>
          </a:p>
        </p:txBody>
      </p:sp>
      <p:sp>
        <p:nvSpPr>
          <p:cNvPr id="23" name="Text 19"/>
          <p:cNvSpPr txBox="1"/>
          <p:nvPr/>
        </p:nvSpPr>
        <p:spPr>
          <a:xfrm>
            <a:off x="7955280" y="2377440"/>
            <a:ext cx="338328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Suivi environnemental</a:t>
            </a:r>
            <a:endParaRPr lang="en-US" sz="1500" dirty="0"/>
          </a:p>
          <a:p>
            <a:pPr marL="342900" indent="-342900">
              <a:spcAft>
                <a:spcPts val="600"/>
              </a:spcAft>
              <a:buSzPct val="100000"/>
              <a:buChar char="•"/>
            </a:pPr>
            <a:r>
              <a:rPr lang="en-US" sz="1500" dirty="0">
                <a:solidFill>
                  <a:schemeClr val="tx1"/>
                </a:solidFill>
              </a:rPr>
              <a:t>Contrôle administratif</a:t>
            </a:r>
            <a:endParaRPr lang="en-US" sz="1500" dirty="0"/>
          </a:p>
          <a:p>
            <a:pPr marL="342900" indent="-342900">
              <a:spcAft>
                <a:spcPts val="600"/>
              </a:spcAft>
              <a:buSzPct val="100000"/>
              <a:buChar char="•"/>
            </a:pPr>
            <a:r>
              <a:rPr lang="en-US" sz="1500" dirty="0">
                <a:solidFill>
                  <a:schemeClr val="tx1"/>
                </a:solidFill>
              </a:rPr>
              <a:t>Traçabilité de l'or</a:t>
            </a:r>
            <a:endParaRPr lang="en-US" sz="1500" dirty="0"/>
          </a:p>
          <a:p>
            <a:pPr marL="342900" indent="-342900">
              <a:spcAft>
                <a:spcPts val="600"/>
              </a:spcAft>
              <a:buSzPct val="100000"/>
              <a:buChar char="•"/>
            </a:pPr>
            <a:r>
              <a:rPr lang="en-US" sz="1500" dirty="0">
                <a:solidFill>
                  <a:schemeClr val="tx1"/>
                </a:solidFill>
              </a:rPr>
              <a:t>Méthode transposable à la RDC et à la Zambie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Exercice cadastre : une cible n'a de valeur que si elle est accessible</a:t>
            </a:r>
            <a:endParaRPr lang="en-US" sz="3000" dirty="0"/>
          </a:p>
        </p:txBody>
      </p:sp>
      <p:sp>
        <p:nvSpPr>
          <p:cNvPr id="4" name="num"/>
          <p:cNvSpPr/>
          <p:nvPr/>
        </p:nvSpPr>
        <p:spPr>
          <a:xfrm>
            <a:off x="548640" y="1417320"/>
            <a:ext cx="402336" cy="402336"/>
          </a:xfrm>
          <a:prstGeom prst="ellipse">
            <a:avLst/>
          </a:prstGeom>
          <a:solidFill>
            <a:srgbClr val="B5542D"/>
          </a:solidFill>
          <a:ln w="12700">
            <a:solidFill>
              <a:srgbClr val="B5542D"/>
            </a:solidFill>
            <a:prstDash val="solid"/>
          </a:ln>
        </p:spPr>
      </p:sp>
      <p:sp>
        <p:nvSpPr>
          <p:cNvPr id="5" name="Text 2"/>
          <p:cNvSpPr txBox="1"/>
          <p:nvPr/>
        </p:nvSpPr>
        <p:spPr>
          <a:xfrm>
            <a:off x="54864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097280" y="1362456"/>
            <a:ext cx="4572000" cy="694944"/>
          </a:xfrm>
          <a:prstGeom prst="rect">
            <a:avLst/>
          </a:prstGeom>
          <a:noFill/>
          <a:ln/>
        </p:spPr>
        <p:txBody>
          <a:bodyPr wrap="square" lIns="0" tIns="0" rIns="0" bIns="0" rtlCol="0" anchor="t"/>
          <a:lstStyle/>
          <a:p>
            <a:pPr indent="0" marL="0">
              <a:buNone/>
            </a:pPr>
            <a:r>
              <a:rPr lang="en-US" sz="1500" dirty="0">
                <a:solidFill>
                  <a:schemeClr val="tx1"/>
                </a:solidFill>
              </a:rPr>
              <a:t>Charger la cible prioritaire du groupe</a:t>
            </a:r>
            <a:endParaRPr lang="en-US" sz="1500" dirty="0"/>
          </a:p>
        </p:txBody>
      </p:sp>
      <p:sp>
        <p:nvSpPr>
          <p:cNvPr id="7" name="num"/>
          <p:cNvSpPr/>
          <p:nvPr/>
        </p:nvSpPr>
        <p:spPr>
          <a:xfrm>
            <a:off x="548640" y="2148840"/>
            <a:ext cx="402336" cy="402336"/>
          </a:xfrm>
          <a:prstGeom prst="ellipse">
            <a:avLst/>
          </a:prstGeom>
          <a:solidFill>
            <a:srgbClr val="B5542D"/>
          </a:solidFill>
          <a:ln w="12700">
            <a:solidFill>
              <a:srgbClr val="B5542D"/>
            </a:solidFill>
            <a:prstDash val="solid"/>
          </a:ln>
        </p:spPr>
      </p:sp>
      <p:sp>
        <p:nvSpPr>
          <p:cNvPr id="8" name="Text 5"/>
          <p:cNvSpPr txBox="1"/>
          <p:nvPr/>
        </p:nvSpPr>
        <p:spPr>
          <a:xfrm>
            <a:off x="548640" y="21488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1097280" y="2093976"/>
            <a:ext cx="4572000" cy="694944"/>
          </a:xfrm>
          <a:prstGeom prst="rect">
            <a:avLst/>
          </a:prstGeom>
          <a:noFill/>
          <a:ln/>
        </p:spPr>
        <p:txBody>
          <a:bodyPr wrap="square" lIns="0" tIns="0" rIns="0" bIns="0" rtlCol="0" anchor="t"/>
          <a:lstStyle/>
          <a:p>
            <a:pPr indent="0" marL="0">
              <a:buNone/>
            </a:pPr>
            <a:r>
              <a:rPr lang="en-US" sz="1500" dirty="0">
                <a:solidFill>
                  <a:schemeClr val="tx1"/>
                </a:solidFill>
              </a:rPr>
              <a:t>Superposer titres miniers, aires protégées (WDPA), limites administratives</a:t>
            </a:r>
            <a:endParaRPr lang="en-US" sz="1500" dirty="0"/>
          </a:p>
        </p:txBody>
      </p:sp>
      <p:sp>
        <p:nvSpPr>
          <p:cNvPr id="10" name="num"/>
          <p:cNvSpPr/>
          <p:nvPr/>
        </p:nvSpPr>
        <p:spPr>
          <a:xfrm>
            <a:off x="548640" y="2880360"/>
            <a:ext cx="402336" cy="402336"/>
          </a:xfrm>
          <a:prstGeom prst="ellipse">
            <a:avLst/>
          </a:prstGeom>
          <a:solidFill>
            <a:srgbClr val="B5542D"/>
          </a:solidFill>
          <a:ln w="12700">
            <a:solidFill>
              <a:srgbClr val="B5542D"/>
            </a:solidFill>
            <a:prstDash val="solid"/>
          </a:ln>
        </p:spPr>
      </p:sp>
      <p:sp>
        <p:nvSpPr>
          <p:cNvPr id="11" name="Text 8"/>
          <p:cNvSpPr txBox="1"/>
          <p:nvPr/>
        </p:nvSpPr>
        <p:spPr>
          <a:xfrm>
            <a:off x="54864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1097280" y="2825496"/>
            <a:ext cx="4572000" cy="694944"/>
          </a:xfrm>
          <a:prstGeom prst="rect">
            <a:avLst/>
          </a:prstGeom>
          <a:noFill/>
          <a:ln/>
        </p:spPr>
        <p:txBody>
          <a:bodyPr wrap="square" lIns="0" tIns="0" rIns="0" bIns="0" rtlCol="0" anchor="t"/>
          <a:lstStyle/>
          <a:p>
            <a:pPr indent="0" marL="0">
              <a:buNone/>
            </a:pPr>
            <a:r>
              <a:rPr lang="en-US" sz="1500" dirty="0">
                <a:solidFill>
                  <a:schemeClr val="tx1"/>
                </a:solidFill>
              </a:rPr>
              <a:t>Classer la cible selon son statut</a:t>
            </a:r>
            <a:endParaRPr lang="en-US" sz="1500" dirty="0"/>
          </a:p>
        </p:txBody>
      </p:sp>
      <p:sp>
        <p:nvSpPr>
          <p:cNvPr id="13" name="num"/>
          <p:cNvSpPr/>
          <p:nvPr/>
        </p:nvSpPr>
        <p:spPr>
          <a:xfrm>
            <a:off x="548640" y="3611880"/>
            <a:ext cx="402336" cy="402336"/>
          </a:xfrm>
          <a:prstGeom prst="ellipse">
            <a:avLst/>
          </a:prstGeom>
          <a:solidFill>
            <a:srgbClr val="B5542D"/>
          </a:solidFill>
          <a:ln w="12700">
            <a:solidFill>
              <a:srgbClr val="B5542D"/>
            </a:solidFill>
            <a:prstDash val="solid"/>
          </a:ln>
        </p:spPr>
      </p:sp>
      <p:sp>
        <p:nvSpPr>
          <p:cNvPr id="14" name="Text 11"/>
          <p:cNvSpPr txBox="1"/>
          <p:nvPr/>
        </p:nvSpPr>
        <p:spPr>
          <a:xfrm>
            <a:off x="54864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2"/>
          <p:cNvSpPr txBox="1"/>
          <p:nvPr/>
        </p:nvSpPr>
        <p:spPr>
          <a:xfrm>
            <a:off x="1097280" y="3557016"/>
            <a:ext cx="4572000" cy="694944"/>
          </a:xfrm>
          <a:prstGeom prst="rect">
            <a:avLst/>
          </a:prstGeom>
          <a:noFill/>
          <a:ln/>
        </p:spPr>
        <p:txBody>
          <a:bodyPr wrap="square" lIns="0" tIns="0" rIns="0" bIns="0" rtlCol="0" anchor="t"/>
          <a:lstStyle/>
          <a:p>
            <a:pPr indent="0" marL="0">
              <a:buNone/>
            </a:pPr>
            <a:r>
              <a:rPr lang="en-US" sz="1500" dirty="0">
                <a:solidFill>
                  <a:schemeClr val="tx1"/>
                </a:solidFill>
              </a:rPr>
              <a:t>En déduire la démarche réaliste</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035040" y="1417320"/>
          <a:ext cx="5577840" cy="914400"/>
        </p:xfrm>
        <a:graphic>
          <a:graphicData uri="http://schemas.openxmlformats.org/drawingml/2006/table">
            <a:tbl>
              <a:tblPr/>
              <a:tblGrid>
                <a:gridCol w="2743200"/>
                <a:gridCol w="2834640"/>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Statut de la cible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Démarche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6400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Libre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Demande de permis de recherche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Sous permis de recherche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Partenariat avec le détenteur</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400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Sous permis d'exploitation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Hors périmètre, ou rachat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En aire protégée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Abandon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17" name="callout"/>
          <p:cNvSpPr/>
          <p:nvPr/>
        </p:nvSpPr>
        <p:spPr>
          <a:xfrm>
            <a:off x="548640" y="5394960"/>
            <a:ext cx="11064240" cy="640080"/>
          </a:xfrm>
          <a:prstGeom prst="roundRect">
            <a:avLst>
              <a:gd name="adj" fmla="val 11429"/>
            </a:avLst>
          </a:prstGeom>
          <a:solidFill>
            <a:srgbClr val="3E7C6B">
              <a:alpha val="15000"/>
            </a:srgbClr>
          </a:solidFill>
          <a:ln w="12700">
            <a:solidFill>
              <a:srgbClr val="3E7C6B"/>
            </a:solidFill>
            <a:prstDash val="solid"/>
          </a:ln>
        </p:spPr>
      </p:sp>
      <p:sp>
        <p:nvSpPr>
          <p:cNvPr id="18" name="icon-circle"/>
          <p:cNvSpPr/>
          <p:nvPr/>
        </p:nvSpPr>
        <p:spPr>
          <a:xfrm>
            <a:off x="685800" y="5513832"/>
            <a:ext cx="402336" cy="402336"/>
          </a:xfrm>
          <a:prstGeom prst="ellipse">
            <a:avLst/>
          </a:prstGeom>
          <a:solidFill>
            <a:srgbClr val="3E7C6B"/>
          </a:solidFill>
          <a:ln w="12700">
            <a:solidFill>
              <a:srgbClr val="3E7C6B"/>
            </a:solidFill>
            <a:prstDash val="solid"/>
          </a:ln>
        </p:spPr>
      </p:sp>
      <p:pic>
        <p:nvPicPr>
          <p:cNvPr id="19" name="icon" descr="preencoded.png">    </p:cNvPr>
          <p:cNvPicPr>
            <a:picLocks noChangeAspect="1"/>
          </p:cNvPicPr>
          <p:nvPr/>
        </p:nvPicPr>
        <p:blipFill>
          <a:blip r:embed="rId1"/>
          <a:stretch>
            <a:fillRect/>
          </a:stretch>
        </p:blipFill>
        <p:spPr>
          <a:xfrm>
            <a:off x="774314" y="5602346"/>
            <a:ext cx="225308" cy="225308"/>
          </a:xfrm>
          <a:prstGeom prst="rect">
            <a:avLst/>
          </a:prstGeom>
        </p:spPr>
      </p:pic>
      <p:sp>
        <p:nvSpPr>
          <p:cNvPr id="20" name="Text 15"/>
          <p:cNvSpPr txBox="1"/>
          <p:nvPr/>
        </p:nvSpPr>
        <p:spPr>
          <a:xfrm>
            <a:off x="1234440" y="5394960"/>
            <a:ext cx="10195560" cy="640080"/>
          </a:xfrm>
          <a:prstGeom prst="rect">
            <a:avLst/>
          </a:prstGeom>
          <a:noFill/>
          <a:ln/>
        </p:spPr>
        <p:txBody>
          <a:bodyPr wrap="square" lIns="0" tIns="0" rIns="0" bIns="0" rtlCol="0" anchor="ctr"/>
          <a:lstStyle/>
          <a:p>
            <a:pPr indent="0" marL="0">
              <a:buNone/>
            </a:pPr>
            <a:r>
              <a:rPr lang="en-US" sz="1500" dirty="0">
                <a:solidFill>
                  <a:schemeClr val="tx2"/>
                </a:solidFill>
              </a:rPr>
              <a:t>Livrables J3 : carte géochimique, prospectivité préliminaire, suivi environnemental, statut cadastral des cibles.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nchor="b"/>
          <a:lstStyle/>
          <a:p>
            <a:pPr algn="l" indent="0" marL="0">
              <a:buNone/>
            </a:pPr>
            <a:r>
              <a:rPr lang="en-US" sz="5400" b="1" dirty="0">
                <a:solidFill>
                  <a:srgbClr val="D9A441"/>
                </a:solidFill>
                <a:latin typeface="Cambria" pitchFamily="34" charset="0"/>
                <a:ea typeface="Cambria" pitchFamily="34" charset="-122"/>
                <a:cs typeface="Cambria" pitchFamily="34" charset="-120"/>
              </a:rPr>
              <a:t>Jour 4</a:t>
            </a: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De la cible au projet minier</a:t>
            </a: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nchor="t"/>
          <a:lstStyle/>
          <a:p>
            <a:pPr algn="l" indent="0" marL="0">
              <a:buNone/>
            </a:pPr>
            <a:r>
              <a:rPr lang="en-US" sz="1800" dirty="0">
                <a:solidFill>
                  <a:srgbClr val="CFD8DC"/>
                </a:solidFill>
                <a:latin typeface="Calibri" pitchFamily="34" charset="0"/>
                <a:ea typeface="Calibri" pitchFamily="34" charset="-122"/>
                <a:cs typeface="Calibri" pitchFamily="34" charset="-120"/>
              </a:rPr>
              <a:t>Transformer des couches en indice de prospectivité, le valider, puis appliquer la méthode à un autre pays.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Programme du jour 4</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7223760"/>
                <a:gridCol w="18288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Horaire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Séquence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8 h 30 – 10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4 — Prospectivité minérale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10 h 15 – 12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TP4 — Indice de prospectivité Cameroun, validation, top 10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13 h 30 – 15 h 45</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Ateliers pays tournants (un pays par groupe)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15 h 45 – 16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Restitution des pays : 8 minutes par groupe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La superposition pondérée : reclasser, pondérer, additionner</a:t>
            </a:r>
            <a:endParaRPr lang="en-US" sz="3000" dirty="0"/>
          </a:p>
        </p:txBody>
      </p:sp>
      <p:sp>
        <p:nvSpPr>
          <p:cNvPr id="4" name="step"/>
          <p:cNvSpPr/>
          <p:nvPr/>
        </p:nvSpPr>
        <p:spPr>
          <a:xfrm>
            <a:off x="548640" y="1463040"/>
            <a:ext cx="2491740" cy="1828800"/>
          </a:xfrm>
          <a:prstGeom prst="roundRect">
            <a:avLst>
              <a:gd name="adj" fmla="val 4000"/>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7276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Reclasser</a:t>
            </a:r>
            <a:endParaRPr lang="en-US" sz="1500" dirty="0"/>
          </a:p>
        </p:txBody>
      </p:sp>
      <p:sp>
        <p:nvSpPr>
          <p:cNvPr id="8" name="Text 5"/>
          <p:cNvSpPr txBox="1"/>
          <p:nvPr/>
        </p:nvSpPr>
        <p:spPr>
          <a:xfrm>
            <a:off x="713232" y="2194560"/>
            <a:ext cx="2162556" cy="1005840"/>
          </a:xfrm>
          <a:prstGeom prst="rect">
            <a:avLst/>
          </a:prstGeom>
          <a:noFill/>
          <a:ln/>
        </p:spPr>
        <p:txBody>
          <a:bodyPr wrap="square" lIns="0" tIns="0" rIns="0" bIns="0" rtlCol="0" anchor="t"/>
          <a:lstStyle/>
          <a:p>
            <a:pPr indent="0" marL="0">
              <a:buNone/>
            </a:pPr>
            <a:r>
              <a:rPr lang="en-US" sz="1400" dirty="0">
                <a:solidFill>
                  <a:schemeClr val="tx1"/>
                </a:solidFill>
              </a:rPr>
              <a:t>Chaque couche ramenée entre 0 et 1</a:t>
            </a:r>
            <a:endParaRPr lang="en-US" sz="1400" dirty="0"/>
          </a:p>
        </p:txBody>
      </p:sp>
      <p:sp>
        <p:nvSpPr>
          <p:cNvPr id="9" name="arrow"/>
          <p:cNvSpPr/>
          <p:nvPr/>
        </p:nvSpPr>
        <p:spPr>
          <a:xfrm>
            <a:off x="3113532" y="2249424"/>
            <a:ext cx="219456" cy="256032"/>
          </a:xfrm>
          <a:prstGeom prst="rightArrow">
            <a:avLst/>
          </a:prstGeom>
          <a:solidFill>
            <a:srgbClr val="9AA5AC"/>
          </a:solidFill>
          <a:ln w="12700">
            <a:solidFill>
              <a:srgbClr val="9AA5AC"/>
            </a:solidFill>
            <a:prstDash val="solid"/>
          </a:ln>
        </p:spPr>
      </p:sp>
      <p:sp>
        <p:nvSpPr>
          <p:cNvPr id="10" name="step"/>
          <p:cNvSpPr/>
          <p:nvPr/>
        </p:nvSpPr>
        <p:spPr>
          <a:xfrm>
            <a:off x="3406140" y="1463040"/>
            <a:ext cx="2491740" cy="1828800"/>
          </a:xfrm>
          <a:prstGeom prst="roundRect">
            <a:avLst>
              <a:gd name="adj" fmla="val 4000"/>
            </a:avLst>
          </a:prstGeom>
          <a:solidFill>
            <a:srgbClr val="EEF2F3"/>
          </a:solidFill>
          <a:ln w="12700">
            <a:solidFill>
              <a:srgbClr val="EEF2F3"/>
            </a:solidFill>
            <a:prstDash val="solid"/>
          </a:ln>
        </p:spPr>
      </p:sp>
      <p:sp>
        <p:nvSpPr>
          <p:cNvPr id="11" name="step-num"/>
          <p:cNvSpPr/>
          <p:nvPr/>
        </p:nvSpPr>
        <p:spPr>
          <a:xfrm>
            <a:off x="3570732" y="1627632"/>
            <a:ext cx="420624" cy="420624"/>
          </a:xfrm>
          <a:prstGeom prst="ellipse">
            <a:avLst/>
          </a:prstGeom>
          <a:solidFill>
            <a:srgbClr val="B5542D"/>
          </a:solidFill>
          <a:ln w="12700">
            <a:solidFill>
              <a:srgbClr val="B5542D"/>
            </a:solidFill>
            <a:prstDash val="solid"/>
          </a:ln>
        </p:spPr>
      </p:sp>
      <p:sp>
        <p:nvSpPr>
          <p:cNvPr id="12" name="Text 9"/>
          <p:cNvSpPr txBox="1"/>
          <p:nvPr/>
        </p:nvSpPr>
        <p:spPr>
          <a:xfrm>
            <a:off x="35707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4064508" y="157276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Pondérer</a:t>
            </a:r>
            <a:endParaRPr lang="en-US" sz="1500" dirty="0"/>
          </a:p>
        </p:txBody>
      </p:sp>
      <p:sp>
        <p:nvSpPr>
          <p:cNvPr id="14" name="Text 11"/>
          <p:cNvSpPr txBox="1"/>
          <p:nvPr/>
        </p:nvSpPr>
        <p:spPr>
          <a:xfrm>
            <a:off x="3570732" y="2194560"/>
            <a:ext cx="2162556" cy="1005840"/>
          </a:xfrm>
          <a:prstGeom prst="rect">
            <a:avLst/>
          </a:prstGeom>
          <a:noFill/>
          <a:ln/>
        </p:spPr>
        <p:txBody>
          <a:bodyPr wrap="square" lIns="0" tIns="0" rIns="0" bIns="0" rtlCol="0" anchor="t"/>
          <a:lstStyle/>
          <a:p>
            <a:pPr indent="0" marL="0">
              <a:buNone/>
            </a:pPr>
            <a:r>
              <a:rPr lang="en-US" sz="1400" dirty="0">
                <a:solidFill>
                  <a:schemeClr val="tx1"/>
                </a:solidFill>
              </a:rPr>
              <a:t>Un poids par critère, total = 100 %</a:t>
            </a:r>
            <a:endParaRPr lang="en-US" sz="1400" dirty="0"/>
          </a:p>
        </p:txBody>
      </p:sp>
      <p:sp>
        <p:nvSpPr>
          <p:cNvPr id="15" name="arrow"/>
          <p:cNvSpPr/>
          <p:nvPr/>
        </p:nvSpPr>
        <p:spPr>
          <a:xfrm>
            <a:off x="5971032" y="2249424"/>
            <a:ext cx="219456" cy="256032"/>
          </a:xfrm>
          <a:prstGeom prst="rightArrow">
            <a:avLst/>
          </a:prstGeom>
          <a:solidFill>
            <a:srgbClr val="9AA5AC"/>
          </a:solidFill>
          <a:ln w="12700">
            <a:solidFill>
              <a:srgbClr val="9AA5AC"/>
            </a:solidFill>
            <a:prstDash val="solid"/>
          </a:ln>
        </p:spPr>
      </p:sp>
      <p:sp>
        <p:nvSpPr>
          <p:cNvPr id="16" name="step"/>
          <p:cNvSpPr/>
          <p:nvPr/>
        </p:nvSpPr>
        <p:spPr>
          <a:xfrm>
            <a:off x="6263640" y="1463040"/>
            <a:ext cx="2491740" cy="1828800"/>
          </a:xfrm>
          <a:prstGeom prst="roundRect">
            <a:avLst>
              <a:gd name="adj" fmla="val 4000"/>
            </a:avLst>
          </a:prstGeom>
          <a:solidFill>
            <a:srgbClr val="EEF2F3"/>
          </a:solidFill>
          <a:ln w="12700">
            <a:solidFill>
              <a:srgbClr val="EEF2F3"/>
            </a:solidFill>
            <a:prstDash val="solid"/>
          </a:ln>
        </p:spPr>
      </p:sp>
      <p:sp>
        <p:nvSpPr>
          <p:cNvPr id="17" name="step-num"/>
          <p:cNvSpPr/>
          <p:nvPr/>
        </p:nvSpPr>
        <p:spPr>
          <a:xfrm>
            <a:off x="6428232" y="1627632"/>
            <a:ext cx="420624" cy="420624"/>
          </a:xfrm>
          <a:prstGeom prst="ellipse">
            <a:avLst/>
          </a:prstGeom>
          <a:solidFill>
            <a:srgbClr val="B5542D"/>
          </a:solidFill>
          <a:ln w="12700">
            <a:solidFill>
              <a:srgbClr val="B5542D"/>
            </a:solidFill>
            <a:prstDash val="solid"/>
          </a:ln>
        </p:spPr>
      </p:sp>
      <p:sp>
        <p:nvSpPr>
          <p:cNvPr id="18" name="Text 15"/>
          <p:cNvSpPr txBox="1"/>
          <p:nvPr/>
        </p:nvSpPr>
        <p:spPr>
          <a:xfrm>
            <a:off x="6428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6922008" y="157276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Additionner</a:t>
            </a:r>
            <a:endParaRPr lang="en-US" sz="1500" dirty="0"/>
          </a:p>
        </p:txBody>
      </p:sp>
      <p:sp>
        <p:nvSpPr>
          <p:cNvPr id="20" name="Text 17"/>
          <p:cNvSpPr txBox="1"/>
          <p:nvPr/>
        </p:nvSpPr>
        <p:spPr>
          <a:xfrm>
            <a:off x="6428232" y="2194560"/>
            <a:ext cx="2162556" cy="1005840"/>
          </a:xfrm>
          <a:prstGeom prst="rect">
            <a:avLst/>
          </a:prstGeom>
          <a:noFill/>
          <a:ln/>
        </p:spPr>
        <p:txBody>
          <a:bodyPr wrap="square" lIns="0" tIns="0" rIns="0" bIns="0" rtlCol="0" anchor="t"/>
          <a:lstStyle/>
          <a:p>
            <a:pPr indent="0" marL="0">
              <a:buNone/>
            </a:pPr>
            <a:r>
              <a:rPr lang="en-US" sz="1400" dirty="0">
                <a:solidFill>
                  <a:schemeClr val="tx1"/>
                </a:solidFill>
              </a:rPr>
              <a:t>Calculatrice raster QGIS</a:t>
            </a:r>
            <a:endParaRPr lang="en-US" sz="1400" dirty="0"/>
          </a:p>
        </p:txBody>
      </p:sp>
      <p:sp>
        <p:nvSpPr>
          <p:cNvPr id="21" name="arrow"/>
          <p:cNvSpPr/>
          <p:nvPr/>
        </p:nvSpPr>
        <p:spPr>
          <a:xfrm>
            <a:off x="8828532" y="2249424"/>
            <a:ext cx="219456" cy="256032"/>
          </a:xfrm>
          <a:prstGeom prst="rightArrow">
            <a:avLst/>
          </a:prstGeom>
          <a:solidFill>
            <a:srgbClr val="9AA5AC"/>
          </a:solidFill>
          <a:ln w="12700">
            <a:solidFill>
              <a:srgbClr val="9AA5AC"/>
            </a:solidFill>
            <a:prstDash val="solid"/>
          </a:ln>
        </p:spPr>
      </p:sp>
      <p:sp>
        <p:nvSpPr>
          <p:cNvPr id="22" name="step"/>
          <p:cNvSpPr/>
          <p:nvPr/>
        </p:nvSpPr>
        <p:spPr>
          <a:xfrm>
            <a:off x="9121140" y="1463040"/>
            <a:ext cx="2491740" cy="1828800"/>
          </a:xfrm>
          <a:prstGeom prst="roundRect">
            <a:avLst>
              <a:gd name="adj" fmla="val 4000"/>
            </a:avLst>
          </a:prstGeom>
          <a:solidFill>
            <a:srgbClr val="EEF2F3"/>
          </a:solidFill>
          <a:ln w="12700">
            <a:solidFill>
              <a:srgbClr val="EEF2F3"/>
            </a:solidFill>
            <a:prstDash val="solid"/>
          </a:ln>
        </p:spPr>
      </p:sp>
      <p:sp>
        <p:nvSpPr>
          <p:cNvPr id="23" name="step-num"/>
          <p:cNvSpPr/>
          <p:nvPr/>
        </p:nvSpPr>
        <p:spPr>
          <a:xfrm>
            <a:off x="9285732" y="162763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92857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9779508" y="157276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Classer</a:t>
            </a:r>
            <a:endParaRPr lang="en-US" sz="1500" dirty="0"/>
          </a:p>
        </p:txBody>
      </p:sp>
      <p:sp>
        <p:nvSpPr>
          <p:cNvPr id="26" name="Text 23"/>
          <p:cNvSpPr txBox="1"/>
          <p:nvPr/>
        </p:nvSpPr>
        <p:spPr>
          <a:xfrm>
            <a:off x="9285732" y="2194560"/>
            <a:ext cx="2162556" cy="1005840"/>
          </a:xfrm>
          <a:prstGeom prst="rect">
            <a:avLst/>
          </a:prstGeom>
          <a:noFill/>
          <a:ln/>
        </p:spPr>
        <p:txBody>
          <a:bodyPr wrap="square" lIns="0" tIns="0" rIns="0" bIns="0" rtlCol="0" anchor="t"/>
          <a:lstStyle/>
          <a:p>
            <a:pPr indent="0" marL="0">
              <a:buNone/>
            </a:pPr>
            <a:r>
              <a:rPr lang="en-US" sz="1400" dirty="0">
                <a:solidFill>
                  <a:schemeClr val="tx1"/>
                </a:solidFill>
              </a:rPr>
              <a:t>0 = faible, 1 = très forte</a:t>
            </a:r>
            <a:endParaRPr lang="en-US" sz="1400" dirty="0"/>
          </a:p>
        </p:txBody>
      </p:sp>
      <p:sp>
        <p:nvSpPr>
          <p:cNvPr id="27" name="formula-box"/>
          <p:cNvSpPr/>
          <p:nvPr/>
        </p:nvSpPr>
        <p:spPr>
          <a:xfrm>
            <a:off x="548640" y="3657600"/>
            <a:ext cx="11064240" cy="1280160"/>
          </a:xfrm>
          <a:prstGeom prst="roundRect">
            <a:avLst>
              <a:gd name="adj" fmla="val 5714"/>
            </a:avLst>
          </a:prstGeom>
          <a:solidFill>
            <a:schemeClr val="bg2"/>
          </a:solidFill>
          <a:ln w="12700">
            <a:solidFill>
              <a:schemeClr val="bg2"/>
            </a:solidFill>
            <a:prstDash val="solid"/>
          </a:ln>
        </p:spPr>
      </p:sp>
      <p:sp>
        <p:nvSpPr>
          <p:cNvPr id="28" name="Text 25"/>
          <p:cNvSpPr txBox="1"/>
          <p:nvPr/>
        </p:nvSpPr>
        <p:spPr>
          <a:xfrm>
            <a:off x="822960" y="3657600"/>
            <a:ext cx="10515600" cy="128016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MPI = Σ wᵢ · xᵢ</a:t>
            </a:r>
            <a:endParaRPr lang="en-US" sz="2800" dirty="0"/>
          </a:p>
          <a:p>
            <a:pPr algn="ctr" indent="0" marL="0">
              <a:buNone/>
            </a:pPr>
            <a:r>
              <a:rPr lang="en-US" sz="1500" dirty="0">
                <a:solidFill>
                  <a:schemeClr val="tx1"/>
                </a:solidFill>
              </a:rPr>
              <a:t>avec Σ wᵢ = 1 et xᵢ compris entre 0 et 1</a:t>
            </a:r>
            <a:endParaRPr lang="en-US" sz="2800" dirty="0"/>
          </a:p>
        </p:txBody>
      </p:sp>
      <p:sp>
        <p:nvSpPr>
          <p:cNvPr id="29" name="callout"/>
          <p:cNvSpPr/>
          <p:nvPr/>
        </p:nvSpPr>
        <p:spPr>
          <a:xfrm>
            <a:off x="548640" y="5303520"/>
            <a:ext cx="11064240" cy="640080"/>
          </a:xfrm>
          <a:prstGeom prst="roundRect">
            <a:avLst>
              <a:gd name="adj" fmla="val 11429"/>
            </a:avLst>
          </a:prstGeom>
          <a:solidFill>
            <a:srgbClr val="B5542D">
              <a:alpha val="15000"/>
            </a:srgbClr>
          </a:solidFill>
          <a:ln w="12700">
            <a:solidFill>
              <a:srgbClr val="B5542D"/>
            </a:solidFill>
            <a:prstDash val="solid"/>
          </a:ln>
        </p:spPr>
      </p:sp>
      <p:sp>
        <p:nvSpPr>
          <p:cNvPr id="30" name="icon-circle"/>
          <p:cNvSpPr/>
          <p:nvPr/>
        </p:nvSpPr>
        <p:spPr>
          <a:xfrm>
            <a:off x="685800" y="5422392"/>
            <a:ext cx="402336" cy="402336"/>
          </a:xfrm>
          <a:prstGeom prst="ellipse">
            <a:avLst/>
          </a:prstGeom>
          <a:solidFill>
            <a:srgbClr val="B5542D"/>
          </a:solidFill>
          <a:ln w="12700">
            <a:solidFill>
              <a:srgbClr val="B5542D"/>
            </a:solidFill>
            <a:prstDash val="solid"/>
          </a:ln>
        </p:spPr>
      </p:sp>
      <p:pic>
        <p:nvPicPr>
          <p:cNvPr id="31" name="icon" descr="preencoded.png">    </p:cNvPr>
          <p:cNvPicPr>
            <a:picLocks noChangeAspect="1"/>
          </p:cNvPicPr>
          <p:nvPr/>
        </p:nvPicPr>
        <p:blipFill>
          <a:blip r:embed="rId1"/>
          <a:stretch>
            <a:fillRect/>
          </a:stretch>
        </p:blipFill>
        <p:spPr>
          <a:xfrm>
            <a:off x="774314" y="5510906"/>
            <a:ext cx="225308" cy="225308"/>
          </a:xfrm>
          <a:prstGeom prst="rect">
            <a:avLst/>
          </a:prstGeom>
        </p:spPr>
      </p:pic>
      <p:sp>
        <p:nvSpPr>
          <p:cNvPr id="32" name="Text 28"/>
          <p:cNvSpPr txBox="1"/>
          <p:nvPr/>
        </p:nvSpPr>
        <p:spPr>
          <a:xfrm>
            <a:off x="1234440" y="5303520"/>
            <a:ext cx="10195560" cy="640080"/>
          </a:xfrm>
          <a:prstGeom prst="rect">
            <a:avLst/>
          </a:prstGeom>
          <a:noFill/>
          <a:ln/>
        </p:spPr>
        <p:txBody>
          <a:bodyPr wrap="square" lIns="0" tIns="0" rIns="0" bIns="0" rtlCol="0" anchor="ctr"/>
          <a:lstStyle/>
          <a:p>
            <a:pPr indent="0" marL="0">
              <a:buNone/>
            </a:pPr>
            <a:r>
              <a:rPr lang="en-US" sz="1500" dirty="0">
                <a:solidFill>
                  <a:schemeClr val="tx2"/>
                </a:solidFill>
              </a:rPr>
              <a:t>Les poids sont un choix d'expert : il faut ensuite vérifier qu'ils ne décident pas seuls du résultat.</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Deux critères sortent de l'indice, trois prennent du poids</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1828800"/>
                <a:gridCol w="2560320"/>
                <a:gridCol w="3931920"/>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Critère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Barème initial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Barème corrigé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Raison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43891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Géologie favorable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25 %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30 %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Premier contrôle de la minéralisation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Altération spectrale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20 %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15 % (10 % sous forêt)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Signal masqué par la végétation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43891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Structures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20 %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25 %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Contrôle majeur pour l'or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Géochimie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20 %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30 %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Mesure directe des éléments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43891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Proximité des occurrences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10 %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Réservée à la validation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Accessibilité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5 %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0 %</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Couche d'attractivité séparée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5" name="card"/>
          <p:cNvSpPr/>
          <p:nvPr/>
        </p:nvSpPr>
        <p:spPr>
          <a:xfrm>
            <a:off x="548640" y="4846320"/>
            <a:ext cx="5394960" cy="1325880"/>
          </a:xfrm>
          <a:prstGeom prst="roundRect">
            <a:avLst>
              <a:gd name="adj" fmla="val 5517"/>
            </a:avLst>
          </a:prstGeom>
          <a:solidFill>
            <a:schemeClr val="bg2"/>
          </a:solidFill>
          <a:ln w="12700">
            <a:solidFill>
              <a:schemeClr val="bg2"/>
            </a:solidFill>
            <a:prstDash val="solid"/>
          </a:ln>
        </p:spPr>
      </p:sp>
      <p:sp>
        <p:nvSpPr>
          <p:cNvPr id="6" name="icon-circle"/>
          <p:cNvSpPr/>
          <p:nvPr/>
        </p:nvSpPr>
        <p:spPr>
          <a:xfrm>
            <a:off x="777240" y="5074920"/>
            <a:ext cx="548640" cy="548640"/>
          </a:xfrm>
          <a:prstGeom prst="ellipse">
            <a:avLst/>
          </a:prstGeom>
          <a:solidFill>
            <a:srgbClr val="B5542D"/>
          </a:solidFill>
          <a:ln w="12700">
            <a:solidFill>
              <a:srgbClr val="B5542D"/>
            </a:solidFill>
            <a:prstDash val="solid"/>
          </a:ln>
        </p:spPr>
      </p:sp>
      <p:pic>
        <p:nvPicPr>
          <p:cNvPr id="7" name="icon" descr="preencoded.png">    </p:cNvPr>
          <p:cNvPicPr>
            <a:picLocks noChangeAspect="1"/>
          </p:cNvPicPr>
          <p:nvPr/>
        </p:nvPicPr>
        <p:blipFill>
          <a:blip r:embed="rId1"/>
          <a:stretch>
            <a:fillRect/>
          </a:stretch>
        </p:blipFill>
        <p:spPr>
          <a:xfrm>
            <a:off x="897941" y="5195621"/>
            <a:ext cx="307238" cy="307238"/>
          </a:xfrm>
          <a:prstGeom prst="rect">
            <a:avLst/>
          </a:prstGeom>
        </p:spPr>
      </p:pic>
      <p:sp>
        <p:nvSpPr>
          <p:cNvPr id="8" name="Text 3"/>
          <p:cNvSpPr txBox="1"/>
          <p:nvPr/>
        </p:nvSpPr>
        <p:spPr>
          <a:xfrm>
            <a:off x="1463040" y="5029200"/>
            <a:ext cx="4297680" cy="640080"/>
          </a:xfrm>
          <a:prstGeom prst="rect">
            <a:avLst/>
          </a:prstGeom>
          <a:noFill/>
          <a:ln/>
        </p:spPr>
        <p:txBody>
          <a:bodyPr wrap="square" lIns="0" tIns="0" rIns="0" bIns="0" rtlCol="0" anchor="ctr"/>
          <a:lstStyle/>
          <a:p>
            <a:pPr indent="0" marL="0">
              <a:buNone/>
            </a:pPr>
            <a:r>
              <a:rPr lang="en-US" sz="1700" b="1" dirty="0">
                <a:solidFill>
                  <a:schemeClr val="tx2"/>
                </a:solidFill>
              </a:rPr>
              <a:t>Circularité</a:t>
            </a:r>
            <a:endParaRPr lang="en-US" sz="1700" dirty="0"/>
          </a:p>
        </p:txBody>
      </p:sp>
      <p:sp>
        <p:nvSpPr>
          <p:cNvPr id="9" name="Text 4"/>
          <p:cNvSpPr txBox="1"/>
          <p:nvPr/>
        </p:nvSpPr>
        <p:spPr>
          <a:xfrm>
            <a:off x="777240" y="5760720"/>
            <a:ext cx="4937760" cy="274320"/>
          </a:xfrm>
          <a:prstGeom prst="rect">
            <a:avLst/>
          </a:prstGeom>
          <a:noFill/>
          <a:ln/>
        </p:spPr>
        <p:txBody>
          <a:bodyPr wrap="square" lIns="0" tIns="0" rIns="0" bIns="0" rtlCol="0" anchor="t"/>
          <a:lstStyle/>
          <a:p>
            <a:pPr indent="0" marL="0">
              <a:buNone/>
            </a:pPr>
            <a:r>
              <a:rPr lang="en-US" sz="1400" dirty="0">
                <a:solidFill>
                  <a:schemeClr val="tx1"/>
                </a:solidFill>
              </a:rPr>
              <a:t>Valider sur des occurrences déjà dans l'indice gonfle artificiellement le score.</a:t>
            </a:r>
            <a:endParaRPr lang="en-US" sz="1400" dirty="0"/>
          </a:p>
        </p:txBody>
      </p:sp>
      <p:sp>
        <p:nvSpPr>
          <p:cNvPr id="10" name="card"/>
          <p:cNvSpPr/>
          <p:nvPr/>
        </p:nvSpPr>
        <p:spPr>
          <a:xfrm>
            <a:off x="6217920" y="4846320"/>
            <a:ext cx="5394960" cy="1325880"/>
          </a:xfrm>
          <a:prstGeom prst="roundRect">
            <a:avLst>
              <a:gd name="adj" fmla="val 5517"/>
            </a:avLst>
          </a:prstGeom>
          <a:solidFill>
            <a:schemeClr val="bg2"/>
          </a:solidFill>
          <a:ln w="12700">
            <a:solidFill>
              <a:schemeClr val="bg2"/>
            </a:solidFill>
            <a:prstDash val="solid"/>
          </a:ln>
        </p:spPr>
      </p:sp>
      <p:sp>
        <p:nvSpPr>
          <p:cNvPr id="11" name="icon-circle"/>
          <p:cNvSpPr/>
          <p:nvPr/>
        </p:nvSpPr>
        <p:spPr>
          <a:xfrm>
            <a:off x="6446520" y="5074920"/>
            <a:ext cx="548640" cy="548640"/>
          </a:xfrm>
          <a:prstGeom prst="ellipse">
            <a:avLst/>
          </a:prstGeom>
          <a:solidFill>
            <a:srgbClr val="3E7C6B"/>
          </a:solidFill>
          <a:ln w="12700">
            <a:solidFill>
              <a:srgbClr val="3E7C6B"/>
            </a:solidFill>
            <a:prstDash val="solid"/>
          </a:ln>
        </p:spPr>
      </p:sp>
      <p:pic>
        <p:nvPicPr>
          <p:cNvPr id="12" name="icon" descr="preencoded.png">    </p:cNvPr>
          <p:cNvPicPr>
            <a:picLocks noChangeAspect="1"/>
          </p:cNvPicPr>
          <p:nvPr/>
        </p:nvPicPr>
        <p:blipFill>
          <a:blip r:embed="rId2"/>
          <a:stretch>
            <a:fillRect/>
          </a:stretch>
        </p:blipFill>
        <p:spPr>
          <a:xfrm>
            <a:off x="6567221" y="5195621"/>
            <a:ext cx="307238" cy="307238"/>
          </a:xfrm>
          <a:prstGeom prst="rect">
            <a:avLst/>
          </a:prstGeom>
        </p:spPr>
      </p:pic>
      <p:sp>
        <p:nvSpPr>
          <p:cNvPr id="13" name="Text 7"/>
          <p:cNvSpPr txBox="1"/>
          <p:nvPr/>
        </p:nvSpPr>
        <p:spPr>
          <a:xfrm>
            <a:off x="7132320" y="5029200"/>
            <a:ext cx="4297680" cy="640080"/>
          </a:xfrm>
          <a:prstGeom prst="rect">
            <a:avLst/>
          </a:prstGeom>
          <a:noFill/>
          <a:ln/>
        </p:spPr>
        <p:txBody>
          <a:bodyPr wrap="square" lIns="0" tIns="0" rIns="0" bIns="0" rtlCol="0" anchor="ctr"/>
          <a:lstStyle/>
          <a:p>
            <a:pPr indent="0" marL="0">
              <a:buNone/>
            </a:pPr>
            <a:r>
              <a:rPr lang="en-US" sz="1700" b="1" dirty="0">
                <a:solidFill>
                  <a:schemeClr val="tx2"/>
                </a:solidFill>
              </a:rPr>
              <a:t>Accessibilité</a:t>
            </a:r>
            <a:endParaRPr lang="en-US" sz="1700" dirty="0"/>
          </a:p>
        </p:txBody>
      </p:sp>
      <p:sp>
        <p:nvSpPr>
          <p:cNvPr id="14" name="Text 8"/>
          <p:cNvSpPr txBox="1"/>
          <p:nvPr/>
        </p:nvSpPr>
        <p:spPr>
          <a:xfrm>
            <a:off x="6446520" y="5760720"/>
            <a:ext cx="4937760" cy="274320"/>
          </a:xfrm>
          <a:prstGeom prst="rect">
            <a:avLst/>
          </a:prstGeom>
          <a:noFill/>
          <a:ln/>
        </p:spPr>
        <p:txBody>
          <a:bodyPr wrap="square" lIns="0" tIns="0" rIns="0" bIns="0" rtlCol="0" anchor="t"/>
          <a:lstStyle/>
          <a:p>
            <a:pPr indent="0" marL="0">
              <a:buNone/>
            </a:pPr>
            <a:r>
              <a:rPr lang="en-US" sz="1400" dirty="0">
                <a:solidFill>
                  <a:schemeClr val="tx1"/>
                </a:solidFill>
              </a:rPr>
              <a:t>Elle ne change pas la géologie : on l'utilise au classement final.</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Valider avant de classer : la courbe de taux de succès</a:t>
            </a:r>
            <a:endParaRPr lang="en-US" sz="3000" dirty="0"/>
          </a:p>
        </p:txBody>
      </p:sp>
      <p:graphicFrame>
        <p:nvGraphicFramePr>
          <p:cNvPr id="4" name="Chart 0" descr=""/>
          <p:cNvGraphicFramePr/>
          <p:nvPr/>
        </p:nvGraphicFramePr>
        <p:xfrm>
          <a:off x="548640" y="137160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5" name="num"/>
          <p:cNvSpPr/>
          <p:nvPr/>
        </p:nvSpPr>
        <p:spPr>
          <a:xfrm>
            <a:off x="6949440" y="1508760"/>
            <a:ext cx="402336" cy="402336"/>
          </a:xfrm>
          <a:prstGeom prst="ellipse">
            <a:avLst/>
          </a:prstGeom>
          <a:solidFill>
            <a:srgbClr val="B5542D"/>
          </a:solidFill>
          <a:ln w="12700">
            <a:solidFill>
              <a:srgbClr val="B5542D"/>
            </a:solidFill>
            <a:prstDash val="solid"/>
          </a:ln>
        </p:spPr>
      </p:sp>
      <p:sp>
        <p:nvSpPr>
          <p:cNvPr id="6" name="Text 2"/>
          <p:cNvSpPr txBox="1"/>
          <p:nvPr/>
        </p:nvSpPr>
        <p:spPr>
          <a:xfrm>
            <a:off x="6949440" y="1508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3"/>
          <p:cNvSpPr txBox="1"/>
          <p:nvPr/>
        </p:nvSpPr>
        <p:spPr>
          <a:xfrm>
            <a:off x="7498080" y="1453896"/>
            <a:ext cx="4114800" cy="1060704"/>
          </a:xfrm>
          <a:prstGeom prst="rect">
            <a:avLst/>
          </a:prstGeom>
          <a:noFill/>
          <a:ln/>
        </p:spPr>
        <p:txBody>
          <a:bodyPr wrap="square" lIns="0" tIns="0" rIns="0" bIns="0" rtlCol="0" anchor="t"/>
          <a:lstStyle/>
          <a:p>
            <a:pPr indent="0" marL="0">
              <a:buNone/>
            </a:pPr>
            <a:r>
              <a:rPr lang="en-US" sz="1500" dirty="0">
                <a:solidFill>
                  <a:schemeClr val="tx1"/>
                </a:solidFill>
              </a:rPr>
              <a:t>Séparer les occurrences : 70 % pour caler, 30 % pour tester</a:t>
            </a:r>
            <a:endParaRPr lang="en-US" sz="1500" dirty="0"/>
          </a:p>
        </p:txBody>
      </p:sp>
      <p:sp>
        <p:nvSpPr>
          <p:cNvPr id="8" name="num"/>
          <p:cNvSpPr/>
          <p:nvPr/>
        </p:nvSpPr>
        <p:spPr>
          <a:xfrm>
            <a:off x="6949440" y="2606040"/>
            <a:ext cx="402336" cy="402336"/>
          </a:xfrm>
          <a:prstGeom prst="ellipse">
            <a:avLst/>
          </a:prstGeom>
          <a:solidFill>
            <a:srgbClr val="B5542D"/>
          </a:solidFill>
          <a:ln w="12700">
            <a:solidFill>
              <a:srgbClr val="B5542D"/>
            </a:solidFill>
            <a:prstDash val="solid"/>
          </a:ln>
        </p:spPr>
      </p:sp>
      <p:sp>
        <p:nvSpPr>
          <p:cNvPr id="9" name="Text 5"/>
          <p:cNvSpPr txBox="1"/>
          <p:nvPr/>
        </p:nvSpPr>
        <p:spPr>
          <a:xfrm>
            <a:off x="694944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6"/>
          <p:cNvSpPr txBox="1"/>
          <p:nvPr/>
        </p:nvSpPr>
        <p:spPr>
          <a:xfrm>
            <a:off x="7498080" y="2551176"/>
            <a:ext cx="4114800" cy="1060704"/>
          </a:xfrm>
          <a:prstGeom prst="rect">
            <a:avLst/>
          </a:prstGeom>
          <a:noFill/>
          <a:ln/>
        </p:spPr>
        <p:txBody>
          <a:bodyPr wrap="square" lIns="0" tIns="0" rIns="0" bIns="0" rtlCol="0" anchor="t"/>
          <a:lstStyle/>
          <a:p>
            <a:pPr indent="0" marL="0">
              <a:buNone/>
            </a:pPr>
            <a:r>
              <a:rPr lang="en-US" sz="1500" dirty="0">
                <a:solidFill>
                  <a:schemeClr val="tx1"/>
                </a:solidFill>
              </a:rPr>
              <a:t>Mesurer la part captée dans les 10, 20, 30 % de surface</a:t>
            </a:r>
            <a:endParaRPr lang="en-US" sz="1500" dirty="0"/>
          </a:p>
        </p:txBody>
      </p:sp>
      <p:sp>
        <p:nvSpPr>
          <p:cNvPr id="11" name="num"/>
          <p:cNvSpPr/>
          <p:nvPr/>
        </p:nvSpPr>
        <p:spPr>
          <a:xfrm>
            <a:off x="6949440" y="3703320"/>
            <a:ext cx="402336" cy="402336"/>
          </a:xfrm>
          <a:prstGeom prst="ellipse">
            <a:avLst/>
          </a:prstGeom>
          <a:solidFill>
            <a:srgbClr val="B5542D"/>
          </a:solidFill>
          <a:ln w="12700">
            <a:solidFill>
              <a:srgbClr val="B5542D"/>
            </a:solidFill>
            <a:prstDash val="solid"/>
          </a:ln>
        </p:spPr>
      </p:sp>
      <p:sp>
        <p:nvSpPr>
          <p:cNvPr id="12" name="Text 8"/>
          <p:cNvSpPr txBox="1"/>
          <p:nvPr/>
        </p:nvSpPr>
        <p:spPr>
          <a:xfrm>
            <a:off x="6949440" y="3703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9"/>
          <p:cNvSpPr txBox="1"/>
          <p:nvPr/>
        </p:nvSpPr>
        <p:spPr>
          <a:xfrm>
            <a:off x="7498080" y="3648456"/>
            <a:ext cx="4114800" cy="1060704"/>
          </a:xfrm>
          <a:prstGeom prst="rect">
            <a:avLst/>
          </a:prstGeom>
          <a:noFill/>
          <a:ln/>
        </p:spPr>
        <p:txBody>
          <a:bodyPr wrap="square" lIns="0" tIns="0" rIns="0" bIns="0" rtlCol="0" anchor="t"/>
          <a:lstStyle/>
          <a:p>
            <a:pPr indent="0" marL="0">
              <a:buNone/>
            </a:pPr>
            <a:r>
              <a:rPr lang="en-US" sz="1500" dirty="0">
                <a:solidFill>
                  <a:schemeClr val="tx1"/>
                </a:solidFill>
              </a:rPr>
              <a:t>Faire varier chaque poids de ± 10 points</a:t>
            </a:r>
            <a:endParaRPr lang="en-US" sz="1500" dirty="0"/>
          </a:p>
        </p:txBody>
      </p:sp>
      <p:sp>
        <p:nvSpPr>
          <p:cNvPr id="14" name="num"/>
          <p:cNvSpPr/>
          <p:nvPr/>
        </p:nvSpPr>
        <p:spPr>
          <a:xfrm>
            <a:off x="6949440" y="4800600"/>
            <a:ext cx="402336" cy="402336"/>
          </a:xfrm>
          <a:prstGeom prst="ellipse">
            <a:avLst/>
          </a:prstGeom>
          <a:solidFill>
            <a:srgbClr val="B5542D"/>
          </a:solidFill>
          <a:ln w="12700">
            <a:solidFill>
              <a:srgbClr val="B5542D"/>
            </a:solidFill>
            <a:prstDash val="solid"/>
          </a:ln>
        </p:spPr>
      </p:sp>
      <p:sp>
        <p:nvSpPr>
          <p:cNvPr id="15" name="Text 11"/>
          <p:cNvSpPr txBox="1"/>
          <p:nvPr/>
        </p:nvSpPr>
        <p:spPr>
          <a:xfrm>
            <a:off x="6949440" y="4800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Text 12"/>
          <p:cNvSpPr txBox="1"/>
          <p:nvPr/>
        </p:nvSpPr>
        <p:spPr>
          <a:xfrm>
            <a:off x="7498080" y="4745736"/>
            <a:ext cx="4114800" cy="1060704"/>
          </a:xfrm>
          <a:prstGeom prst="rect">
            <a:avLst/>
          </a:prstGeom>
          <a:noFill/>
          <a:ln/>
        </p:spPr>
        <p:txBody>
          <a:bodyPr wrap="square" lIns="0" tIns="0" rIns="0" bIns="0" rtlCol="0" anchor="t"/>
          <a:lstStyle/>
          <a:p>
            <a:pPr indent="0" marL="0">
              <a:buNone/>
            </a:pPr>
            <a:r>
              <a:rPr lang="en-US" sz="1500" dirty="0">
                <a:solidFill>
                  <a:schemeClr val="tx1"/>
                </a:solidFill>
              </a:rPr>
              <a:t>Garder les cibles qui restent dans le top 10 : elles sont robustes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Pour aller plus loin : laisser les données fixer les poids</a:t>
            </a:r>
            <a:endParaRPr lang="en-US" sz="3000" dirty="0"/>
          </a:p>
        </p:txBody>
      </p:sp>
      <p:sp>
        <p:nvSpPr>
          <p:cNvPr id="4" name="card"/>
          <p:cNvSpPr/>
          <p:nvPr/>
        </p:nvSpPr>
        <p:spPr>
          <a:xfrm>
            <a:off x="548640" y="1371600"/>
            <a:ext cx="3505200" cy="3474720"/>
          </a:xfrm>
          <a:prstGeom prst="roundRect">
            <a:avLst>
              <a:gd name="adj" fmla="val 2105"/>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Poids de l'évidence</a:t>
            </a:r>
            <a:endParaRPr lang="en-US" sz="1700" dirty="0"/>
          </a:p>
        </p:txBody>
      </p:sp>
      <p:sp>
        <p:nvSpPr>
          <p:cNvPr id="8" name="Text 4"/>
          <p:cNvSpPr txBox="1"/>
          <p:nvPr/>
        </p:nvSpPr>
        <p:spPr>
          <a:xfrm>
            <a:off x="777240" y="2286000"/>
            <a:ext cx="3048000" cy="2423160"/>
          </a:xfrm>
          <a:prstGeom prst="rect">
            <a:avLst/>
          </a:prstGeom>
          <a:noFill/>
          <a:ln/>
        </p:spPr>
        <p:txBody>
          <a:bodyPr wrap="square" lIns="0" tIns="0" rIns="0" bIns="0" rtlCol="0" anchor="t"/>
          <a:lstStyle/>
          <a:p>
            <a:pPr indent="0" marL="0">
              <a:buNone/>
            </a:pPr>
            <a:r>
              <a:rPr lang="en-US" sz="1400" dirty="0">
                <a:solidFill>
                  <a:schemeClr val="tx1"/>
                </a:solidFill>
              </a:rPr>
              <a:t>Les poids viennent de la relation statistique entre chaque couche et les occurrences connues</a:t>
            </a:r>
            <a:endParaRPr lang="en-US" sz="1400" dirty="0"/>
          </a:p>
        </p:txBody>
      </p:sp>
      <p:sp>
        <p:nvSpPr>
          <p:cNvPr id="9" name="card"/>
          <p:cNvSpPr/>
          <p:nvPr/>
        </p:nvSpPr>
        <p:spPr>
          <a:xfrm>
            <a:off x="4328160" y="1371600"/>
            <a:ext cx="3505200" cy="3474720"/>
          </a:xfrm>
          <a:prstGeom prst="roundRect">
            <a:avLst>
              <a:gd name="adj" fmla="val 2105"/>
            </a:avLst>
          </a:prstGeom>
          <a:solidFill>
            <a:schemeClr val="bg2"/>
          </a:solidFill>
          <a:ln w="12700">
            <a:solidFill>
              <a:schemeClr val="bg2"/>
            </a:solidFill>
            <a:prstDash val="solid"/>
          </a:ln>
        </p:spPr>
      </p:sp>
      <p:sp>
        <p:nvSpPr>
          <p:cNvPr id="10" name="icon-circle"/>
          <p:cNvSpPr/>
          <p:nvPr/>
        </p:nvSpPr>
        <p:spPr>
          <a:xfrm>
            <a:off x="455676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4677461" y="1720901"/>
            <a:ext cx="307238" cy="307238"/>
          </a:xfrm>
          <a:prstGeom prst="rect">
            <a:avLst/>
          </a:prstGeom>
        </p:spPr>
      </p:pic>
      <p:sp>
        <p:nvSpPr>
          <p:cNvPr id="12" name="Text 7"/>
          <p:cNvSpPr txBox="1"/>
          <p:nvPr/>
        </p:nvSpPr>
        <p:spPr>
          <a:xfrm>
            <a:off x="524256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Logique floue</a:t>
            </a:r>
            <a:endParaRPr lang="en-US" sz="1700" dirty="0"/>
          </a:p>
        </p:txBody>
      </p:sp>
      <p:sp>
        <p:nvSpPr>
          <p:cNvPr id="13" name="Text 8"/>
          <p:cNvSpPr txBox="1"/>
          <p:nvPr/>
        </p:nvSpPr>
        <p:spPr>
          <a:xfrm>
            <a:off x="4556760" y="2286000"/>
            <a:ext cx="3048000" cy="2423160"/>
          </a:xfrm>
          <a:prstGeom prst="rect">
            <a:avLst/>
          </a:prstGeom>
          <a:noFill/>
          <a:ln/>
        </p:spPr>
        <p:txBody>
          <a:bodyPr wrap="square" lIns="0" tIns="0" rIns="0" bIns="0" rtlCol="0" anchor="t"/>
          <a:lstStyle/>
          <a:p>
            <a:pPr indent="0" marL="0">
              <a:buNone/>
            </a:pPr>
            <a:r>
              <a:rPr lang="en-US" sz="1400" dirty="0">
                <a:solidFill>
                  <a:schemeClr val="tx1"/>
                </a:solidFill>
              </a:rPr>
              <a:t>Appartenance graduelle à « favorable » et opérateurs de combinaison</a:t>
            </a:r>
            <a:endParaRPr lang="en-US" sz="1400" dirty="0"/>
          </a:p>
        </p:txBody>
      </p:sp>
      <p:sp>
        <p:nvSpPr>
          <p:cNvPr id="14" name="card"/>
          <p:cNvSpPr/>
          <p:nvPr/>
        </p:nvSpPr>
        <p:spPr>
          <a:xfrm>
            <a:off x="8107680" y="1371600"/>
            <a:ext cx="3505200" cy="3474720"/>
          </a:xfrm>
          <a:prstGeom prst="roundRect">
            <a:avLst>
              <a:gd name="adj" fmla="val 2105"/>
            </a:avLst>
          </a:prstGeom>
          <a:solidFill>
            <a:schemeClr val="bg2"/>
          </a:solidFill>
          <a:ln w="12700">
            <a:solidFill>
              <a:schemeClr val="bg2"/>
            </a:solidFill>
            <a:prstDash val="solid"/>
          </a:ln>
        </p:spPr>
      </p:sp>
      <p:sp>
        <p:nvSpPr>
          <p:cNvPr id="15" name="icon-circle"/>
          <p:cNvSpPr/>
          <p:nvPr/>
        </p:nvSpPr>
        <p:spPr>
          <a:xfrm>
            <a:off x="833628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8456981" y="1720901"/>
            <a:ext cx="307238" cy="307238"/>
          </a:xfrm>
          <a:prstGeom prst="rect">
            <a:avLst/>
          </a:prstGeom>
        </p:spPr>
      </p:pic>
      <p:sp>
        <p:nvSpPr>
          <p:cNvPr id="17" name="Text 11"/>
          <p:cNvSpPr txBox="1"/>
          <p:nvPr/>
        </p:nvSpPr>
        <p:spPr>
          <a:xfrm>
            <a:off x="902208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Forêts aléatoires</a:t>
            </a:r>
            <a:endParaRPr lang="en-US" sz="1700" dirty="0"/>
          </a:p>
        </p:txBody>
      </p:sp>
      <p:sp>
        <p:nvSpPr>
          <p:cNvPr id="18" name="Text 12"/>
          <p:cNvSpPr txBox="1"/>
          <p:nvPr/>
        </p:nvSpPr>
        <p:spPr>
          <a:xfrm>
            <a:off x="8336280" y="2286000"/>
            <a:ext cx="3048000" cy="2423160"/>
          </a:xfrm>
          <a:prstGeom prst="rect">
            <a:avLst/>
          </a:prstGeom>
          <a:noFill/>
          <a:ln/>
        </p:spPr>
        <p:txBody>
          <a:bodyPr wrap="square" lIns="0" tIns="0" rIns="0" bIns="0" rtlCol="0" anchor="t"/>
          <a:lstStyle/>
          <a:p>
            <a:pPr indent="0" marL="0">
              <a:buNone/>
            </a:pPr>
            <a:r>
              <a:rPr lang="en-US" sz="1400" dirty="0">
                <a:solidFill>
                  <a:schemeClr val="tx1"/>
                </a:solidFill>
              </a:rPr>
              <a:t>Apprentissage automatique ; exige assez d'exemples et un contrôle du surapprentissage</a:t>
            </a:r>
            <a:endParaRPr lang="en-US" sz="1400" dirty="0"/>
          </a:p>
        </p:txBody>
      </p:sp>
      <p:sp>
        <p:nvSpPr>
          <p:cNvPr id="19" name="callout"/>
          <p:cNvSpPr/>
          <p:nvPr/>
        </p:nvSpPr>
        <p:spPr>
          <a:xfrm>
            <a:off x="548640" y="5166360"/>
            <a:ext cx="11064240" cy="640080"/>
          </a:xfrm>
          <a:prstGeom prst="roundRect">
            <a:avLst>
              <a:gd name="adj" fmla="val 11429"/>
            </a:avLst>
          </a:prstGeom>
          <a:solidFill>
            <a:srgbClr val="B5542D">
              <a:alpha val="15000"/>
            </a:srgbClr>
          </a:solidFill>
          <a:ln w="12700">
            <a:solidFill>
              <a:srgbClr val="B5542D"/>
            </a:solidFill>
            <a:prstDash val="solid"/>
          </a:ln>
        </p:spPr>
      </p:sp>
      <p:sp>
        <p:nvSpPr>
          <p:cNvPr id="20" name="icon-circle"/>
          <p:cNvSpPr/>
          <p:nvPr/>
        </p:nvSpPr>
        <p:spPr>
          <a:xfrm>
            <a:off x="685800" y="5285232"/>
            <a:ext cx="402336" cy="402336"/>
          </a:xfrm>
          <a:prstGeom prst="ellipse">
            <a:avLst/>
          </a:prstGeom>
          <a:solidFill>
            <a:srgbClr val="B5542D"/>
          </a:solidFill>
          <a:ln w="12700">
            <a:solidFill>
              <a:srgbClr val="B5542D"/>
            </a:solidFill>
            <a:prstDash val="solid"/>
          </a:ln>
        </p:spPr>
      </p:sp>
      <p:pic>
        <p:nvPicPr>
          <p:cNvPr id="21" name="icon" descr="preencoded.png">    </p:cNvPr>
          <p:cNvPicPr>
            <a:picLocks noChangeAspect="1"/>
          </p:cNvPicPr>
          <p:nvPr/>
        </p:nvPicPr>
        <p:blipFill>
          <a:blip r:embed="rId4"/>
          <a:stretch>
            <a:fillRect/>
          </a:stretch>
        </p:blipFill>
        <p:spPr>
          <a:xfrm>
            <a:off x="774314" y="5373746"/>
            <a:ext cx="225308" cy="225308"/>
          </a:xfrm>
          <a:prstGeom prst="rect">
            <a:avLst/>
          </a:prstGeom>
        </p:spPr>
      </p:pic>
      <p:sp>
        <p:nvSpPr>
          <p:cNvPr id="22" name="Text 15"/>
          <p:cNvSpPr txBox="1"/>
          <p:nvPr/>
        </p:nvSpPr>
        <p:spPr>
          <a:xfrm>
            <a:off x="1234440" y="5166360"/>
            <a:ext cx="10195560" cy="640080"/>
          </a:xfrm>
          <a:prstGeom prst="rect">
            <a:avLst/>
          </a:prstGeom>
          <a:noFill/>
          <a:ln/>
        </p:spPr>
        <p:txBody>
          <a:bodyPr wrap="square" lIns="0" tIns="0" rIns="0" bIns="0" rtlCol="0" anchor="ctr"/>
          <a:lstStyle/>
          <a:p>
            <a:pPr indent="0" marL="0">
              <a:buNone/>
            </a:pPr>
            <a:r>
              <a:rPr lang="en-US" sz="1500" dirty="0">
                <a:solidFill>
                  <a:schemeClr val="tx2"/>
                </a:solidFill>
              </a:rPr>
              <a:t>Plus la méthode est sophistiquée, plus la validation sur des occurrences indépendantes est indispensable.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Chaque cible du top 10 a sa fiche</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7772400"/>
              </a:tblGrid>
              <a:tr h="60350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Rubrique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Contenu attendu</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Identifiant et coordonnées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Code de la cible, centroïde en UTM, surface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Substance et modèle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Ex. : or orogénique en zone de cisaillement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Critères favorables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Couches qui expliquent le score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Score et robustesse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Indice, rang, maintien dans le top 10 sous ± 10 points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Statut cadastral</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Libre, sous permis, en aire protégée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Accès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Distance à la route, au rail, à l'énergie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603504">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Travaux proposés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Cartographie, échantillonnage, géophysique au sol, budget indicatif</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Ateliers pays : appliquer la méthode ailleurs</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371600"/>
                <a:gridCol w="2103120"/>
                <a:gridCol w="4023360"/>
                <a:gridCol w="3566160"/>
              </a:tblGrid>
              <a:tr h="8686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Pays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Substance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 de l'atelier</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Livrable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8686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RDC</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Cuivre-cobalt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Comment le minerai rejoint-il la mer ?</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 de la chaîne logistique Cu-Co</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Zambie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Cuivre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Quelles traces laisse un bassin minier ancien ?</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 des impacts et relations spatiales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8686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Guinée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Bauxite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Quels plateaux sont exploitables et exportables ?</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Carte plateaux × logistique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Congo</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Fer, potasse, Cu, Au</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Que conclure avec peu de données ?</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Première carte de prospectivité et d'infrastructures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RDC — Suivre le cuivre-cobalt de la mine à la mer</a:t>
            </a:r>
            <a:endParaRPr lang="en-US" sz="3000" dirty="0"/>
          </a:p>
        </p:txBody>
      </p:sp>
      <p:sp>
        <p:nvSpPr>
          <p:cNvPr id="4" name="step"/>
          <p:cNvSpPr/>
          <p:nvPr/>
        </p:nvSpPr>
        <p:spPr>
          <a:xfrm>
            <a:off x="548640" y="1463040"/>
            <a:ext cx="1920240" cy="2011680"/>
          </a:xfrm>
          <a:prstGeom prst="roundRect">
            <a:avLst>
              <a:gd name="adj" fmla="val 3810"/>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3F6C9A"/>
          </a:solidFill>
          <a:ln w="12700">
            <a:solidFill>
              <a:srgbClr val="3F6C9A"/>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Géologie</a:t>
            </a:r>
            <a:endParaRPr lang="en-US" sz="1500" dirty="0"/>
          </a:p>
        </p:txBody>
      </p:sp>
      <p:sp>
        <p:nvSpPr>
          <p:cNvPr id="8" name="Text 5"/>
          <p:cNvSpPr txBox="1"/>
          <p:nvPr/>
        </p:nvSpPr>
        <p:spPr>
          <a:xfrm>
            <a:off x="713232" y="2194560"/>
            <a:ext cx="1591056" cy="1188720"/>
          </a:xfrm>
          <a:prstGeom prst="rect">
            <a:avLst/>
          </a:prstGeom>
          <a:noFill/>
          <a:ln/>
        </p:spPr>
        <p:txBody>
          <a:bodyPr wrap="square" lIns="0" tIns="0" rIns="0" bIns="0" rtlCol="0" anchor="t"/>
          <a:lstStyle/>
          <a:p>
            <a:pPr indent="0" marL="0">
              <a:buNone/>
            </a:pPr>
            <a:r>
              <a:rPr lang="en-US" sz="1400" dirty="0">
                <a:solidFill>
                  <a:schemeClr val="tx1"/>
                </a:solidFill>
              </a:rPr>
              <a:t>Arc lufilien, Katanga</a:t>
            </a:r>
            <a:endParaRPr lang="en-US" sz="1400" dirty="0"/>
          </a:p>
        </p:txBody>
      </p:sp>
      <p:sp>
        <p:nvSpPr>
          <p:cNvPr id="9" name="arrow"/>
          <p:cNvSpPr/>
          <p:nvPr/>
        </p:nvSpPr>
        <p:spPr>
          <a:xfrm>
            <a:off x="2542032" y="2340864"/>
            <a:ext cx="219456" cy="256032"/>
          </a:xfrm>
          <a:prstGeom prst="rightArrow">
            <a:avLst/>
          </a:prstGeom>
          <a:solidFill>
            <a:srgbClr val="9AA5AC"/>
          </a:solidFill>
          <a:ln w="12700">
            <a:solidFill>
              <a:srgbClr val="9AA5AC"/>
            </a:solidFill>
            <a:prstDash val="solid"/>
          </a:ln>
        </p:spPr>
      </p:sp>
      <p:sp>
        <p:nvSpPr>
          <p:cNvPr id="10" name="step"/>
          <p:cNvSpPr/>
          <p:nvPr/>
        </p:nvSpPr>
        <p:spPr>
          <a:xfrm>
            <a:off x="2834640" y="1463040"/>
            <a:ext cx="1920240" cy="2011680"/>
          </a:xfrm>
          <a:prstGeom prst="roundRect">
            <a:avLst>
              <a:gd name="adj" fmla="val 3810"/>
            </a:avLst>
          </a:prstGeom>
          <a:solidFill>
            <a:srgbClr val="EEF2F3"/>
          </a:solidFill>
          <a:ln w="12700">
            <a:solidFill>
              <a:srgbClr val="EEF2F3"/>
            </a:solidFill>
            <a:prstDash val="solid"/>
          </a:ln>
        </p:spPr>
      </p:sp>
      <p:sp>
        <p:nvSpPr>
          <p:cNvPr id="11" name="step-num"/>
          <p:cNvSpPr/>
          <p:nvPr/>
        </p:nvSpPr>
        <p:spPr>
          <a:xfrm>
            <a:off x="2999232" y="1627632"/>
            <a:ext cx="420624" cy="420624"/>
          </a:xfrm>
          <a:prstGeom prst="ellipse">
            <a:avLst/>
          </a:prstGeom>
          <a:solidFill>
            <a:srgbClr val="3F6C9A"/>
          </a:solidFill>
          <a:ln w="12700">
            <a:solidFill>
              <a:srgbClr val="3F6C9A"/>
            </a:solidFill>
            <a:prstDash val="solid"/>
          </a:ln>
        </p:spPr>
      </p:sp>
      <p:sp>
        <p:nvSpPr>
          <p:cNvPr id="12" name="Text 9"/>
          <p:cNvSpPr txBox="1"/>
          <p:nvPr/>
        </p:nvSpPr>
        <p:spPr>
          <a:xfrm>
            <a:off x="2999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493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Gisements</a:t>
            </a:r>
            <a:endParaRPr lang="en-US" sz="1500" dirty="0"/>
          </a:p>
        </p:txBody>
      </p:sp>
      <p:sp>
        <p:nvSpPr>
          <p:cNvPr id="14" name="Text 11"/>
          <p:cNvSpPr txBox="1"/>
          <p:nvPr/>
        </p:nvSpPr>
        <p:spPr>
          <a:xfrm>
            <a:off x="2999232" y="2194560"/>
            <a:ext cx="1591056" cy="1188720"/>
          </a:xfrm>
          <a:prstGeom prst="rect">
            <a:avLst/>
          </a:prstGeom>
          <a:noFill/>
          <a:ln/>
        </p:spPr>
        <p:txBody>
          <a:bodyPr wrap="square" lIns="0" tIns="0" rIns="0" bIns="0" rtlCol="0" anchor="t"/>
          <a:lstStyle/>
          <a:p>
            <a:pPr indent="0" marL="0">
              <a:buNone/>
            </a:pPr>
            <a:r>
              <a:rPr lang="en-US" sz="1400" dirty="0">
                <a:solidFill>
                  <a:schemeClr val="tx1"/>
                </a:solidFill>
              </a:rPr>
              <a:t>Occurrences Cu-Co</a:t>
            </a:r>
            <a:endParaRPr lang="en-US" sz="1400" dirty="0"/>
          </a:p>
        </p:txBody>
      </p:sp>
      <p:sp>
        <p:nvSpPr>
          <p:cNvPr id="15" name="arrow"/>
          <p:cNvSpPr/>
          <p:nvPr/>
        </p:nvSpPr>
        <p:spPr>
          <a:xfrm>
            <a:off x="4828032" y="2340864"/>
            <a:ext cx="219456" cy="256032"/>
          </a:xfrm>
          <a:prstGeom prst="rightArrow">
            <a:avLst/>
          </a:prstGeom>
          <a:solidFill>
            <a:srgbClr val="9AA5AC"/>
          </a:solidFill>
          <a:ln w="12700">
            <a:solidFill>
              <a:srgbClr val="9AA5AC"/>
            </a:solidFill>
            <a:prstDash val="solid"/>
          </a:ln>
        </p:spPr>
      </p:sp>
      <p:sp>
        <p:nvSpPr>
          <p:cNvPr id="16" name="step"/>
          <p:cNvSpPr/>
          <p:nvPr/>
        </p:nvSpPr>
        <p:spPr>
          <a:xfrm>
            <a:off x="5120640" y="1463040"/>
            <a:ext cx="1920240" cy="2011680"/>
          </a:xfrm>
          <a:prstGeom prst="roundRect">
            <a:avLst>
              <a:gd name="adj" fmla="val 3810"/>
            </a:avLst>
          </a:prstGeom>
          <a:solidFill>
            <a:srgbClr val="EEF2F3"/>
          </a:solidFill>
          <a:ln w="12700">
            <a:solidFill>
              <a:srgbClr val="EEF2F3"/>
            </a:solidFill>
            <a:prstDash val="solid"/>
          </a:ln>
        </p:spPr>
      </p:sp>
      <p:sp>
        <p:nvSpPr>
          <p:cNvPr id="17" name="step-num"/>
          <p:cNvSpPr/>
          <p:nvPr/>
        </p:nvSpPr>
        <p:spPr>
          <a:xfrm>
            <a:off x="5285232" y="1627632"/>
            <a:ext cx="420624" cy="420624"/>
          </a:xfrm>
          <a:prstGeom prst="ellipse">
            <a:avLst/>
          </a:prstGeom>
          <a:solidFill>
            <a:srgbClr val="3F6C9A"/>
          </a:solidFill>
          <a:ln w="12700">
            <a:solidFill>
              <a:srgbClr val="3F6C9A"/>
            </a:solidFill>
            <a:prstDash val="solid"/>
          </a:ln>
        </p:spPr>
      </p:sp>
      <p:sp>
        <p:nvSpPr>
          <p:cNvPr id="18" name="Text 15"/>
          <p:cNvSpPr txBox="1"/>
          <p:nvPr/>
        </p:nvSpPr>
        <p:spPr>
          <a:xfrm>
            <a:off x="5285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5779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Mines</a:t>
            </a:r>
            <a:endParaRPr lang="en-US" sz="1500" dirty="0"/>
          </a:p>
        </p:txBody>
      </p:sp>
      <p:sp>
        <p:nvSpPr>
          <p:cNvPr id="20" name="Text 17"/>
          <p:cNvSpPr txBox="1"/>
          <p:nvPr/>
        </p:nvSpPr>
        <p:spPr>
          <a:xfrm>
            <a:off x="5285232" y="2194560"/>
            <a:ext cx="1591056" cy="1188720"/>
          </a:xfrm>
          <a:prstGeom prst="rect">
            <a:avLst/>
          </a:prstGeom>
          <a:noFill/>
          <a:ln/>
        </p:spPr>
        <p:txBody>
          <a:bodyPr wrap="square" lIns="0" tIns="0" rIns="0" bIns="0" rtlCol="0" anchor="t"/>
          <a:lstStyle/>
          <a:p>
            <a:pPr indent="0" marL="0">
              <a:buNone/>
            </a:pPr>
            <a:r>
              <a:rPr lang="en-US" sz="1400" dirty="0">
                <a:solidFill>
                  <a:schemeClr val="tx1"/>
                </a:solidFill>
              </a:rPr>
              <a:t>Industrielles et artisanales</a:t>
            </a:r>
            <a:endParaRPr lang="en-US" sz="1400" dirty="0"/>
          </a:p>
        </p:txBody>
      </p:sp>
      <p:sp>
        <p:nvSpPr>
          <p:cNvPr id="21" name="arrow"/>
          <p:cNvSpPr/>
          <p:nvPr/>
        </p:nvSpPr>
        <p:spPr>
          <a:xfrm>
            <a:off x="7114032" y="2340864"/>
            <a:ext cx="219456" cy="256032"/>
          </a:xfrm>
          <a:prstGeom prst="rightArrow">
            <a:avLst/>
          </a:prstGeom>
          <a:solidFill>
            <a:srgbClr val="9AA5AC"/>
          </a:solidFill>
          <a:ln w="12700">
            <a:solidFill>
              <a:srgbClr val="9AA5AC"/>
            </a:solidFill>
            <a:prstDash val="solid"/>
          </a:ln>
        </p:spPr>
      </p:sp>
      <p:sp>
        <p:nvSpPr>
          <p:cNvPr id="22" name="step"/>
          <p:cNvSpPr/>
          <p:nvPr/>
        </p:nvSpPr>
        <p:spPr>
          <a:xfrm>
            <a:off x="7406640" y="1463040"/>
            <a:ext cx="1920240" cy="2011680"/>
          </a:xfrm>
          <a:prstGeom prst="roundRect">
            <a:avLst>
              <a:gd name="adj" fmla="val 3810"/>
            </a:avLst>
          </a:prstGeom>
          <a:solidFill>
            <a:srgbClr val="EEF2F3"/>
          </a:solidFill>
          <a:ln w="12700">
            <a:solidFill>
              <a:srgbClr val="EEF2F3"/>
            </a:solidFill>
            <a:prstDash val="solid"/>
          </a:ln>
        </p:spPr>
      </p:sp>
      <p:sp>
        <p:nvSpPr>
          <p:cNvPr id="23" name="step-num"/>
          <p:cNvSpPr/>
          <p:nvPr/>
        </p:nvSpPr>
        <p:spPr>
          <a:xfrm>
            <a:off x="7571232" y="1627632"/>
            <a:ext cx="420624" cy="420624"/>
          </a:xfrm>
          <a:prstGeom prst="ellipse">
            <a:avLst/>
          </a:prstGeom>
          <a:solidFill>
            <a:srgbClr val="3F6C9A"/>
          </a:solidFill>
          <a:ln w="12700">
            <a:solidFill>
              <a:srgbClr val="3F6C9A"/>
            </a:solidFill>
            <a:prstDash val="solid"/>
          </a:ln>
        </p:spPr>
      </p:sp>
      <p:sp>
        <p:nvSpPr>
          <p:cNvPr id="24" name="Text 21"/>
          <p:cNvSpPr txBox="1"/>
          <p:nvPr/>
        </p:nvSpPr>
        <p:spPr>
          <a:xfrm>
            <a:off x="7571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8065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Traitement</a:t>
            </a:r>
            <a:endParaRPr lang="en-US" sz="1500" dirty="0"/>
          </a:p>
        </p:txBody>
      </p:sp>
      <p:sp>
        <p:nvSpPr>
          <p:cNvPr id="26" name="Text 23"/>
          <p:cNvSpPr txBox="1"/>
          <p:nvPr/>
        </p:nvSpPr>
        <p:spPr>
          <a:xfrm>
            <a:off x="7571232" y="2194560"/>
            <a:ext cx="1591056" cy="1188720"/>
          </a:xfrm>
          <a:prstGeom prst="rect">
            <a:avLst/>
          </a:prstGeom>
          <a:noFill/>
          <a:ln/>
        </p:spPr>
        <p:txBody>
          <a:bodyPr wrap="square" lIns="0" tIns="0" rIns="0" bIns="0" rtlCol="0" anchor="t"/>
          <a:lstStyle/>
          <a:p>
            <a:pPr indent="0" marL="0">
              <a:buNone/>
            </a:pPr>
            <a:r>
              <a:rPr lang="en-US" sz="1400" dirty="0">
                <a:solidFill>
                  <a:schemeClr val="tx1"/>
                </a:solidFill>
              </a:rPr>
              <a:t>Concentrateurs, SX-EW</a:t>
            </a:r>
            <a:endParaRPr lang="en-US" sz="1400" dirty="0"/>
          </a:p>
        </p:txBody>
      </p:sp>
      <p:sp>
        <p:nvSpPr>
          <p:cNvPr id="27" name="arrow"/>
          <p:cNvSpPr/>
          <p:nvPr/>
        </p:nvSpPr>
        <p:spPr>
          <a:xfrm>
            <a:off x="9400032" y="2340864"/>
            <a:ext cx="219456" cy="256032"/>
          </a:xfrm>
          <a:prstGeom prst="rightArrow">
            <a:avLst/>
          </a:prstGeom>
          <a:solidFill>
            <a:srgbClr val="9AA5AC"/>
          </a:solidFill>
          <a:ln w="12700">
            <a:solidFill>
              <a:srgbClr val="9AA5AC"/>
            </a:solidFill>
            <a:prstDash val="solid"/>
          </a:ln>
        </p:spPr>
      </p:sp>
      <p:sp>
        <p:nvSpPr>
          <p:cNvPr id="28" name="step"/>
          <p:cNvSpPr/>
          <p:nvPr/>
        </p:nvSpPr>
        <p:spPr>
          <a:xfrm>
            <a:off x="9692640" y="1463040"/>
            <a:ext cx="1920240" cy="2011680"/>
          </a:xfrm>
          <a:prstGeom prst="roundRect">
            <a:avLst>
              <a:gd name="adj" fmla="val 3810"/>
            </a:avLst>
          </a:prstGeom>
          <a:solidFill>
            <a:srgbClr val="EEF2F3"/>
          </a:solidFill>
          <a:ln w="12700">
            <a:solidFill>
              <a:srgbClr val="EEF2F3"/>
            </a:solidFill>
            <a:prstDash val="solid"/>
          </a:ln>
        </p:spPr>
      </p:sp>
      <p:sp>
        <p:nvSpPr>
          <p:cNvPr id="29" name="step-num"/>
          <p:cNvSpPr/>
          <p:nvPr/>
        </p:nvSpPr>
        <p:spPr>
          <a:xfrm>
            <a:off x="9857232" y="1627632"/>
            <a:ext cx="420624" cy="420624"/>
          </a:xfrm>
          <a:prstGeom prst="ellipse">
            <a:avLst/>
          </a:prstGeom>
          <a:solidFill>
            <a:srgbClr val="3F6C9A"/>
          </a:solidFill>
          <a:ln w="12700">
            <a:solidFill>
              <a:srgbClr val="3F6C9A"/>
            </a:solidFill>
            <a:prstDash val="solid"/>
          </a:ln>
        </p:spPr>
      </p:sp>
      <p:sp>
        <p:nvSpPr>
          <p:cNvPr id="30" name="Text 27"/>
          <p:cNvSpPr txBox="1"/>
          <p:nvPr/>
        </p:nvSpPr>
        <p:spPr>
          <a:xfrm>
            <a:off x="9857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10351008" y="1572768"/>
            <a:ext cx="1143000" cy="548640"/>
          </a:xfrm>
          <a:prstGeom prst="rect">
            <a:avLst/>
          </a:prstGeom>
          <a:noFill/>
          <a:ln/>
        </p:spPr>
        <p:txBody>
          <a:bodyPr wrap="square" lIns="0" tIns="0" rIns="0" bIns="0" rtlCol="0" anchor="ctr"/>
          <a:lstStyle/>
          <a:p>
            <a:pPr indent="0" marL="0">
              <a:buNone/>
            </a:pPr>
            <a:r>
              <a:rPr lang="en-US" sz="1500" b="1" dirty="0">
                <a:solidFill>
                  <a:schemeClr val="tx2"/>
                </a:solidFill>
              </a:rPr>
              <a:t>Corridors</a:t>
            </a:r>
            <a:endParaRPr lang="en-US" sz="1500" dirty="0"/>
          </a:p>
        </p:txBody>
      </p:sp>
      <p:sp>
        <p:nvSpPr>
          <p:cNvPr id="32" name="Text 29"/>
          <p:cNvSpPr txBox="1"/>
          <p:nvPr/>
        </p:nvSpPr>
        <p:spPr>
          <a:xfrm>
            <a:off x="9857232" y="2194560"/>
            <a:ext cx="1591056" cy="1188720"/>
          </a:xfrm>
          <a:prstGeom prst="rect">
            <a:avLst/>
          </a:prstGeom>
          <a:noFill/>
          <a:ln/>
        </p:spPr>
        <p:txBody>
          <a:bodyPr wrap="square" lIns="0" tIns="0" rIns="0" bIns="0" rtlCol="0" anchor="t"/>
          <a:lstStyle/>
          <a:p>
            <a:pPr indent="0" marL="0">
              <a:buNone/>
            </a:pPr>
            <a:r>
              <a:rPr lang="en-US" sz="1400" dirty="0">
                <a:solidFill>
                  <a:schemeClr val="tx1"/>
                </a:solidFill>
              </a:rPr>
              <a:t>Lobito, Dar es Salaam, Durban</a:t>
            </a:r>
            <a:endParaRPr lang="en-US" sz="1400" dirty="0"/>
          </a:p>
        </p:txBody>
      </p:sp>
      <p:sp>
        <p:nvSpPr>
          <p:cNvPr id="33" name="panel"/>
          <p:cNvSpPr/>
          <p:nvPr/>
        </p:nvSpPr>
        <p:spPr>
          <a:xfrm>
            <a:off x="548640" y="3794760"/>
            <a:ext cx="11064240" cy="2286000"/>
          </a:xfrm>
          <a:prstGeom prst="roundRect">
            <a:avLst>
              <a:gd name="adj" fmla="val 3200"/>
            </a:avLst>
          </a:prstGeom>
          <a:solidFill>
            <a:schemeClr val="bg2"/>
          </a:solidFill>
          <a:ln w="12700">
            <a:solidFill>
              <a:schemeClr val="bg2"/>
            </a:solidFill>
            <a:prstDash val="solid"/>
          </a:ln>
        </p:spPr>
      </p:sp>
      <p:sp>
        <p:nvSpPr>
          <p:cNvPr id="34" name="icon-circle"/>
          <p:cNvSpPr/>
          <p:nvPr/>
        </p:nvSpPr>
        <p:spPr>
          <a:xfrm>
            <a:off x="777240" y="4023360"/>
            <a:ext cx="548640" cy="548640"/>
          </a:xfrm>
          <a:prstGeom prst="ellipse">
            <a:avLst/>
          </a:prstGeom>
          <a:solidFill>
            <a:srgbClr val="3F6C9A"/>
          </a:solidFill>
          <a:ln w="12700">
            <a:solidFill>
              <a:srgbClr val="3F6C9A"/>
            </a:solidFill>
            <a:prstDash val="solid"/>
          </a:ln>
        </p:spPr>
      </p:sp>
      <p:pic>
        <p:nvPicPr>
          <p:cNvPr id="35" name="icon" descr="preencoded.png">    </p:cNvPr>
          <p:cNvPicPr>
            <a:picLocks noChangeAspect="1"/>
          </p:cNvPicPr>
          <p:nvPr/>
        </p:nvPicPr>
        <p:blipFill>
          <a:blip r:embed="rId1"/>
          <a:stretch>
            <a:fillRect/>
          </a:stretch>
        </p:blipFill>
        <p:spPr>
          <a:xfrm>
            <a:off x="897941" y="4144061"/>
            <a:ext cx="307238" cy="307238"/>
          </a:xfrm>
          <a:prstGeom prst="rect">
            <a:avLst/>
          </a:prstGeom>
        </p:spPr>
      </p:pic>
      <p:sp>
        <p:nvSpPr>
          <p:cNvPr id="36" name="Text 32"/>
          <p:cNvSpPr txBox="1"/>
          <p:nvPr/>
        </p:nvSpPr>
        <p:spPr>
          <a:xfrm>
            <a:off x="1463040" y="4023360"/>
            <a:ext cx="9966960" cy="548640"/>
          </a:xfrm>
          <a:prstGeom prst="rect">
            <a:avLst/>
          </a:prstGeom>
          <a:noFill/>
          <a:ln/>
        </p:spPr>
        <p:txBody>
          <a:bodyPr wrap="square" lIns="0" tIns="0" rIns="0" bIns="0" rtlCol="0" anchor="ctr"/>
          <a:lstStyle/>
          <a:p>
            <a:pPr indent="0" marL="0">
              <a:buNone/>
            </a:pPr>
            <a:r>
              <a:rPr lang="en-US" sz="1800" b="1" dirty="0">
                <a:solidFill>
                  <a:schemeClr val="tx2"/>
                </a:solidFill>
              </a:rPr>
              <a:t>Exercice</a:t>
            </a:r>
            <a:endParaRPr lang="en-US" sz="1800" dirty="0"/>
          </a:p>
        </p:txBody>
      </p:sp>
      <p:sp>
        <p:nvSpPr>
          <p:cNvPr id="37" name="Text 33"/>
          <p:cNvSpPr txBox="1"/>
          <p:nvPr/>
        </p:nvSpPr>
        <p:spPr>
          <a:xfrm>
            <a:off x="822960" y="4754880"/>
            <a:ext cx="1051560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Cartographier mines, usines et voies d'export à partir de la base USGS et du cadastre CAMI</a:t>
            </a:r>
            <a:endParaRPr lang="en-US" sz="1500" dirty="0"/>
          </a:p>
          <a:p>
            <a:pPr marL="342900" indent="-342900">
              <a:spcAft>
                <a:spcPts val="600"/>
              </a:spcAft>
              <a:buSzPct val="100000"/>
              <a:buChar char="•"/>
            </a:pPr>
            <a:r>
              <a:rPr lang="en-US" sz="1500" dirty="0">
                <a:solidFill>
                  <a:schemeClr val="tx1"/>
                </a:solidFill>
              </a:rPr>
              <a:t>Mesurer les distances mine → port pour chaque corridor ; discuter des goulots d'étranglement</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Zambie — Lire les traces d'un bassin minier mature</a:t>
            </a:r>
            <a:endParaRPr lang="en-US" sz="3000" dirty="0"/>
          </a:p>
        </p:txBody>
      </p:sp>
      <p:sp>
        <p:nvSpPr>
          <p:cNvPr id="4" name="card"/>
          <p:cNvSpPr/>
          <p:nvPr/>
        </p:nvSpPr>
        <p:spPr>
          <a:xfrm>
            <a:off x="548640" y="1371600"/>
            <a:ext cx="3505200" cy="3474720"/>
          </a:xfrm>
          <a:prstGeom prst="roundRect">
            <a:avLst>
              <a:gd name="adj" fmla="val 2105"/>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Résidus</a:t>
            </a:r>
            <a:endParaRPr lang="en-US" sz="1700" dirty="0"/>
          </a:p>
        </p:txBody>
      </p:sp>
      <p:sp>
        <p:nvSpPr>
          <p:cNvPr id="8" name="Text 4"/>
          <p:cNvSpPr txBox="1"/>
          <p:nvPr/>
        </p:nvSpPr>
        <p:spPr>
          <a:xfrm>
            <a:off x="777240" y="2286000"/>
            <a:ext cx="3048000" cy="2423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Cartographier les parcs à résidus</a:t>
            </a:r>
            <a:endParaRPr lang="en-US" sz="1400" dirty="0"/>
          </a:p>
          <a:p>
            <a:pPr marL="342900" indent="-342900">
              <a:spcAft>
                <a:spcPts val="400"/>
              </a:spcAft>
              <a:buSzPct val="100000"/>
              <a:buChar char="•"/>
            </a:pPr>
            <a:r>
              <a:rPr lang="en-US" sz="1400" dirty="0">
                <a:solidFill>
                  <a:schemeClr val="tx1"/>
                </a:solidFill>
              </a:rPr>
              <a:t>Suivre leur extension dans le temps</a:t>
            </a:r>
            <a:endParaRPr lang="en-US" sz="1400" dirty="0"/>
          </a:p>
        </p:txBody>
      </p:sp>
      <p:sp>
        <p:nvSpPr>
          <p:cNvPr id="9" name="card"/>
          <p:cNvSpPr/>
          <p:nvPr/>
        </p:nvSpPr>
        <p:spPr>
          <a:xfrm>
            <a:off x="4328160" y="1371600"/>
            <a:ext cx="3505200" cy="3474720"/>
          </a:xfrm>
          <a:prstGeom prst="roundRect">
            <a:avLst>
              <a:gd name="adj" fmla="val 2105"/>
            </a:avLst>
          </a:prstGeom>
          <a:solidFill>
            <a:schemeClr val="bg2"/>
          </a:solidFill>
          <a:ln w="12700">
            <a:solidFill>
              <a:schemeClr val="bg2"/>
            </a:solidFill>
            <a:prstDash val="solid"/>
          </a:ln>
        </p:spPr>
      </p:sp>
      <p:sp>
        <p:nvSpPr>
          <p:cNvPr id="10" name="icon-circle"/>
          <p:cNvSpPr/>
          <p:nvPr/>
        </p:nvSpPr>
        <p:spPr>
          <a:xfrm>
            <a:off x="455676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4677461" y="1720901"/>
            <a:ext cx="307238" cy="307238"/>
          </a:xfrm>
          <a:prstGeom prst="rect">
            <a:avLst/>
          </a:prstGeom>
        </p:spPr>
      </p:pic>
      <p:sp>
        <p:nvSpPr>
          <p:cNvPr id="12" name="Text 7"/>
          <p:cNvSpPr txBox="1"/>
          <p:nvPr/>
        </p:nvSpPr>
        <p:spPr>
          <a:xfrm>
            <a:off x="524256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Rivières</a:t>
            </a:r>
            <a:endParaRPr lang="en-US" sz="1700" dirty="0"/>
          </a:p>
        </p:txBody>
      </p:sp>
      <p:sp>
        <p:nvSpPr>
          <p:cNvPr id="13" name="Text 8"/>
          <p:cNvSpPr txBox="1"/>
          <p:nvPr/>
        </p:nvSpPr>
        <p:spPr>
          <a:xfrm>
            <a:off x="4556760" y="2286000"/>
            <a:ext cx="3048000" cy="2423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Turbidité et couleur de l'eau en aval des sites</a:t>
            </a:r>
            <a:endParaRPr lang="en-US" sz="1400" dirty="0"/>
          </a:p>
          <a:p>
            <a:pPr marL="342900" indent="-342900">
              <a:spcAft>
                <a:spcPts val="400"/>
              </a:spcAft>
              <a:buSzPct val="100000"/>
              <a:buChar char="•"/>
            </a:pPr>
            <a:r>
              <a:rPr lang="en-US" sz="1400" dirty="0">
                <a:solidFill>
                  <a:schemeClr val="tx1"/>
                </a:solidFill>
              </a:rPr>
              <a:t>Comparaison amont / aval</a:t>
            </a:r>
            <a:endParaRPr lang="en-US" sz="1400" dirty="0"/>
          </a:p>
        </p:txBody>
      </p:sp>
      <p:sp>
        <p:nvSpPr>
          <p:cNvPr id="14" name="card"/>
          <p:cNvSpPr/>
          <p:nvPr/>
        </p:nvSpPr>
        <p:spPr>
          <a:xfrm>
            <a:off x="8107680" y="1371600"/>
            <a:ext cx="3505200" cy="3474720"/>
          </a:xfrm>
          <a:prstGeom prst="roundRect">
            <a:avLst>
              <a:gd name="adj" fmla="val 2105"/>
            </a:avLst>
          </a:prstGeom>
          <a:solidFill>
            <a:schemeClr val="bg2"/>
          </a:solidFill>
          <a:ln w="12700">
            <a:solidFill>
              <a:schemeClr val="bg2"/>
            </a:solidFill>
            <a:prstDash val="solid"/>
          </a:ln>
        </p:spPr>
      </p:sp>
      <p:sp>
        <p:nvSpPr>
          <p:cNvPr id="15" name="icon-circle"/>
          <p:cNvSpPr/>
          <p:nvPr/>
        </p:nvSpPr>
        <p:spPr>
          <a:xfrm>
            <a:off x="833628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8456981" y="1720901"/>
            <a:ext cx="307238" cy="307238"/>
          </a:xfrm>
          <a:prstGeom prst="rect">
            <a:avLst/>
          </a:prstGeom>
        </p:spPr>
      </p:pic>
      <p:sp>
        <p:nvSpPr>
          <p:cNvPr id="17" name="Text 11"/>
          <p:cNvSpPr txBox="1"/>
          <p:nvPr/>
        </p:nvSpPr>
        <p:spPr>
          <a:xfrm>
            <a:off x="902208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Relations spatiales</a:t>
            </a:r>
            <a:endParaRPr lang="en-US" sz="1700" dirty="0"/>
          </a:p>
        </p:txBody>
      </p:sp>
      <p:sp>
        <p:nvSpPr>
          <p:cNvPr id="18" name="Text 12"/>
          <p:cNvSpPr txBox="1"/>
          <p:nvPr/>
        </p:nvSpPr>
        <p:spPr>
          <a:xfrm>
            <a:off x="8336280" y="2286000"/>
            <a:ext cx="3048000" cy="2423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Géologie favorable, gisements, mines, infrastructures</a:t>
            </a:r>
            <a:endParaRPr lang="en-US" sz="1400" dirty="0"/>
          </a:p>
          <a:p>
            <a:pPr marL="342900" indent="-342900">
              <a:spcAft>
                <a:spcPts val="400"/>
              </a:spcAft>
              <a:buSzPct val="100000"/>
              <a:buChar char="•"/>
            </a:pPr>
            <a:r>
              <a:rPr lang="en-US" sz="1400" dirty="0">
                <a:solidFill>
                  <a:schemeClr val="tx1"/>
                </a:solidFill>
              </a:rPr>
              <a:t>Extension urbaine autour des mines</a:t>
            </a:r>
            <a:endParaRPr lang="en-US" sz="1400" dirty="0"/>
          </a:p>
        </p:txBody>
      </p:sp>
      <p:sp>
        <p:nvSpPr>
          <p:cNvPr id="19" name="callout"/>
          <p:cNvSpPr/>
          <p:nvPr/>
        </p:nvSpPr>
        <p:spPr>
          <a:xfrm>
            <a:off x="548640" y="5166360"/>
            <a:ext cx="11064240" cy="640080"/>
          </a:xfrm>
          <a:prstGeom prst="roundRect">
            <a:avLst>
              <a:gd name="adj" fmla="val 11429"/>
            </a:avLst>
          </a:prstGeom>
          <a:solidFill>
            <a:srgbClr val="3E7C6B">
              <a:alpha val="15000"/>
            </a:srgbClr>
          </a:solidFill>
          <a:ln w="12700">
            <a:solidFill>
              <a:srgbClr val="3E7C6B"/>
            </a:solidFill>
            <a:prstDash val="solid"/>
          </a:ln>
        </p:spPr>
      </p:sp>
      <p:sp>
        <p:nvSpPr>
          <p:cNvPr id="20" name="icon-circle"/>
          <p:cNvSpPr/>
          <p:nvPr/>
        </p:nvSpPr>
        <p:spPr>
          <a:xfrm>
            <a:off x="685800" y="5285232"/>
            <a:ext cx="402336" cy="402336"/>
          </a:xfrm>
          <a:prstGeom prst="ellipse">
            <a:avLst/>
          </a:prstGeom>
          <a:solidFill>
            <a:srgbClr val="3E7C6B"/>
          </a:solidFill>
          <a:ln w="12700">
            <a:solidFill>
              <a:srgbClr val="3E7C6B"/>
            </a:solidFill>
            <a:prstDash val="solid"/>
          </a:ln>
        </p:spPr>
      </p:sp>
      <p:pic>
        <p:nvPicPr>
          <p:cNvPr id="21" name="icon" descr="preencoded.png">    </p:cNvPr>
          <p:cNvPicPr>
            <a:picLocks noChangeAspect="1"/>
          </p:cNvPicPr>
          <p:nvPr/>
        </p:nvPicPr>
        <p:blipFill>
          <a:blip r:embed="rId4"/>
          <a:stretch>
            <a:fillRect/>
          </a:stretch>
        </p:blipFill>
        <p:spPr>
          <a:xfrm>
            <a:off x="774314" y="5373746"/>
            <a:ext cx="225308" cy="225308"/>
          </a:xfrm>
          <a:prstGeom prst="rect">
            <a:avLst/>
          </a:prstGeom>
        </p:spPr>
      </p:pic>
      <p:sp>
        <p:nvSpPr>
          <p:cNvPr id="22" name="Text 15"/>
          <p:cNvSpPr txBox="1"/>
          <p:nvPr/>
        </p:nvSpPr>
        <p:spPr>
          <a:xfrm>
            <a:off x="1234440" y="5166360"/>
            <a:ext cx="10195560" cy="640080"/>
          </a:xfrm>
          <a:prstGeom prst="rect">
            <a:avLst/>
          </a:prstGeom>
          <a:noFill/>
          <a:ln/>
        </p:spPr>
        <p:txBody>
          <a:bodyPr wrap="square" lIns="0" tIns="0" rIns="0" bIns="0" rtlCol="0" anchor="ctr"/>
          <a:lstStyle/>
          <a:p>
            <a:pPr indent="0" marL="0">
              <a:buNone/>
            </a:pPr>
            <a:r>
              <a:rPr lang="en-US" sz="1500" dirty="0">
                <a:solidFill>
                  <a:schemeClr val="tx2"/>
                </a:solidFill>
              </a:rPr>
              <a:t>Livrable : carte des impacts et des relations spatiales géologie – mines – infrastructures.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Guinée — Des plateaux latéritiques aux ports</a:t>
            </a:r>
            <a:endParaRPr lang="en-US" sz="3000" dirty="0"/>
          </a:p>
        </p:txBody>
      </p:sp>
      <p:sp>
        <p:nvSpPr>
          <p:cNvPr id="4" name="step"/>
          <p:cNvSpPr/>
          <p:nvPr/>
        </p:nvSpPr>
        <p:spPr>
          <a:xfrm>
            <a:off x="548640" y="1463040"/>
            <a:ext cx="1920240" cy="2011680"/>
          </a:xfrm>
          <a:prstGeom prst="roundRect">
            <a:avLst>
              <a:gd name="adj" fmla="val 3810"/>
            </a:avLst>
          </a:prstGeom>
          <a:solidFill>
            <a:srgbClr val="EEF2F3"/>
          </a:solidFill>
          <a:ln w="12700">
            <a:solidFill>
              <a:srgbClr val="EEF2F3"/>
            </a:solidFill>
            <a:prstDash val="solid"/>
          </a:ln>
        </p:spPr>
      </p:sp>
      <p:sp>
        <p:nvSpPr>
          <p:cNvPr id="5" name="step-num"/>
          <p:cNvSpPr/>
          <p:nvPr/>
        </p:nvSpPr>
        <p:spPr>
          <a:xfrm>
            <a:off x="713232" y="162763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658368" y="21031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Géomorphologie</a:t>
            </a:r>
            <a:endParaRPr lang="en-US" sz="1500" dirty="0"/>
          </a:p>
        </p:txBody>
      </p:sp>
      <p:sp>
        <p:nvSpPr>
          <p:cNvPr id="8" name="Text 5"/>
          <p:cNvSpPr txBox="1"/>
          <p:nvPr/>
        </p:nvSpPr>
        <p:spPr>
          <a:xfrm>
            <a:off x="713232" y="2578608"/>
            <a:ext cx="1591056" cy="822960"/>
          </a:xfrm>
          <a:prstGeom prst="rect">
            <a:avLst/>
          </a:prstGeom>
          <a:noFill/>
          <a:ln/>
        </p:spPr>
        <p:txBody>
          <a:bodyPr wrap="square" lIns="0" tIns="0" rIns="0" bIns="0" rtlCol="0" anchor="t"/>
          <a:lstStyle/>
          <a:p>
            <a:pPr indent="0" marL="0">
              <a:buNone/>
            </a:pPr>
            <a:r>
              <a:rPr lang="en-US" sz="1400" dirty="0">
                <a:solidFill>
                  <a:schemeClr val="tx1"/>
                </a:solidFill>
              </a:rPr>
              <a:t>Plateaux, cuirasses</a:t>
            </a:r>
            <a:endParaRPr lang="en-US" sz="1400" dirty="0"/>
          </a:p>
        </p:txBody>
      </p:sp>
      <p:sp>
        <p:nvSpPr>
          <p:cNvPr id="9" name="arrow"/>
          <p:cNvSpPr/>
          <p:nvPr/>
        </p:nvSpPr>
        <p:spPr>
          <a:xfrm>
            <a:off x="2542032" y="2340864"/>
            <a:ext cx="219456" cy="256032"/>
          </a:xfrm>
          <a:prstGeom prst="rightArrow">
            <a:avLst/>
          </a:prstGeom>
          <a:solidFill>
            <a:srgbClr val="9AA5AC"/>
          </a:solidFill>
          <a:ln w="12700">
            <a:solidFill>
              <a:srgbClr val="9AA5AC"/>
            </a:solidFill>
            <a:prstDash val="solid"/>
          </a:ln>
        </p:spPr>
      </p:sp>
      <p:sp>
        <p:nvSpPr>
          <p:cNvPr id="10" name="step"/>
          <p:cNvSpPr/>
          <p:nvPr/>
        </p:nvSpPr>
        <p:spPr>
          <a:xfrm>
            <a:off x="2834640" y="1463040"/>
            <a:ext cx="1920240" cy="2011680"/>
          </a:xfrm>
          <a:prstGeom prst="roundRect">
            <a:avLst>
              <a:gd name="adj" fmla="val 3810"/>
            </a:avLst>
          </a:prstGeom>
          <a:solidFill>
            <a:srgbClr val="EEF2F3"/>
          </a:solidFill>
          <a:ln w="12700">
            <a:solidFill>
              <a:srgbClr val="EEF2F3"/>
            </a:solidFill>
            <a:prstDash val="solid"/>
          </a:ln>
        </p:spPr>
      </p:sp>
      <p:sp>
        <p:nvSpPr>
          <p:cNvPr id="11" name="step-num"/>
          <p:cNvSpPr/>
          <p:nvPr/>
        </p:nvSpPr>
        <p:spPr>
          <a:xfrm>
            <a:off x="2999232" y="1627632"/>
            <a:ext cx="420624" cy="420624"/>
          </a:xfrm>
          <a:prstGeom prst="ellipse">
            <a:avLst/>
          </a:prstGeom>
          <a:solidFill>
            <a:srgbClr val="B5542D"/>
          </a:solidFill>
          <a:ln w="12700">
            <a:solidFill>
              <a:srgbClr val="B5542D"/>
            </a:solidFill>
            <a:prstDash val="solid"/>
          </a:ln>
        </p:spPr>
      </p:sp>
      <p:sp>
        <p:nvSpPr>
          <p:cNvPr id="12" name="Text 9"/>
          <p:cNvSpPr txBox="1"/>
          <p:nvPr/>
        </p:nvSpPr>
        <p:spPr>
          <a:xfrm>
            <a:off x="2999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2944368" y="21031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Latérites</a:t>
            </a:r>
            <a:endParaRPr lang="en-US" sz="1500" dirty="0"/>
          </a:p>
        </p:txBody>
      </p:sp>
      <p:sp>
        <p:nvSpPr>
          <p:cNvPr id="14" name="Text 11"/>
          <p:cNvSpPr txBox="1"/>
          <p:nvPr/>
        </p:nvSpPr>
        <p:spPr>
          <a:xfrm>
            <a:off x="2999232" y="2578608"/>
            <a:ext cx="1591056" cy="822960"/>
          </a:xfrm>
          <a:prstGeom prst="rect">
            <a:avLst/>
          </a:prstGeom>
          <a:noFill/>
          <a:ln/>
        </p:spPr>
        <p:txBody>
          <a:bodyPr wrap="square" lIns="0" tIns="0" rIns="0" bIns="0" rtlCol="0" anchor="t"/>
          <a:lstStyle/>
          <a:p>
            <a:pPr indent="0" marL="0">
              <a:buNone/>
            </a:pPr>
            <a:r>
              <a:rPr lang="en-US" sz="1400" dirty="0">
                <a:solidFill>
                  <a:schemeClr val="tx1"/>
                </a:solidFill>
              </a:rPr>
              <a:t>Classification, indices</a:t>
            </a:r>
            <a:endParaRPr lang="en-US" sz="1400" dirty="0"/>
          </a:p>
        </p:txBody>
      </p:sp>
      <p:sp>
        <p:nvSpPr>
          <p:cNvPr id="15" name="arrow"/>
          <p:cNvSpPr/>
          <p:nvPr/>
        </p:nvSpPr>
        <p:spPr>
          <a:xfrm>
            <a:off x="4828032" y="2340864"/>
            <a:ext cx="219456" cy="256032"/>
          </a:xfrm>
          <a:prstGeom prst="rightArrow">
            <a:avLst/>
          </a:prstGeom>
          <a:solidFill>
            <a:srgbClr val="9AA5AC"/>
          </a:solidFill>
          <a:ln w="12700">
            <a:solidFill>
              <a:srgbClr val="9AA5AC"/>
            </a:solidFill>
            <a:prstDash val="solid"/>
          </a:ln>
        </p:spPr>
      </p:sp>
      <p:sp>
        <p:nvSpPr>
          <p:cNvPr id="16" name="step"/>
          <p:cNvSpPr/>
          <p:nvPr/>
        </p:nvSpPr>
        <p:spPr>
          <a:xfrm>
            <a:off x="5120640" y="1463040"/>
            <a:ext cx="1920240" cy="2011680"/>
          </a:xfrm>
          <a:prstGeom prst="roundRect">
            <a:avLst>
              <a:gd name="adj" fmla="val 3810"/>
            </a:avLst>
          </a:prstGeom>
          <a:solidFill>
            <a:srgbClr val="EEF2F3"/>
          </a:solidFill>
          <a:ln w="12700">
            <a:solidFill>
              <a:srgbClr val="EEF2F3"/>
            </a:solidFill>
            <a:prstDash val="solid"/>
          </a:ln>
        </p:spPr>
      </p:sp>
      <p:sp>
        <p:nvSpPr>
          <p:cNvPr id="17" name="step-num"/>
          <p:cNvSpPr/>
          <p:nvPr/>
        </p:nvSpPr>
        <p:spPr>
          <a:xfrm>
            <a:off x="5285232" y="1627632"/>
            <a:ext cx="420624" cy="420624"/>
          </a:xfrm>
          <a:prstGeom prst="ellipse">
            <a:avLst/>
          </a:prstGeom>
          <a:solidFill>
            <a:srgbClr val="B5542D"/>
          </a:solidFill>
          <a:ln w="12700">
            <a:solidFill>
              <a:srgbClr val="B5542D"/>
            </a:solidFill>
            <a:prstDash val="solid"/>
          </a:ln>
        </p:spPr>
      </p:sp>
      <p:sp>
        <p:nvSpPr>
          <p:cNvPr id="18" name="Text 15"/>
          <p:cNvSpPr txBox="1"/>
          <p:nvPr/>
        </p:nvSpPr>
        <p:spPr>
          <a:xfrm>
            <a:off x="5285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5230368" y="21031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Mines</a:t>
            </a:r>
            <a:endParaRPr lang="en-US" sz="1500" dirty="0"/>
          </a:p>
        </p:txBody>
      </p:sp>
      <p:sp>
        <p:nvSpPr>
          <p:cNvPr id="20" name="Text 17"/>
          <p:cNvSpPr txBox="1"/>
          <p:nvPr/>
        </p:nvSpPr>
        <p:spPr>
          <a:xfrm>
            <a:off x="5285232" y="2578608"/>
            <a:ext cx="1591056" cy="822960"/>
          </a:xfrm>
          <a:prstGeom prst="rect">
            <a:avLst/>
          </a:prstGeom>
          <a:noFill/>
          <a:ln/>
        </p:spPr>
        <p:txBody>
          <a:bodyPr wrap="square" lIns="0" tIns="0" rIns="0" bIns="0" rtlCol="0" anchor="t"/>
          <a:lstStyle/>
          <a:p>
            <a:pPr indent="0" marL="0">
              <a:buNone/>
            </a:pPr>
            <a:r>
              <a:rPr lang="en-US" sz="1400" dirty="0">
                <a:solidFill>
                  <a:schemeClr val="tx1"/>
                </a:solidFill>
              </a:rPr>
              <a:t>Sites existants</a:t>
            </a:r>
            <a:endParaRPr lang="en-US" sz="1400" dirty="0"/>
          </a:p>
        </p:txBody>
      </p:sp>
      <p:sp>
        <p:nvSpPr>
          <p:cNvPr id="21" name="arrow"/>
          <p:cNvSpPr/>
          <p:nvPr/>
        </p:nvSpPr>
        <p:spPr>
          <a:xfrm>
            <a:off x="7114032" y="2340864"/>
            <a:ext cx="219456" cy="256032"/>
          </a:xfrm>
          <a:prstGeom prst="rightArrow">
            <a:avLst/>
          </a:prstGeom>
          <a:solidFill>
            <a:srgbClr val="9AA5AC"/>
          </a:solidFill>
          <a:ln w="12700">
            <a:solidFill>
              <a:srgbClr val="9AA5AC"/>
            </a:solidFill>
            <a:prstDash val="solid"/>
          </a:ln>
        </p:spPr>
      </p:sp>
      <p:sp>
        <p:nvSpPr>
          <p:cNvPr id="22" name="step"/>
          <p:cNvSpPr/>
          <p:nvPr/>
        </p:nvSpPr>
        <p:spPr>
          <a:xfrm>
            <a:off x="7406640" y="1463040"/>
            <a:ext cx="1920240" cy="2011680"/>
          </a:xfrm>
          <a:prstGeom prst="roundRect">
            <a:avLst>
              <a:gd name="adj" fmla="val 3810"/>
            </a:avLst>
          </a:prstGeom>
          <a:solidFill>
            <a:srgbClr val="EEF2F3"/>
          </a:solidFill>
          <a:ln w="12700">
            <a:solidFill>
              <a:srgbClr val="EEF2F3"/>
            </a:solidFill>
            <a:prstDash val="solid"/>
          </a:ln>
        </p:spPr>
      </p:sp>
      <p:sp>
        <p:nvSpPr>
          <p:cNvPr id="23" name="step-num"/>
          <p:cNvSpPr/>
          <p:nvPr/>
        </p:nvSpPr>
        <p:spPr>
          <a:xfrm>
            <a:off x="7571232" y="162763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7571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7516368" y="21031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Logistique</a:t>
            </a:r>
            <a:endParaRPr lang="en-US" sz="1500" dirty="0"/>
          </a:p>
        </p:txBody>
      </p:sp>
      <p:sp>
        <p:nvSpPr>
          <p:cNvPr id="26" name="Text 23"/>
          <p:cNvSpPr txBox="1"/>
          <p:nvPr/>
        </p:nvSpPr>
        <p:spPr>
          <a:xfrm>
            <a:off x="7571232" y="2578608"/>
            <a:ext cx="1591056" cy="822960"/>
          </a:xfrm>
          <a:prstGeom prst="rect">
            <a:avLst/>
          </a:prstGeom>
          <a:noFill/>
          <a:ln/>
        </p:spPr>
        <p:txBody>
          <a:bodyPr wrap="square" lIns="0" tIns="0" rIns="0" bIns="0" rtlCol="0" anchor="t"/>
          <a:lstStyle/>
          <a:p>
            <a:pPr indent="0" marL="0">
              <a:buNone/>
            </a:pPr>
            <a:r>
              <a:rPr lang="en-US" sz="1400" dirty="0">
                <a:solidFill>
                  <a:schemeClr val="tx1"/>
                </a:solidFill>
              </a:rPr>
              <a:t>Routes, rails, ports</a:t>
            </a:r>
            <a:endParaRPr lang="en-US" sz="1400" dirty="0"/>
          </a:p>
        </p:txBody>
      </p:sp>
      <p:sp>
        <p:nvSpPr>
          <p:cNvPr id="27" name="arrow"/>
          <p:cNvSpPr/>
          <p:nvPr/>
        </p:nvSpPr>
        <p:spPr>
          <a:xfrm>
            <a:off x="9400032" y="2340864"/>
            <a:ext cx="219456" cy="256032"/>
          </a:xfrm>
          <a:prstGeom prst="rightArrow">
            <a:avLst/>
          </a:prstGeom>
          <a:solidFill>
            <a:srgbClr val="9AA5AC"/>
          </a:solidFill>
          <a:ln w="12700">
            <a:solidFill>
              <a:srgbClr val="9AA5AC"/>
            </a:solidFill>
            <a:prstDash val="solid"/>
          </a:ln>
        </p:spPr>
      </p:sp>
      <p:sp>
        <p:nvSpPr>
          <p:cNvPr id="28" name="step"/>
          <p:cNvSpPr/>
          <p:nvPr/>
        </p:nvSpPr>
        <p:spPr>
          <a:xfrm>
            <a:off x="9692640" y="1463040"/>
            <a:ext cx="1920240" cy="2011680"/>
          </a:xfrm>
          <a:prstGeom prst="roundRect">
            <a:avLst>
              <a:gd name="adj" fmla="val 3810"/>
            </a:avLst>
          </a:prstGeom>
          <a:solidFill>
            <a:srgbClr val="D9A441">
              <a:alpha val="30000"/>
            </a:srgbClr>
          </a:solidFill>
          <a:ln w="25400">
            <a:solidFill>
              <a:srgbClr val="D9A441"/>
            </a:solidFill>
            <a:prstDash val="solid"/>
          </a:ln>
        </p:spPr>
      </p:sp>
      <p:sp>
        <p:nvSpPr>
          <p:cNvPr id="29" name="step-num"/>
          <p:cNvSpPr/>
          <p:nvPr/>
        </p:nvSpPr>
        <p:spPr>
          <a:xfrm>
            <a:off x="9857232" y="1627632"/>
            <a:ext cx="420624" cy="420624"/>
          </a:xfrm>
          <a:prstGeom prst="ellipse">
            <a:avLst/>
          </a:prstGeom>
          <a:solidFill>
            <a:srgbClr val="D9A441"/>
          </a:solidFill>
          <a:ln w="12700">
            <a:solidFill>
              <a:srgbClr val="D9A441"/>
            </a:solidFill>
            <a:prstDash val="solid"/>
          </a:ln>
        </p:spPr>
      </p:sp>
      <p:sp>
        <p:nvSpPr>
          <p:cNvPr id="30" name="Text 27"/>
          <p:cNvSpPr txBox="1"/>
          <p:nvPr/>
        </p:nvSpPr>
        <p:spPr>
          <a:xfrm>
            <a:off x="9857232"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Text 28"/>
          <p:cNvSpPr txBox="1"/>
          <p:nvPr/>
        </p:nvSpPr>
        <p:spPr>
          <a:xfrm>
            <a:off x="9802368" y="2103120"/>
            <a:ext cx="1700784" cy="457200"/>
          </a:xfrm>
          <a:prstGeom prst="rect">
            <a:avLst/>
          </a:prstGeom>
          <a:noFill/>
          <a:ln/>
        </p:spPr>
        <p:txBody>
          <a:bodyPr wrap="square" lIns="0" tIns="0" rIns="0" bIns="0" rtlCol="0" anchor="ctr"/>
          <a:lstStyle/>
          <a:p>
            <a:pPr indent="0" marL="0">
              <a:buNone/>
            </a:pPr>
            <a:r>
              <a:rPr lang="en-US" sz="1500" b="1" dirty="0">
                <a:solidFill>
                  <a:schemeClr val="tx2"/>
                </a:solidFill>
              </a:rPr>
              <a:t>Chaîne</a:t>
            </a:r>
            <a:endParaRPr lang="en-US" sz="1500" dirty="0"/>
          </a:p>
        </p:txBody>
      </p:sp>
      <p:sp>
        <p:nvSpPr>
          <p:cNvPr id="32" name="Text 29"/>
          <p:cNvSpPr txBox="1"/>
          <p:nvPr/>
        </p:nvSpPr>
        <p:spPr>
          <a:xfrm>
            <a:off x="9857232" y="2578608"/>
            <a:ext cx="1591056" cy="822960"/>
          </a:xfrm>
          <a:prstGeom prst="rect">
            <a:avLst/>
          </a:prstGeom>
          <a:noFill/>
          <a:ln/>
        </p:spPr>
        <p:txBody>
          <a:bodyPr wrap="square" lIns="0" tIns="0" rIns="0" bIns="0" rtlCol="0" anchor="t"/>
          <a:lstStyle/>
          <a:p>
            <a:pPr indent="0" marL="0">
              <a:buNone/>
            </a:pPr>
            <a:r>
              <a:rPr lang="en-US" sz="1400" dirty="0">
                <a:solidFill>
                  <a:schemeClr val="tx1"/>
                </a:solidFill>
              </a:rPr>
              <a:t>Bauxite → alumine → aluminium</a:t>
            </a:r>
            <a:endParaRPr lang="en-US" sz="1400" dirty="0"/>
          </a:p>
        </p:txBody>
      </p:sp>
      <p:sp>
        <p:nvSpPr>
          <p:cNvPr id="33" name="panel"/>
          <p:cNvSpPr/>
          <p:nvPr/>
        </p:nvSpPr>
        <p:spPr>
          <a:xfrm>
            <a:off x="548640" y="3794760"/>
            <a:ext cx="11064240" cy="2286000"/>
          </a:xfrm>
          <a:prstGeom prst="roundRect">
            <a:avLst>
              <a:gd name="adj" fmla="val 3200"/>
            </a:avLst>
          </a:prstGeom>
          <a:solidFill>
            <a:schemeClr val="bg2"/>
          </a:solidFill>
          <a:ln w="12700">
            <a:solidFill>
              <a:schemeClr val="bg2"/>
            </a:solidFill>
            <a:prstDash val="solid"/>
          </a:ln>
        </p:spPr>
      </p:sp>
      <p:sp>
        <p:nvSpPr>
          <p:cNvPr id="34" name="icon-circle"/>
          <p:cNvSpPr/>
          <p:nvPr/>
        </p:nvSpPr>
        <p:spPr>
          <a:xfrm>
            <a:off x="777240" y="4023360"/>
            <a:ext cx="548640" cy="548640"/>
          </a:xfrm>
          <a:prstGeom prst="ellipse">
            <a:avLst/>
          </a:prstGeom>
          <a:solidFill>
            <a:srgbClr val="B5542D"/>
          </a:solidFill>
          <a:ln w="12700">
            <a:solidFill>
              <a:srgbClr val="B5542D"/>
            </a:solidFill>
            <a:prstDash val="solid"/>
          </a:ln>
        </p:spPr>
      </p:sp>
      <p:pic>
        <p:nvPicPr>
          <p:cNvPr id="35" name="icon" descr="preencoded.png">    </p:cNvPr>
          <p:cNvPicPr>
            <a:picLocks noChangeAspect="1"/>
          </p:cNvPicPr>
          <p:nvPr/>
        </p:nvPicPr>
        <p:blipFill>
          <a:blip r:embed="rId1"/>
          <a:stretch>
            <a:fillRect/>
          </a:stretch>
        </p:blipFill>
        <p:spPr>
          <a:xfrm>
            <a:off x="897941" y="4144061"/>
            <a:ext cx="307238" cy="307238"/>
          </a:xfrm>
          <a:prstGeom prst="rect">
            <a:avLst/>
          </a:prstGeom>
        </p:spPr>
      </p:pic>
      <p:sp>
        <p:nvSpPr>
          <p:cNvPr id="36" name="Text 32"/>
          <p:cNvSpPr txBox="1"/>
          <p:nvPr/>
        </p:nvSpPr>
        <p:spPr>
          <a:xfrm>
            <a:off x="1463040" y="4023360"/>
            <a:ext cx="9966960" cy="548640"/>
          </a:xfrm>
          <a:prstGeom prst="rect">
            <a:avLst/>
          </a:prstGeom>
          <a:noFill/>
          <a:ln/>
        </p:spPr>
        <p:txBody>
          <a:bodyPr wrap="square" lIns="0" tIns="0" rIns="0" bIns="0" rtlCol="0" anchor="ctr"/>
          <a:lstStyle/>
          <a:p>
            <a:pPr indent="0" marL="0">
              <a:buNone/>
            </a:pPr>
            <a:r>
              <a:rPr lang="en-US" sz="1800" b="1" dirty="0">
                <a:solidFill>
                  <a:schemeClr val="tx2"/>
                </a:solidFill>
              </a:rPr>
              <a:t>Exercice</a:t>
            </a:r>
            <a:endParaRPr lang="en-US" sz="1800" dirty="0"/>
          </a:p>
        </p:txBody>
      </p:sp>
      <p:sp>
        <p:nvSpPr>
          <p:cNvPr id="37" name="Text 33"/>
          <p:cNvSpPr txBox="1"/>
          <p:nvPr/>
        </p:nvSpPr>
        <p:spPr>
          <a:xfrm>
            <a:off x="822960" y="4754880"/>
            <a:ext cx="1051560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Croiser les plateaux candidats avec la distance au rail et aux ports</a:t>
            </a:r>
            <a:endParaRPr lang="en-US" sz="1500" dirty="0"/>
          </a:p>
          <a:p>
            <a:pPr marL="342900" indent="-342900">
              <a:spcAft>
                <a:spcPts val="600"/>
              </a:spcAft>
              <a:buSzPct val="100000"/>
              <a:buChar char="•"/>
            </a:pPr>
            <a:r>
              <a:rPr lang="en-US" sz="1500" dirty="0">
                <a:solidFill>
                  <a:schemeClr val="tx1"/>
                </a:solidFill>
              </a:rPr>
              <a:t>Classer les plateaux en trois catégories d'attractivité logistique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Congo — Construire une carte avec peu de données</a:t>
            </a:r>
            <a:endParaRPr lang="en-US" sz="3000" dirty="0"/>
          </a:p>
        </p:txBody>
      </p:sp>
      <p:sp>
        <p:nvSpPr>
          <p:cNvPr id="4" name="card"/>
          <p:cNvSpPr/>
          <p:nvPr/>
        </p:nvSpPr>
        <p:spPr>
          <a:xfrm>
            <a:off x="548640" y="1371600"/>
            <a:ext cx="3505200" cy="3474720"/>
          </a:xfrm>
          <a:prstGeom prst="roundRect">
            <a:avLst>
              <a:gd name="adj" fmla="val 2105"/>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Données</a:t>
            </a:r>
            <a:endParaRPr lang="en-US" sz="1700" dirty="0"/>
          </a:p>
        </p:txBody>
      </p:sp>
      <p:sp>
        <p:nvSpPr>
          <p:cNvPr id="8" name="Text 4"/>
          <p:cNvSpPr txBox="1"/>
          <p:nvPr/>
        </p:nvSpPr>
        <p:spPr>
          <a:xfrm>
            <a:off x="777240" y="2286000"/>
            <a:ext cx="3048000" cy="2423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Géologie OneGeology (WMS)</a:t>
            </a:r>
            <a:endParaRPr lang="en-US" sz="1400" dirty="0"/>
          </a:p>
          <a:p>
            <a:pPr marL="342900" indent="-342900">
              <a:spcAft>
                <a:spcPts val="400"/>
              </a:spcAft>
              <a:buSzPct val="100000"/>
              <a:buChar char="•"/>
            </a:pPr>
            <a:r>
              <a:rPr lang="en-US" sz="1400" dirty="0">
                <a:solidFill>
                  <a:schemeClr val="tx1"/>
                </a:solidFill>
              </a:rPr>
              <a:t>Base USGS Afrique</a:t>
            </a:r>
            <a:endParaRPr lang="en-US" sz="1400" dirty="0"/>
          </a:p>
          <a:p>
            <a:pPr marL="342900" indent="-342900">
              <a:spcAft>
                <a:spcPts val="400"/>
              </a:spcAft>
              <a:buSzPct val="100000"/>
              <a:buChar char="•"/>
            </a:pPr>
            <a:r>
              <a:rPr lang="en-US" sz="1400" dirty="0">
                <a:solidFill>
                  <a:schemeClr val="tx1"/>
                </a:solidFill>
              </a:rPr>
              <a:t>Sentinel-1, Sentinel-2, MNT</a:t>
            </a:r>
            <a:endParaRPr lang="en-US" sz="1400" dirty="0"/>
          </a:p>
        </p:txBody>
      </p:sp>
      <p:sp>
        <p:nvSpPr>
          <p:cNvPr id="9" name="card"/>
          <p:cNvSpPr/>
          <p:nvPr/>
        </p:nvSpPr>
        <p:spPr>
          <a:xfrm>
            <a:off x="4328160" y="1371600"/>
            <a:ext cx="3505200" cy="3474720"/>
          </a:xfrm>
          <a:prstGeom prst="roundRect">
            <a:avLst>
              <a:gd name="adj" fmla="val 2105"/>
            </a:avLst>
          </a:prstGeom>
          <a:solidFill>
            <a:schemeClr val="bg2"/>
          </a:solidFill>
          <a:ln w="12700">
            <a:solidFill>
              <a:schemeClr val="bg2"/>
            </a:solidFill>
            <a:prstDash val="solid"/>
          </a:ln>
        </p:spPr>
      </p:sp>
      <p:sp>
        <p:nvSpPr>
          <p:cNvPr id="10" name="icon-circle"/>
          <p:cNvSpPr/>
          <p:nvPr/>
        </p:nvSpPr>
        <p:spPr>
          <a:xfrm>
            <a:off x="455676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4677461" y="1720901"/>
            <a:ext cx="307238" cy="307238"/>
          </a:xfrm>
          <a:prstGeom prst="rect">
            <a:avLst/>
          </a:prstGeom>
        </p:spPr>
      </p:pic>
      <p:sp>
        <p:nvSpPr>
          <p:cNvPr id="12" name="Text 7"/>
          <p:cNvSpPr txBox="1"/>
          <p:nvPr/>
        </p:nvSpPr>
        <p:spPr>
          <a:xfrm>
            <a:off x="524256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Objectif</a:t>
            </a:r>
            <a:endParaRPr lang="en-US" sz="1700" dirty="0"/>
          </a:p>
        </p:txBody>
      </p:sp>
      <p:sp>
        <p:nvSpPr>
          <p:cNvPr id="13" name="Text 8"/>
          <p:cNvSpPr txBox="1"/>
          <p:nvPr/>
        </p:nvSpPr>
        <p:spPr>
          <a:xfrm>
            <a:off x="4556760" y="2286000"/>
            <a:ext cx="3048000" cy="2423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Première carte de prospectivité et d'infrastructures</a:t>
            </a:r>
            <a:endParaRPr lang="en-US" sz="1400" dirty="0"/>
          </a:p>
          <a:p>
            <a:pPr marL="342900" indent="-342900">
              <a:spcAft>
                <a:spcPts val="400"/>
              </a:spcAft>
              <a:buSzPct val="100000"/>
              <a:buChar char="•"/>
            </a:pPr>
            <a:r>
              <a:rPr lang="en-US" sz="1400" dirty="0">
                <a:solidFill>
                  <a:schemeClr val="tx1"/>
                </a:solidFill>
              </a:rPr>
              <a:t>Lacunes de données nommées</a:t>
            </a:r>
            <a:endParaRPr lang="en-US" sz="1400" dirty="0"/>
          </a:p>
        </p:txBody>
      </p:sp>
      <p:sp>
        <p:nvSpPr>
          <p:cNvPr id="14" name="card"/>
          <p:cNvSpPr/>
          <p:nvPr/>
        </p:nvSpPr>
        <p:spPr>
          <a:xfrm>
            <a:off x="8107680" y="1371600"/>
            <a:ext cx="3505200" cy="3474720"/>
          </a:xfrm>
          <a:prstGeom prst="roundRect">
            <a:avLst>
              <a:gd name="adj" fmla="val 2105"/>
            </a:avLst>
          </a:prstGeom>
          <a:solidFill>
            <a:schemeClr val="bg2"/>
          </a:solidFill>
          <a:ln w="12700">
            <a:solidFill>
              <a:schemeClr val="bg2"/>
            </a:solidFill>
            <a:prstDash val="solid"/>
          </a:ln>
        </p:spPr>
      </p:sp>
      <p:sp>
        <p:nvSpPr>
          <p:cNvPr id="15" name="icon-circle"/>
          <p:cNvSpPr/>
          <p:nvPr/>
        </p:nvSpPr>
        <p:spPr>
          <a:xfrm>
            <a:off x="833628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8456981" y="1720901"/>
            <a:ext cx="307238" cy="307238"/>
          </a:xfrm>
          <a:prstGeom prst="rect">
            <a:avLst/>
          </a:prstGeom>
        </p:spPr>
      </p:pic>
      <p:sp>
        <p:nvSpPr>
          <p:cNvPr id="17" name="Text 11"/>
          <p:cNvSpPr txBox="1"/>
          <p:nvPr/>
        </p:nvSpPr>
        <p:spPr>
          <a:xfrm>
            <a:off x="902208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Lien Cameroun</a:t>
            </a:r>
            <a:endParaRPr lang="en-US" sz="1700" dirty="0"/>
          </a:p>
        </p:txBody>
      </p:sp>
      <p:sp>
        <p:nvSpPr>
          <p:cNvPr id="18" name="Text 12"/>
          <p:cNvSpPr txBox="1"/>
          <p:nvPr/>
        </p:nvSpPr>
        <p:spPr>
          <a:xfrm>
            <a:off x="8336280" y="2286000"/>
            <a:ext cx="3048000" cy="2423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Fer de Mbalam-Nabeba, de part et d'autre de la frontière</a:t>
            </a:r>
            <a:endParaRPr lang="en-US" sz="1400" dirty="0"/>
          </a:p>
          <a:p>
            <a:pPr marL="342900" indent="-342900">
              <a:spcAft>
                <a:spcPts val="400"/>
              </a:spcAft>
              <a:buSzPct val="100000"/>
              <a:buChar char="•"/>
            </a:pPr>
            <a:r>
              <a:rPr lang="en-US" sz="1400" dirty="0">
                <a:solidFill>
                  <a:schemeClr val="tx1"/>
                </a:solidFill>
              </a:rPr>
              <a:t>Question de la voie d'export</a:t>
            </a:r>
            <a:endParaRPr lang="en-US" sz="1400" dirty="0"/>
          </a:p>
        </p:txBody>
      </p:sp>
      <p:sp>
        <p:nvSpPr>
          <p:cNvPr id="19" name="callout"/>
          <p:cNvSpPr/>
          <p:nvPr/>
        </p:nvSpPr>
        <p:spPr>
          <a:xfrm>
            <a:off x="548640" y="5166360"/>
            <a:ext cx="11064240" cy="640080"/>
          </a:xfrm>
          <a:prstGeom prst="roundRect">
            <a:avLst>
              <a:gd name="adj" fmla="val 11429"/>
            </a:avLst>
          </a:prstGeom>
          <a:solidFill>
            <a:srgbClr val="3E7C6B">
              <a:alpha val="15000"/>
            </a:srgbClr>
          </a:solidFill>
          <a:ln w="12700">
            <a:solidFill>
              <a:srgbClr val="3E7C6B"/>
            </a:solidFill>
            <a:prstDash val="solid"/>
          </a:ln>
        </p:spPr>
      </p:sp>
      <p:sp>
        <p:nvSpPr>
          <p:cNvPr id="20" name="icon-circle"/>
          <p:cNvSpPr/>
          <p:nvPr/>
        </p:nvSpPr>
        <p:spPr>
          <a:xfrm>
            <a:off x="685800" y="5285232"/>
            <a:ext cx="402336" cy="402336"/>
          </a:xfrm>
          <a:prstGeom prst="ellipse">
            <a:avLst/>
          </a:prstGeom>
          <a:solidFill>
            <a:srgbClr val="3E7C6B"/>
          </a:solidFill>
          <a:ln w="12700">
            <a:solidFill>
              <a:srgbClr val="3E7C6B"/>
            </a:solidFill>
            <a:prstDash val="solid"/>
          </a:ln>
        </p:spPr>
      </p:sp>
      <p:pic>
        <p:nvPicPr>
          <p:cNvPr id="21" name="icon" descr="preencoded.png">    </p:cNvPr>
          <p:cNvPicPr>
            <a:picLocks noChangeAspect="1"/>
          </p:cNvPicPr>
          <p:nvPr/>
        </p:nvPicPr>
        <p:blipFill>
          <a:blip r:embed="rId4"/>
          <a:stretch>
            <a:fillRect/>
          </a:stretch>
        </p:blipFill>
        <p:spPr>
          <a:xfrm>
            <a:off x="774314" y="5373746"/>
            <a:ext cx="225308" cy="225308"/>
          </a:xfrm>
          <a:prstGeom prst="rect">
            <a:avLst/>
          </a:prstGeom>
        </p:spPr>
      </p:pic>
      <p:sp>
        <p:nvSpPr>
          <p:cNvPr id="22" name="Text 15"/>
          <p:cNvSpPr txBox="1"/>
          <p:nvPr/>
        </p:nvSpPr>
        <p:spPr>
          <a:xfrm>
            <a:off x="1234440" y="5166360"/>
            <a:ext cx="10195560" cy="640080"/>
          </a:xfrm>
          <a:prstGeom prst="rect">
            <a:avLst/>
          </a:prstGeom>
          <a:noFill/>
          <a:ln/>
        </p:spPr>
        <p:txBody>
          <a:bodyPr wrap="square" lIns="0" tIns="0" rIns="0" bIns="0" rtlCol="0" anchor="ctr"/>
          <a:lstStyle/>
          <a:p>
            <a:pPr indent="0" marL="0">
              <a:buNone/>
            </a:pPr>
            <a:r>
              <a:rPr lang="en-US" sz="1500" dirty="0">
                <a:solidFill>
                  <a:schemeClr val="tx2"/>
                </a:solidFill>
              </a:rPr>
              <a:t>Livrables J4 : carte de prospectivité validée, top 10 Cameroun, carte pays de l'atelier.</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nchor="b"/>
          <a:lstStyle/>
          <a:p>
            <a:pPr algn="l" indent="0" marL="0">
              <a:buNone/>
            </a:pPr>
            <a:r>
              <a:rPr lang="en-US" sz="5400" b="1" dirty="0">
                <a:solidFill>
                  <a:srgbClr val="D9A441"/>
                </a:solidFill>
                <a:latin typeface="Cambria" pitchFamily="34" charset="0"/>
                <a:ea typeface="Cambria" pitchFamily="34" charset="-122"/>
                <a:cs typeface="Cambria" pitchFamily="34" charset="-120"/>
              </a:rPr>
              <a:t>Jour 5</a:t>
            </a: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Du minerai au produit minier</a:t>
            </a: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nchor="t"/>
          <a:lstStyle/>
          <a:p>
            <a:pPr algn="l" indent="0" marL="0">
              <a:buNone/>
            </a:pPr>
            <a:r>
              <a:rPr lang="en-US" sz="1800" dirty="0">
                <a:solidFill>
                  <a:srgbClr val="CFD8DC"/>
                </a:solidFill>
                <a:latin typeface="Calibri" pitchFamily="34" charset="0"/>
                <a:ea typeface="Calibri" pitchFamily="34" charset="-122"/>
                <a:cs typeface="Calibri" pitchFamily="34" charset="-120"/>
              </a:rPr>
              <a:t>Savoir quel produit sort d'une mine, où il est transformé, comment il est payé et à qui il est vendu.</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Programme du jour 5</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7223760"/>
                <a:gridCol w="18288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Horaire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Séquence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8 h 30 – 9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5 — Comprendre les produits miniers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9 h 30 – 10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Module 6 — Chaînes de valeur et marchés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Théorie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10 h 45 – 12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TP5 — Matrice des chaînes de valeur ; valeur d'un concentré</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13 h 30 – 15 h 00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Finalisation du projet « Satellite to Market »</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15 h 00 – 16 h 15</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Soutenances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Pratique</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16 h 15 – 16 h 30</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Quiz de sortie, évaluation de la formation</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Une substance change d'état et de valeur à chaque étape</a:t>
            </a:r>
            <a:endParaRPr lang="en-US" sz="3000" dirty="0"/>
          </a:p>
        </p:txBody>
      </p:sp>
      <p:sp>
        <p:nvSpPr>
          <p:cNvPr id="4" name="step"/>
          <p:cNvSpPr/>
          <p:nvPr/>
        </p:nvSpPr>
        <p:spPr>
          <a:xfrm>
            <a:off x="548640" y="1417320"/>
            <a:ext cx="1345474" cy="1234440"/>
          </a:xfrm>
          <a:prstGeom prst="roundRect">
            <a:avLst>
              <a:gd name="adj" fmla="val 5926"/>
            </a:avLst>
          </a:prstGeom>
          <a:solidFill>
            <a:srgbClr val="EEF2F3"/>
          </a:solidFill>
          <a:ln w="12700">
            <a:solidFill>
              <a:srgbClr val="EEF2F3"/>
            </a:solidFill>
            <a:prstDash val="solid"/>
          </a:ln>
        </p:spPr>
      </p:sp>
      <p:sp>
        <p:nvSpPr>
          <p:cNvPr id="5" name="step-num"/>
          <p:cNvSpPr/>
          <p:nvPr/>
        </p:nvSpPr>
        <p:spPr>
          <a:xfrm>
            <a:off x="713232" y="158191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658368"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Ressource</a:t>
            </a:r>
            <a:endParaRPr lang="en-US" sz="1300" dirty="0"/>
          </a:p>
        </p:txBody>
      </p:sp>
      <p:sp>
        <p:nvSpPr>
          <p:cNvPr id="8" name="arrow"/>
          <p:cNvSpPr/>
          <p:nvPr/>
        </p:nvSpPr>
        <p:spPr>
          <a:xfrm>
            <a:off x="1967266" y="1906524"/>
            <a:ext cx="219456" cy="256032"/>
          </a:xfrm>
          <a:prstGeom prst="rightArrow">
            <a:avLst/>
          </a:prstGeom>
          <a:solidFill>
            <a:srgbClr val="9AA5AC"/>
          </a:solidFill>
          <a:ln w="12700">
            <a:solidFill>
              <a:srgbClr val="9AA5AC"/>
            </a:solidFill>
            <a:prstDash val="solid"/>
          </a:ln>
        </p:spPr>
      </p:sp>
      <p:sp>
        <p:nvSpPr>
          <p:cNvPr id="9" name="step"/>
          <p:cNvSpPr/>
          <p:nvPr/>
        </p:nvSpPr>
        <p:spPr>
          <a:xfrm>
            <a:off x="2168434" y="1417320"/>
            <a:ext cx="1345474" cy="1234440"/>
          </a:xfrm>
          <a:prstGeom prst="roundRect">
            <a:avLst>
              <a:gd name="adj" fmla="val 5926"/>
            </a:avLst>
          </a:prstGeom>
          <a:solidFill>
            <a:srgbClr val="EEF2F3"/>
          </a:solidFill>
          <a:ln w="12700">
            <a:solidFill>
              <a:srgbClr val="EEF2F3"/>
            </a:solidFill>
            <a:prstDash val="solid"/>
          </a:ln>
        </p:spPr>
      </p:sp>
      <p:sp>
        <p:nvSpPr>
          <p:cNvPr id="10" name="step-num"/>
          <p:cNvSpPr/>
          <p:nvPr/>
        </p:nvSpPr>
        <p:spPr>
          <a:xfrm>
            <a:off x="2333026" y="1581912"/>
            <a:ext cx="420624" cy="420624"/>
          </a:xfrm>
          <a:prstGeom prst="ellipse">
            <a:avLst/>
          </a:prstGeom>
          <a:solidFill>
            <a:srgbClr val="B5542D"/>
          </a:solidFill>
          <a:ln w="12700">
            <a:solidFill>
              <a:srgbClr val="B5542D"/>
            </a:solidFill>
            <a:prstDash val="solid"/>
          </a:ln>
        </p:spPr>
      </p:sp>
      <p:sp>
        <p:nvSpPr>
          <p:cNvPr id="11" name="Text 8"/>
          <p:cNvSpPr txBox="1"/>
          <p:nvPr/>
        </p:nvSpPr>
        <p:spPr>
          <a:xfrm>
            <a:off x="2333026"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2278162"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Minerai</a:t>
            </a:r>
            <a:endParaRPr lang="en-US" sz="1300" dirty="0"/>
          </a:p>
        </p:txBody>
      </p:sp>
      <p:sp>
        <p:nvSpPr>
          <p:cNvPr id="13" name="arrow"/>
          <p:cNvSpPr/>
          <p:nvPr/>
        </p:nvSpPr>
        <p:spPr>
          <a:xfrm>
            <a:off x="3587061" y="1906524"/>
            <a:ext cx="219456" cy="256032"/>
          </a:xfrm>
          <a:prstGeom prst="rightArrow">
            <a:avLst/>
          </a:prstGeom>
          <a:solidFill>
            <a:srgbClr val="9AA5AC"/>
          </a:solidFill>
          <a:ln w="12700">
            <a:solidFill>
              <a:srgbClr val="9AA5AC"/>
            </a:solidFill>
            <a:prstDash val="solid"/>
          </a:ln>
        </p:spPr>
      </p:sp>
      <p:sp>
        <p:nvSpPr>
          <p:cNvPr id="14" name="step"/>
          <p:cNvSpPr/>
          <p:nvPr/>
        </p:nvSpPr>
        <p:spPr>
          <a:xfrm>
            <a:off x="3788229" y="1417320"/>
            <a:ext cx="1345474" cy="1234440"/>
          </a:xfrm>
          <a:prstGeom prst="roundRect">
            <a:avLst>
              <a:gd name="adj" fmla="val 5926"/>
            </a:avLst>
          </a:prstGeom>
          <a:solidFill>
            <a:srgbClr val="EEF2F3"/>
          </a:solidFill>
          <a:ln w="12700">
            <a:solidFill>
              <a:srgbClr val="EEF2F3"/>
            </a:solidFill>
            <a:prstDash val="solid"/>
          </a:ln>
        </p:spPr>
      </p:sp>
      <p:sp>
        <p:nvSpPr>
          <p:cNvPr id="15" name="step-num"/>
          <p:cNvSpPr/>
          <p:nvPr/>
        </p:nvSpPr>
        <p:spPr>
          <a:xfrm>
            <a:off x="3952821" y="1581912"/>
            <a:ext cx="420624" cy="420624"/>
          </a:xfrm>
          <a:prstGeom prst="ellipse">
            <a:avLst/>
          </a:prstGeom>
          <a:solidFill>
            <a:srgbClr val="B5542D"/>
          </a:solidFill>
          <a:ln w="12700">
            <a:solidFill>
              <a:srgbClr val="B5542D"/>
            </a:solidFill>
            <a:prstDash val="solid"/>
          </a:ln>
        </p:spPr>
      </p:sp>
      <p:sp>
        <p:nvSpPr>
          <p:cNvPr id="16" name="Text 13"/>
          <p:cNvSpPr txBox="1"/>
          <p:nvPr/>
        </p:nvSpPr>
        <p:spPr>
          <a:xfrm>
            <a:off x="3952821"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3897957"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Minerai marchand</a:t>
            </a:r>
            <a:endParaRPr lang="en-US" sz="1300" dirty="0"/>
          </a:p>
        </p:txBody>
      </p:sp>
      <p:sp>
        <p:nvSpPr>
          <p:cNvPr id="18" name="arrow"/>
          <p:cNvSpPr/>
          <p:nvPr/>
        </p:nvSpPr>
        <p:spPr>
          <a:xfrm>
            <a:off x="5206855" y="1906524"/>
            <a:ext cx="219456" cy="256032"/>
          </a:xfrm>
          <a:prstGeom prst="rightArrow">
            <a:avLst/>
          </a:prstGeom>
          <a:solidFill>
            <a:srgbClr val="9AA5AC"/>
          </a:solidFill>
          <a:ln w="12700">
            <a:solidFill>
              <a:srgbClr val="9AA5AC"/>
            </a:solidFill>
            <a:prstDash val="solid"/>
          </a:ln>
        </p:spPr>
      </p:sp>
      <p:sp>
        <p:nvSpPr>
          <p:cNvPr id="19" name="step"/>
          <p:cNvSpPr/>
          <p:nvPr/>
        </p:nvSpPr>
        <p:spPr>
          <a:xfrm>
            <a:off x="5408023" y="1417320"/>
            <a:ext cx="1345474" cy="1234440"/>
          </a:xfrm>
          <a:prstGeom prst="roundRect">
            <a:avLst>
              <a:gd name="adj" fmla="val 5926"/>
            </a:avLst>
          </a:prstGeom>
          <a:solidFill>
            <a:srgbClr val="EEF2F3"/>
          </a:solidFill>
          <a:ln w="12700">
            <a:solidFill>
              <a:srgbClr val="EEF2F3"/>
            </a:solidFill>
            <a:prstDash val="solid"/>
          </a:ln>
        </p:spPr>
      </p:sp>
      <p:sp>
        <p:nvSpPr>
          <p:cNvPr id="20" name="step-num"/>
          <p:cNvSpPr/>
          <p:nvPr/>
        </p:nvSpPr>
        <p:spPr>
          <a:xfrm>
            <a:off x="5572615" y="1581912"/>
            <a:ext cx="420624" cy="420624"/>
          </a:xfrm>
          <a:prstGeom prst="ellipse">
            <a:avLst/>
          </a:prstGeom>
          <a:solidFill>
            <a:srgbClr val="B5542D"/>
          </a:solidFill>
          <a:ln w="12700">
            <a:solidFill>
              <a:srgbClr val="B5542D"/>
            </a:solidFill>
            <a:prstDash val="solid"/>
          </a:ln>
        </p:spPr>
      </p:sp>
      <p:sp>
        <p:nvSpPr>
          <p:cNvPr id="21" name="Text 18"/>
          <p:cNvSpPr txBox="1"/>
          <p:nvPr/>
        </p:nvSpPr>
        <p:spPr>
          <a:xfrm>
            <a:off x="5572615"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19"/>
          <p:cNvSpPr txBox="1"/>
          <p:nvPr/>
        </p:nvSpPr>
        <p:spPr>
          <a:xfrm>
            <a:off x="5517751"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Concentré</a:t>
            </a:r>
            <a:endParaRPr lang="en-US" sz="1300" dirty="0"/>
          </a:p>
        </p:txBody>
      </p:sp>
      <p:sp>
        <p:nvSpPr>
          <p:cNvPr id="23" name="arrow"/>
          <p:cNvSpPr/>
          <p:nvPr/>
        </p:nvSpPr>
        <p:spPr>
          <a:xfrm>
            <a:off x="6826649" y="1906524"/>
            <a:ext cx="219456" cy="256032"/>
          </a:xfrm>
          <a:prstGeom prst="rightArrow">
            <a:avLst/>
          </a:prstGeom>
          <a:solidFill>
            <a:srgbClr val="9AA5AC"/>
          </a:solidFill>
          <a:ln w="12700">
            <a:solidFill>
              <a:srgbClr val="9AA5AC"/>
            </a:solidFill>
            <a:prstDash val="solid"/>
          </a:ln>
        </p:spPr>
      </p:sp>
      <p:sp>
        <p:nvSpPr>
          <p:cNvPr id="24" name="step"/>
          <p:cNvSpPr/>
          <p:nvPr/>
        </p:nvSpPr>
        <p:spPr>
          <a:xfrm>
            <a:off x="7027817" y="1417320"/>
            <a:ext cx="1345474" cy="1234440"/>
          </a:xfrm>
          <a:prstGeom prst="roundRect">
            <a:avLst>
              <a:gd name="adj" fmla="val 5926"/>
            </a:avLst>
          </a:prstGeom>
          <a:solidFill>
            <a:srgbClr val="EEF2F3"/>
          </a:solidFill>
          <a:ln w="12700">
            <a:solidFill>
              <a:srgbClr val="EEF2F3"/>
            </a:solidFill>
            <a:prstDash val="solid"/>
          </a:ln>
        </p:spPr>
      </p:sp>
      <p:sp>
        <p:nvSpPr>
          <p:cNvPr id="25" name="step-num"/>
          <p:cNvSpPr/>
          <p:nvPr/>
        </p:nvSpPr>
        <p:spPr>
          <a:xfrm>
            <a:off x="7192409" y="1581912"/>
            <a:ext cx="420624" cy="420624"/>
          </a:xfrm>
          <a:prstGeom prst="ellipse">
            <a:avLst/>
          </a:prstGeom>
          <a:solidFill>
            <a:srgbClr val="B5542D"/>
          </a:solidFill>
          <a:ln w="12700">
            <a:solidFill>
              <a:srgbClr val="B5542D"/>
            </a:solidFill>
            <a:prstDash val="solid"/>
          </a:ln>
        </p:spPr>
      </p:sp>
      <p:sp>
        <p:nvSpPr>
          <p:cNvPr id="26" name="Text 23"/>
          <p:cNvSpPr txBox="1"/>
          <p:nvPr/>
        </p:nvSpPr>
        <p:spPr>
          <a:xfrm>
            <a:off x="7192409"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4"/>
          <p:cNvSpPr txBox="1"/>
          <p:nvPr/>
        </p:nvSpPr>
        <p:spPr>
          <a:xfrm>
            <a:off x="7137545"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Intermédiaire</a:t>
            </a:r>
            <a:endParaRPr lang="en-US" sz="1300" dirty="0"/>
          </a:p>
        </p:txBody>
      </p:sp>
      <p:sp>
        <p:nvSpPr>
          <p:cNvPr id="28" name="arrow"/>
          <p:cNvSpPr/>
          <p:nvPr/>
        </p:nvSpPr>
        <p:spPr>
          <a:xfrm>
            <a:off x="8446443" y="1906524"/>
            <a:ext cx="219456" cy="256032"/>
          </a:xfrm>
          <a:prstGeom prst="rightArrow">
            <a:avLst/>
          </a:prstGeom>
          <a:solidFill>
            <a:srgbClr val="9AA5AC"/>
          </a:solidFill>
          <a:ln w="12700">
            <a:solidFill>
              <a:srgbClr val="9AA5AC"/>
            </a:solidFill>
            <a:prstDash val="solid"/>
          </a:ln>
        </p:spPr>
      </p:sp>
      <p:sp>
        <p:nvSpPr>
          <p:cNvPr id="29" name="step"/>
          <p:cNvSpPr/>
          <p:nvPr/>
        </p:nvSpPr>
        <p:spPr>
          <a:xfrm>
            <a:off x="8647611" y="1417320"/>
            <a:ext cx="1345474" cy="1234440"/>
          </a:xfrm>
          <a:prstGeom prst="roundRect">
            <a:avLst>
              <a:gd name="adj" fmla="val 5926"/>
            </a:avLst>
          </a:prstGeom>
          <a:solidFill>
            <a:srgbClr val="EEF2F3"/>
          </a:solidFill>
          <a:ln w="12700">
            <a:solidFill>
              <a:srgbClr val="EEF2F3"/>
            </a:solidFill>
            <a:prstDash val="solid"/>
          </a:ln>
        </p:spPr>
      </p:sp>
      <p:sp>
        <p:nvSpPr>
          <p:cNvPr id="30" name="step-num"/>
          <p:cNvSpPr/>
          <p:nvPr/>
        </p:nvSpPr>
        <p:spPr>
          <a:xfrm>
            <a:off x="8812203" y="1581912"/>
            <a:ext cx="420624" cy="420624"/>
          </a:xfrm>
          <a:prstGeom prst="ellipse">
            <a:avLst/>
          </a:prstGeom>
          <a:solidFill>
            <a:srgbClr val="B5542D"/>
          </a:solidFill>
          <a:ln w="12700">
            <a:solidFill>
              <a:srgbClr val="B5542D"/>
            </a:solidFill>
            <a:prstDash val="solid"/>
          </a:ln>
        </p:spPr>
      </p:sp>
      <p:sp>
        <p:nvSpPr>
          <p:cNvPr id="31" name="Text 28"/>
          <p:cNvSpPr txBox="1"/>
          <p:nvPr/>
        </p:nvSpPr>
        <p:spPr>
          <a:xfrm>
            <a:off x="8812203"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29"/>
          <p:cNvSpPr txBox="1"/>
          <p:nvPr/>
        </p:nvSpPr>
        <p:spPr>
          <a:xfrm>
            <a:off x="8757339"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Métal raffiné</a:t>
            </a:r>
            <a:endParaRPr lang="en-US" sz="1300" dirty="0"/>
          </a:p>
        </p:txBody>
      </p:sp>
      <p:sp>
        <p:nvSpPr>
          <p:cNvPr id="33" name="arrow"/>
          <p:cNvSpPr/>
          <p:nvPr/>
        </p:nvSpPr>
        <p:spPr>
          <a:xfrm>
            <a:off x="10066238" y="1906524"/>
            <a:ext cx="219456" cy="256032"/>
          </a:xfrm>
          <a:prstGeom prst="rightArrow">
            <a:avLst/>
          </a:prstGeom>
          <a:solidFill>
            <a:srgbClr val="9AA5AC"/>
          </a:solidFill>
          <a:ln w="12700">
            <a:solidFill>
              <a:srgbClr val="9AA5AC"/>
            </a:solidFill>
            <a:prstDash val="solid"/>
          </a:ln>
        </p:spPr>
      </p:sp>
      <p:sp>
        <p:nvSpPr>
          <p:cNvPr id="34" name="step"/>
          <p:cNvSpPr/>
          <p:nvPr/>
        </p:nvSpPr>
        <p:spPr>
          <a:xfrm>
            <a:off x="10267406" y="1417320"/>
            <a:ext cx="1345474" cy="1234440"/>
          </a:xfrm>
          <a:prstGeom prst="roundRect">
            <a:avLst>
              <a:gd name="adj" fmla="val 5926"/>
            </a:avLst>
          </a:prstGeom>
          <a:solidFill>
            <a:srgbClr val="EEF2F3"/>
          </a:solidFill>
          <a:ln w="12700">
            <a:solidFill>
              <a:srgbClr val="EEF2F3"/>
            </a:solidFill>
            <a:prstDash val="solid"/>
          </a:ln>
        </p:spPr>
      </p:sp>
      <p:sp>
        <p:nvSpPr>
          <p:cNvPr id="35" name="step-num"/>
          <p:cNvSpPr/>
          <p:nvPr/>
        </p:nvSpPr>
        <p:spPr>
          <a:xfrm>
            <a:off x="10431998" y="1581912"/>
            <a:ext cx="420624" cy="420624"/>
          </a:xfrm>
          <a:prstGeom prst="ellipse">
            <a:avLst/>
          </a:prstGeom>
          <a:solidFill>
            <a:srgbClr val="B5542D"/>
          </a:solidFill>
          <a:ln w="12700">
            <a:solidFill>
              <a:srgbClr val="B5542D"/>
            </a:solidFill>
            <a:prstDash val="solid"/>
          </a:ln>
        </p:spPr>
      </p:sp>
      <p:sp>
        <p:nvSpPr>
          <p:cNvPr id="36" name="Text 33"/>
          <p:cNvSpPr txBox="1"/>
          <p:nvPr/>
        </p:nvSpPr>
        <p:spPr>
          <a:xfrm>
            <a:off x="10431998"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7" name="Text 34"/>
          <p:cNvSpPr txBox="1"/>
          <p:nvPr/>
        </p:nvSpPr>
        <p:spPr>
          <a:xfrm>
            <a:off x="10377134" y="2057400"/>
            <a:ext cx="1126018" cy="457200"/>
          </a:xfrm>
          <a:prstGeom prst="rect">
            <a:avLst/>
          </a:prstGeom>
          <a:noFill/>
          <a:ln/>
        </p:spPr>
        <p:txBody>
          <a:bodyPr wrap="square" lIns="0" tIns="0" rIns="0" bIns="0" rtlCol="0" anchor="ctr"/>
          <a:lstStyle/>
          <a:p>
            <a:pPr indent="0" marL="0">
              <a:buNone/>
            </a:pPr>
            <a:r>
              <a:rPr lang="en-US" sz="1300" b="1" dirty="0">
                <a:solidFill>
                  <a:schemeClr val="tx2"/>
                </a:solidFill>
              </a:rPr>
              <a:t>Produit industriel</a:t>
            </a:r>
            <a:endParaRPr lang="en-US" sz="1300" dirty="0"/>
          </a:p>
        </p:txBody>
      </p:sp>
      <p:sp>
        <p:nvSpPr>
          <p:cNvPr id="38" name="card"/>
          <p:cNvSpPr/>
          <p:nvPr/>
        </p:nvSpPr>
        <p:spPr>
          <a:xfrm>
            <a:off x="548640" y="2971800"/>
            <a:ext cx="3505200" cy="3154680"/>
          </a:xfrm>
          <a:prstGeom prst="roundRect">
            <a:avLst>
              <a:gd name="adj" fmla="val 2319"/>
            </a:avLst>
          </a:prstGeom>
          <a:solidFill>
            <a:schemeClr val="bg2"/>
          </a:solidFill>
          <a:ln w="12700">
            <a:solidFill>
              <a:schemeClr val="bg2"/>
            </a:solidFill>
            <a:prstDash val="solid"/>
          </a:ln>
        </p:spPr>
      </p:sp>
      <p:sp>
        <p:nvSpPr>
          <p:cNvPr id="39" name="icon-circle"/>
          <p:cNvSpPr/>
          <p:nvPr/>
        </p:nvSpPr>
        <p:spPr>
          <a:xfrm>
            <a:off x="777240" y="3200400"/>
            <a:ext cx="548640" cy="548640"/>
          </a:xfrm>
          <a:prstGeom prst="ellipse">
            <a:avLst/>
          </a:prstGeom>
          <a:solidFill>
            <a:srgbClr val="B5542D"/>
          </a:solidFill>
          <a:ln w="12700">
            <a:solidFill>
              <a:srgbClr val="B5542D"/>
            </a:solidFill>
            <a:prstDash val="solid"/>
          </a:ln>
        </p:spPr>
      </p:sp>
      <p:pic>
        <p:nvPicPr>
          <p:cNvPr id="40" name="icon" descr="preencoded.png">    </p:cNvPr>
          <p:cNvPicPr>
            <a:picLocks noChangeAspect="1"/>
          </p:cNvPicPr>
          <p:nvPr/>
        </p:nvPicPr>
        <p:blipFill>
          <a:blip r:embed="rId1"/>
          <a:stretch>
            <a:fillRect/>
          </a:stretch>
        </p:blipFill>
        <p:spPr>
          <a:xfrm>
            <a:off x="897941" y="3321101"/>
            <a:ext cx="307238" cy="307238"/>
          </a:xfrm>
          <a:prstGeom prst="rect">
            <a:avLst/>
          </a:prstGeom>
        </p:spPr>
      </p:pic>
      <p:sp>
        <p:nvSpPr>
          <p:cNvPr id="41" name="Text 37"/>
          <p:cNvSpPr txBox="1"/>
          <p:nvPr/>
        </p:nvSpPr>
        <p:spPr>
          <a:xfrm>
            <a:off x="1463040" y="31546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Mine</a:t>
            </a:r>
            <a:endParaRPr lang="en-US" sz="1700" dirty="0"/>
          </a:p>
        </p:txBody>
      </p:sp>
      <p:sp>
        <p:nvSpPr>
          <p:cNvPr id="42" name="Text 38"/>
          <p:cNvSpPr txBox="1"/>
          <p:nvPr/>
        </p:nvSpPr>
        <p:spPr>
          <a:xfrm>
            <a:off x="777240" y="3886200"/>
            <a:ext cx="3048000" cy="2103120"/>
          </a:xfrm>
          <a:prstGeom prst="rect">
            <a:avLst/>
          </a:prstGeom>
          <a:noFill/>
          <a:ln/>
        </p:spPr>
        <p:txBody>
          <a:bodyPr wrap="square" lIns="0" tIns="0" rIns="0" bIns="0" rtlCol="0" anchor="t"/>
          <a:lstStyle/>
          <a:p>
            <a:pPr indent="0" marL="0">
              <a:buNone/>
            </a:pPr>
            <a:r>
              <a:rPr lang="en-US" sz="1400" dirty="0">
                <a:solidFill>
                  <a:schemeClr val="tx1"/>
                </a:solidFill>
              </a:rPr>
              <a:t>Extraction, concassage, tri : on vend du volume</a:t>
            </a:r>
            <a:endParaRPr lang="en-US" sz="1400" dirty="0"/>
          </a:p>
        </p:txBody>
      </p:sp>
      <p:sp>
        <p:nvSpPr>
          <p:cNvPr id="43" name="card"/>
          <p:cNvSpPr/>
          <p:nvPr/>
        </p:nvSpPr>
        <p:spPr>
          <a:xfrm>
            <a:off x="4328160" y="2971800"/>
            <a:ext cx="3505200" cy="3154680"/>
          </a:xfrm>
          <a:prstGeom prst="roundRect">
            <a:avLst>
              <a:gd name="adj" fmla="val 2319"/>
            </a:avLst>
          </a:prstGeom>
          <a:solidFill>
            <a:schemeClr val="bg2"/>
          </a:solidFill>
          <a:ln w="12700">
            <a:solidFill>
              <a:schemeClr val="bg2"/>
            </a:solidFill>
            <a:prstDash val="solid"/>
          </a:ln>
        </p:spPr>
      </p:sp>
      <p:sp>
        <p:nvSpPr>
          <p:cNvPr id="44" name="icon-circle"/>
          <p:cNvSpPr/>
          <p:nvPr/>
        </p:nvSpPr>
        <p:spPr>
          <a:xfrm>
            <a:off x="4556760" y="3200400"/>
            <a:ext cx="548640" cy="548640"/>
          </a:xfrm>
          <a:prstGeom prst="ellipse">
            <a:avLst/>
          </a:prstGeom>
          <a:solidFill>
            <a:srgbClr val="3E7C6B"/>
          </a:solidFill>
          <a:ln w="12700">
            <a:solidFill>
              <a:srgbClr val="3E7C6B"/>
            </a:solidFill>
            <a:prstDash val="solid"/>
          </a:ln>
        </p:spPr>
      </p:sp>
      <p:pic>
        <p:nvPicPr>
          <p:cNvPr id="45" name="icon" descr="preencoded.png">    </p:cNvPr>
          <p:cNvPicPr>
            <a:picLocks noChangeAspect="1"/>
          </p:cNvPicPr>
          <p:nvPr/>
        </p:nvPicPr>
        <p:blipFill>
          <a:blip r:embed="rId2"/>
          <a:stretch>
            <a:fillRect/>
          </a:stretch>
        </p:blipFill>
        <p:spPr>
          <a:xfrm>
            <a:off x="4677461" y="3321101"/>
            <a:ext cx="307238" cy="307238"/>
          </a:xfrm>
          <a:prstGeom prst="rect">
            <a:avLst/>
          </a:prstGeom>
        </p:spPr>
      </p:pic>
      <p:sp>
        <p:nvSpPr>
          <p:cNvPr id="46" name="Text 41"/>
          <p:cNvSpPr txBox="1"/>
          <p:nvPr/>
        </p:nvSpPr>
        <p:spPr>
          <a:xfrm>
            <a:off x="5242560" y="31546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Usine</a:t>
            </a:r>
            <a:endParaRPr lang="en-US" sz="1700" dirty="0"/>
          </a:p>
        </p:txBody>
      </p:sp>
      <p:sp>
        <p:nvSpPr>
          <p:cNvPr id="47" name="Text 42"/>
          <p:cNvSpPr txBox="1"/>
          <p:nvPr/>
        </p:nvSpPr>
        <p:spPr>
          <a:xfrm>
            <a:off x="4556760" y="3886200"/>
            <a:ext cx="3048000" cy="2103120"/>
          </a:xfrm>
          <a:prstGeom prst="rect">
            <a:avLst/>
          </a:prstGeom>
          <a:noFill/>
          <a:ln/>
        </p:spPr>
        <p:txBody>
          <a:bodyPr wrap="square" lIns="0" tIns="0" rIns="0" bIns="0" rtlCol="0" anchor="t"/>
          <a:lstStyle/>
          <a:p>
            <a:pPr indent="0" marL="0">
              <a:buNone/>
            </a:pPr>
            <a:r>
              <a:rPr lang="en-US" sz="1400" dirty="0">
                <a:solidFill>
                  <a:schemeClr val="tx1"/>
                </a:solidFill>
              </a:rPr>
              <a:t>Concentration, raffinage : on vend de la pureté</a:t>
            </a:r>
            <a:endParaRPr lang="en-US" sz="1400" dirty="0"/>
          </a:p>
        </p:txBody>
      </p:sp>
      <p:sp>
        <p:nvSpPr>
          <p:cNvPr id="48" name="card"/>
          <p:cNvSpPr/>
          <p:nvPr/>
        </p:nvSpPr>
        <p:spPr>
          <a:xfrm>
            <a:off x="8107680" y="2971800"/>
            <a:ext cx="3505200" cy="3154680"/>
          </a:xfrm>
          <a:prstGeom prst="roundRect">
            <a:avLst>
              <a:gd name="adj" fmla="val 2319"/>
            </a:avLst>
          </a:prstGeom>
          <a:solidFill>
            <a:schemeClr val="bg2"/>
          </a:solidFill>
          <a:ln w="12700">
            <a:solidFill>
              <a:schemeClr val="bg2"/>
            </a:solidFill>
            <a:prstDash val="solid"/>
          </a:ln>
        </p:spPr>
      </p:sp>
      <p:sp>
        <p:nvSpPr>
          <p:cNvPr id="49" name="icon-circle"/>
          <p:cNvSpPr/>
          <p:nvPr/>
        </p:nvSpPr>
        <p:spPr>
          <a:xfrm>
            <a:off x="8336280" y="3200400"/>
            <a:ext cx="548640" cy="548640"/>
          </a:xfrm>
          <a:prstGeom prst="ellipse">
            <a:avLst/>
          </a:prstGeom>
          <a:solidFill>
            <a:srgbClr val="3F6C9A"/>
          </a:solidFill>
          <a:ln w="12700">
            <a:solidFill>
              <a:srgbClr val="3F6C9A"/>
            </a:solidFill>
            <a:prstDash val="solid"/>
          </a:ln>
        </p:spPr>
      </p:sp>
      <p:pic>
        <p:nvPicPr>
          <p:cNvPr id="50" name="icon" descr="preencoded.png">    </p:cNvPr>
          <p:cNvPicPr>
            <a:picLocks noChangeAspect="1"/>
          </p:cNvPicPr>
          <p:nvPr/>
        </p:nvPicPr>
        <p:blipFill>
          <a:blip r:embed="rId3"/>
          <a:stretch>
            <a:fillRect/>
          </a:stretch>
        </p:blipFill>
        <p:spPr>
          <a:xfrm>
            <a:off x="8456981" y="3321101"/>
            <a:ext cx="307238" cy="307238"/>
          </a:xfrm>
          <a:prstGeom prst="rect">
            <a:avLst/>
          </a:prstGeom>
        </p:spPr>
      </p:pic>
      <p:sp>
        <p:nvSpPr>
          <p:cNvPr id="51" name="Text 45"/>
          <p:cNvSpPr txBox="1"/>
          <p:nvPr/>
        </p:nvSpPr>
        <p:spPr>
          <a:xfrm>
            <a:off x="9022080" y="31546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Industrie</a:t>
            </a:r>
            <a:endParaRPr lang="en-US" sz="1700" dirty="0"/>
          </a:p>
        </p:txBody>
      </p:sp>
      <p:sp>
        <p:nvSpPr>
          <p:cNvPr id="52" name="Text 46"/>
          <p:cNvSpPr txBox="1"/>
          <p:nvPr/>
        </p:nvSpPr>
        <p:spPr>
          <a:xfrm>
            <a:off x="8336280" y="3886200"/>
            <a:ext cx="3048000" cy="2103120"/>
          </a:xfrm>
          <a:prstGeom prst="rect">
            <a:avLst/>
          </a:prstGeom>
          <a:noFill/>
          <a:ln/>
        </p:spPr>
        <p:txBody>
          <a:bodyPr wrap="square" lIns="0" tIns="0" rIns="0" bIns="0" rtlCol="0" anchor="t"/>
          <a:lstStyle/>
          <a:p>
            <a:pPr indent="0" marL="0">
              <a:buNone/>
            </a:pPr>
            <a:r>
              <a:rPr lang="en-US" sz="1400" dirty="0">
                <a:solidFill>
                  <a:schemeClr val="tx1"/>
                </a:solidFill>
              </a:rPr>
              <a:t>Fabrication : on vend une fonction</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Le cuivre suit deux voies, selon le type de minerai</a:t>
            </a:r>
            <a:endParaRPr lang="en-US" sz="3000" dirty="0"/>
          </a:p>
        </p:txBody>
      </p:sp>
      <p:sp>
        <p:nvSpPr>
          <p:cNvPr id="4" name="Text 1"/>
          <p:cNvSpPr txBox="1"/>
          <p:nvPr/>
        </p:nvSpPr>
        <p:spPr>
          <a:xfrm>
            <a:off x="548640" y="137160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Sulfures</a:t>
            </a:r>
            <a:endParaRPr lang="en-US" sz="1800" dirty="0"/>
          </a:p>
        </p:txBody>
      </p:sp>
      <p:sp>
        <p:nvSpPr>
          <p:cNvPr id="5" name="step"/>
          <p:cNvSpPr/>
          <p:nvPr/>
        </p:nvSpPr>
        <p:spPr>
          <a:xfrm>
            <a:off x="548640" y="1783080"/>
            <a:ext cx="1539240" cy="1188720"/>
          </a:xfrm>
          <a:prstGeom prst="roundRect">
            <a:avLst>
              <a:gd name="adj" fmla="val 6154"/>
            </a:avLst>
          </a:prstGeom>
          <a:solidFill>
            <a:srgbClr val="EEF2F3"/>
          </a:solidFill>
          <a:ln w="12700">
            <a:solidFill>
              <a:srgbClr val="EEF2F3"/>
            </a:solidFill>
            <a:prstDash val="solid"/>
          </a:ln>
        </p:spPr>
      </p:sp>
      <p:sp>
        <p:nvSpPr>
          <p:cNvPr id="6" name="step-num"/>
          <p:cNvSpPr/>
          <p:nvPr/>
        </p:nvSpPr>
        <p:spPr>
          <a:xfrm>
            <a:off x="713232" y="1947672"/>
            <a:ext cx="420624" cy="420624"/>
          </a:xfrm>
          <a:prstGeom prst="ellipse">
            <a:avLst/>
          </a:prstGeom>
          <a:solidFill>
            <a:srgbClr val="B5542D"/>
          </a:solidFill>
          <a:ln w="12700">
            <a:solidFill>
              <a:srgbClr val="B5542D"/>
            </a:solidFill>
            <a:prstDash val="solid"/>
          </a:ln>
        </p:spPr>
      </p:sp>
      <p:sp>
        <p:nvSpPr>
          <p:cNvPr id="7" name="Text 4"/>
          <p:cNvSpPr txBox="1"/>
          <p:nvPr/>
        </p:nvSpPr>
        <p:spPr>
          <a:xfrm>
            <a:off x="713232"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658368" y="242316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Broyage</a:t>
            </a:r>
            <a:endParaRPr lang="en-US" sz="1400" dirty="0"/>
          </a:p>
        </p:txBody>
      </p:sp>
      <p:sp>
        <p:nvSpPr>
          <p:cNvPr id="9" name="arrow"/>
          <p:cNvSpPr/>
          <p:nvPr/>
        </p:nvSpPr>
        <p:spPr>
          <a:xfrm>
            <a:off x="2161032" y="2249424"/>
            <a:ext cx="219456" cy="256032"/>
          </a:xfrm>
          <a:prstGeom prst="rightArrow">
            <a:avLst/>
          </a:prstGeom>
          <a:solidFill>
            <a:srgbClr val="9AA5AC"/>
          </a:solidFill>
          <a:ln w="12700">
            <a:solidFill>
              <a:srgbClr val="9AA5AC"/>
            </a:solidFill>
            <a:prstDash val="solid"/>
          </a:ln>
        </p:spPr>
      </p:sp>
      <p:sp>
        <p:nvSpPr>
          <p:cNvPr id="10" name="step"/>
          <p:cNvSpPr/>
          <p:nvPr/>
        </p:nvSpPr>
        <p:spPr>
          <a:xfrm>
            <a:off x="2453640" y="1783080"/>
            <a:ext cx="1539240" cy="1188720"/>
          </a:xfrm>
          <a:prstGeom prst="roundRect">
            <a:avLst>
              <a:gd name="adj" fmla="val 6154"/>
            </a:avLst>
          </a:prstGeom>
          <a:solidFill>
            <a:srgbClr val="EEF2F3"/>
          </a:solidFill>
          <a:ln w="12700">
            <a:solidFill>
              <a:srgbClr val="EEF2F3"/>
            </a:solidFill>
            <a:prstDash val="solid"/>
          </a:ln>
        </p:spPr>
      </p:sp>
      <p:sp>
        <p:nvSpPr>
          <p:cNvPr id="11" name="step-num"/>
          <p:cNvSpPr/>
          <p:nvPr/>
        </p:nvSpPr>
        <p:spPr>
          <a:xfrm>
            <a:off x="2618232" y="1947672"/>
            <a:ext cx="420624" cy="420624"/>
          </a:xfrm>
          <a:prstGeom prst="ellipse">
            <a:avLst/>
          </a:prstGeom>
          <a:solidFill>
            <a:srgbClr val="B5542D"/>
          </a:solidFill>
          <a:ln w="12700">
            <a:solidFill>
              <a:srgbClr val="B5542D"/>
            </a:solidFill>
            <a:prstDash val="solid"/>
          </a:ln>
        </p:spPr>
      </p:sp>
      <p:sp>
        <p:nvSpPr>
          <p:cNvPr id="12" name="Text 9"/>
          <p:cNvSpPr txBox="1"/>
          <p:nvPr/>
        </p:nvSpPr>
        <p:spPr>
          <a:xfrm>
            <a:off x="2618232"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2563368" y="242316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Flottation</a:t>
            </a:r>
            <a:endParaRPr lang="en-US" sz="1400" dirty="0"/>
          </a:p>
        </p:txBody>
      </p:sp>
      <p:sp>
        <p:nvSpPr>
          <p:cNvPr id="14" name="arrow"/>
          <p:cNvSpPr/>
          <p:nvPr/>
        </p:nvSpPr>
        <p:spPr>
          <a:xfrm>
            <a:off x="4066032" y="2249424"/>
            <a:ext cx="219456" cy="256032"/>
          </a:xfrm>
          <a:prstGeom prst="rightArrow">
            <a:avLst/>
          </a:prstGeom>
          <a:solidFill>
            <a:srgbClr val="9AA5AC"/>
          </a:solidFill>
          <a:ln w="12700">
            <a:solidFill>
              <a:srgbClr val="9AA5AC"/>
            </a:solidFill>
            <a:prstDash val="solid"/>
          </a:ln>
        </p:spPr>
      </p:sp>
      <p:sp>
        <p:nvSpPr>
          <p:cNvPr id="15" name="step"/>
          <p:cNvSpPr/>
          <p:nvPr/>
        </p:nvSpPr>
        <p:spPr>
          <a:xfrm>
            <a:off x="4358640" y="1783080"/>
            <a:ext cx="1539240" cy="1188720"/>
          </a:xfrm>
          <a:prstGeom prst="roundRect">
            <a:avLst>
              <a:gd name="adj" fmla="val 6154"/>
            </a:avLst>
          </a:prstGeom>
          <a:solidFill>
            <a:srgbClr val="EEF2F3"/>
          </a:solidFill>
          <a:ln w="12700">
            <a:solidFill>
              <a:srgbClr val="EEF2F3"/>
            </a:solidFill>
            <a:prstDash val="solid"/>
          </a:ln>
        </p:spPr>
      </p:sp>
      <p:sp>
        <p:nvSpPr>
          <p:cNvPr id="16" name="step-num"/>
          <p:cNvSpPr/>
          <p:nvPr/>
        </p:nvSpPr>
        <p:spPr>
          <a:xfrm>
            <a:off x="4523232" y="1947672"/>
            <a:ext cx="420624" cy="420624"/>
          </a:xfrm>
          <a:prstGeom prst="ellipse">
            <a:avLst/>
          </a:prstGeom>
          <a:solidFill>
            <a:srgbClr val="B5542D"/>
          </a:solidFill>
          <a:ln w="12700">
            <a:solidFill>
              <a:srgbClr val="B5542D"/>
            </a:solidFill>
            <a:prstDash val="solid"/>
          </a:ln>
        </p:spPr>
      </p:sp>
      <p:sp>
        <p:nvSpPr>
          <p:cNvPr id="17" name="Text 14"/>
          <p:cNvSpPr txBox="1"/>
          <p:nvPr/>
        </p:nvSpPr>
        <p:spPr>
          <a:xfrm>
            <a:off x="4523232"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5"/>
          <p:cNvSpPr txBox="1"/>
          <p:nvPr/>
        </p:nvSpPr>
        <p:spPr>
          <a:xfrm>
            <a:off x="4468368" y="242316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Concentré</a:t>
            </a:r>
            <a:endParaRPr lang="en-US" sz="1400" dirty="0"/>
          </a:p>
        </p:txBody>
      </p:sp>
      <p:sp>
        <p:nvSpPr>
          <p:cNvPr id="19" name="arrow"/>
          <p:cNvSpPr/>
          <p:nvPr/>
        </p:nvSpPr>
        <p:spPr>
          <a:xfrm>
            <a:off x="5971032" y="2249424"/>
            <a:ext cx="219456" cy="256032"/>
          </a:xfrm>
          <a:prstGeom prst="rightArrow">
            <a:avLst/>
          </a:prstGeom>
          <a:solidFill>
            <a:srgbClr val="9AA5AC"/>
          </a:solidFill>
          <a:ln w="12700">
            <a:solidFill>
              <a:srgbClr val="9AA5AC"/>
            </a:solidFill>
            <a:prstDash val="solid"/>
          </a:ln>
        </p:spPr>
      </p:sp>
      <p:sp>
        <p:nvSpPr>
          <p:cNvPr id="20" name="step"/>
          <p:cNvSpPr/>
          <p:nvPr/>
        </p:nvSpPr>
        <p:spPr>
          <a:xfrm>
            <a:off x="6263640" y="1783080"/>
            <a:ext cx="1539240" cy="1188720"/>
          </a:xfrm>
          <a:prstGeom prst="roundRect">
            <a:avLst>
              <a:gd name="adj" fmla="val 6154"/>
            </a:avLst>
          </a:prstGeom>
          <a:solidFill>
            <a:srgbClr val="EEF2F3"/>
          </a:solidFill>
          <a:ln w="12700">
            <a:solidFill>
              <a:srgbClr val="EEF2F3"/>
            </a:solidFill>
            <a:prstDash val="solid"/>
          </a:ln>
        </p:spPr>
      </p:sp>
      <p:sp>
        <p:nvSpPr>
          <p:cNvPr id="21" name="step-num"/>
          <p:cNvSpPr/>
          <p:nvPr/>
        </p:nvSpPr>
        <p:spPr>
          <a:xfrm>
            <a:off x="6428232" y="1947672"/>
            <a:ext cx="420624" cy="420624"/>
          </a:xfrm>
          <a:prstGeom prst="ellipse">
            <a:avLst/>
          </a:prstGeom>
          <a:solidFill>
            <a:srgbClr val="B5542D"/>
          </a:solidFill>
          <a:ln w="12700">
            <a:solidFill>
              <a:srgbClr val="B5542D"/>
            </a:solidFill>
            <a:prstDash val="solid"/>
          </a:ln>
        </p:spPr>
      </p:sp>
      <p:sp>
        <p:nvSpPr>
          <p:cNvPr id="22" name="Text 19"/>
          <p:cNvSpPr txBox="1"/>
          <p:nvPr/>
        </p:nvSpPr>
        <p:spPr>
          <a:xfrm>
            <a:off x="6428232"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0"/>
          <p:cNvSpPr txBox="1"/>
          <p:nvPr/>
        </p:nvSpPr>
        <p:spPr>
          <a:xfrm>
            <a:off x="6373368" y="242316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Fusion</a:t>
            </a:r>
            <a:endParaRPr lang="en-US" sz="1400" dirty="0"/>
          </a:p>
        </p:txBody>
      </p:sp>
      <p:sp>
        <p:nvSpPr>
          <p:cNvPr id="24" name="arrow"/>
          <p:cNvSpPr/>
          <p:nvPr/>
        </p:nvSpPr>
        <p:spPr>
          <a:xfrm>
            <a:off x="7876032" y="2249424"/>
            <a:ext cx="219456" cy="256032"/>
          </a:xfrm>
          <a:prstGeom prst="rightArrow">
            <a:avLst/>
          </a:prstGeom>
          <a:solidFill>
            <a:srgbClr val="9AA5AC"/>
          </a:solidFill>
          <a:ln w="12700">
            <a:solidFill>
              <a:srgbClr val="9AA5AC"/>
            </a:solidFill>
            <a:prstDash val="solid"/>
          </a:ln>
        </p:spPr>
      </p:sp>
      <p:sp>
        <p:nvSpPr>
          <p:cNvPr id="25" name="step"/>
          <p:cNvSpPr/>
          <p:nvPr/>
        </p:nvSpPr>
        <p:spPr>
          <a:xfrm>
            <a:off x="8168640" y="1783080"/>
            <a:ext cx="1539240" cy="1188720"/>
          </a:xfrm>
          <a:prstGeom prst="roundRect">
            <a:avLst>
              <a:gd name="adj" fmla="val 6154"/>
            </a:avLst>
          </a:prstGeom>
          <a:solidFill>
            <a:srgbClr val="EEF2F3"/>
          </a:solidFill>
          <a:ln w="12700">
            <a:solidFill>
              <a:srgbClr val="EEF2F3"/>
            </a:solidFill>
            <a:prstDash val="solid"/>
          </a:ln>
        </p:spPr>
      </p:sp>
      <p:sp>
        <p:nvSpPr>
          <p:cNvPr id="26" name="step-num"/>
          <p:cNvSpPr/>
          <p:nvPr/>
        </p:nvSpPr>
        <p:spPr>
          <a:xfrm>
            <a:off x="8333232" y="1947672"/>
            <a:ext cx="420624" cy="420624"/>
          </a:xfrm>
          <a:prstGeom prst="ellipse">
            <a:avLst/>
          </a:prstGeom>
          <a:solidFill>
            <a:srgbClr val="B5542D"/>
          </a:solidFill>
          <a:ln w="12700">
            <a:solidFill>
              <a:srgbClr val="B5542D"/>
            </a:solidFill>
            <a:prstDash val="solid"/>
          </a:ln>
        </p:spPr>
      </p:sp>
      <p:sp>
        <p:nvSpPr>
          <p:cNvPr id="27" name="Text 24"/>
          <p:cNvSpPr txBox="1"/>
          <p:nvPr/>
        </p:nvSpPr>
        <p:spPr>
          <a:xfrm>
            <a:off x="8333232"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8" name="Text 25"/>
          <p:cNvSpPr txBox="1"/>
          <p:nvPr/>
        </p:nvSpPr>
        <p:spPr>
          <a:xfrm>
            <a:off x="8278368" y="242316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Matte, blister</a:t>
            </a:r>
            <a:endParaRPr lang="en-US" sz="1400" dirty="0"/>
          </a:p>
        </p:txBody>
      </p:sp>
      <p:sp>
        <p:nvSpPr>
          <p:cNvPr id="29" name="arrow"/>
          <p:cNvSpPr/>
          <p:nvPr/>
        </p:nvSpPr>
        <p:spPr>
          <a:xfrm>
            <a:off x="9781032" y="2249424"/>
            <a:ext cx="219456" cy="256032"/>
          </a:xfrm>
          <a:prstGeom prst="rightArrow">
            <a:avLst/>
          </a:prstGeom>
          <a:solidFill>
            <a:srgbClr val="9AA5AC"/>
          </a:solidFill>
          <a:ln w="12700">
            <a:solidFill>
              <a:srgbClr val="9AA5AC"/>
            </a:solidFill>
            <a:prstDash val="solid"/>
          </a:ln>
        </p:spPr>
      </p:sp>
      <p:sp>
        <p:nvSpPr>
          <p:cNvPr id="30" name="step"/>
          <p:cNvSpPr/>
          <p:nvPr/>
        </p:nvSpPr>
        <p:spPr>
          <a:xfrm>
            <a:off x="10073640" y="1783080"/>
            <a:ext cx="1539240" cy="1188720"/>
          </a:xfrm>
          <a:prstGeom prst="roundRect">
            <a:avLst>
              <a:gd name="adj" fmla="val 6154"/>
            </a:avLst>
          </a:prstGeom>
          <a:solidFill>
            <a:srgbClr val="EEF2F3"/>
          </a:solidFill>
          <a:ln w="12700">
            <a:solidFill>
              <a:srgbClr val="EEF2F3"/>
            </a:solidFill>
            <a:prstDash val="solid"/>
          </a:ln>
        </p:spPr>
      </p:sp>
      <p:sp>
        <p:nvSpPr>
          <p:cNvPr id="31" name="step-num"/>
          <p:cNvSpPr/>
          <p:nvPr/>
        </p:nvSpPr>
        <p:spPr>
          <a:xfrm>
            <a:off x="10238232" y="1947672"/>
            <a:ext cx="420624" cy="420624"/>
          </a:xfrm>
          <a:prstGeom prst="ellipse">
            <a:avLst/>
          </a:prstGeom>
          <a:solidFill>
            <a:srgbClr val="B5542D"/>
          </a:solidFill>
          <a:ln w="12700">
            <a:solidFill>
              <a:srgbClr val="B5542D"/>
            </a:solidFill>
            <a:prstDash val="solid"/>
          </a:ln>
        </p:spPr>
      </p:sp>
      <p:sp>
        <p:nvSpPr>
          <p:cNvPr id="32" name="Text 29"/>
          <p:cNvSpPr txBox="1"/>
          <p:nvPr/>
        </p:nvSpPr>
        <p:spPr>
          <a:xfrm>
            <a:off x="10238232"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3" name="Text 30"/>
          <p:cNvSpPr txBox="1"/>
          <p:nvPr/>
        </p:nvSpPr>
        <p:spPr>
          <a:xfrm>
            <a:off x="10183368" y="2423160"/>
            <a:ext cx="1319784" cy="457200"/>
          </a:xfrm>
          <a:prstGeom prst="rect">
            <a:avLst/>
          </a:prstGeom>
          <a:noFill/>
          <a:ln/>
        </p:spPr>
        <p:txBody>
          <a:bodyPr wrap="square" lIns="0" tIns="0" rIns="0" bIns="0" rtlCol="0" anchor="ctr"/>
          <a:lstStyle/>
          <a:p>
            <a:pPr indent="0" marL="0">
              <a:buNone/>
            </a:pPr>
            <a:r>
              <a:rPr lang="en-US" sz="1400" b="1" dirty="0">
                <a:solidFill>
                  <a:schemeClr val="tx2"/>
                </a:solidFill>
              </a:rPr>
              <a:t>Cathode</a:t>
            </a:r>
            <a:endParaRPr lang="en-US" sz="1400" dirty="0"/>
          </a:p>
        </p:txBody>
      </p:sp>
      <p:sp>
        <p:nvSpPr>
          <p:cNvPr id="34" name="Text 31"/>
          <p:cNvSpPr txBox="1"/>
          <p:nvPr/>
        </p:nvSpPr>
        <p:spPr>
          <a:xfrm>
            <a:off x="548640" y="320040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Oxydes</a:t>
            </a:r>
            <a:endParaRPr lang="en-US" sz="1800" dirty="0"/>
          </a:p>
        </p:txBody>
      </p:sp>
      <p:sp>
        <p:nvSpPr>
          <p:cNvPr id="35" name="step"/>
          <p:cNvSpPr/>
          <p:nvPr/>
        </p:nvSpPr>
        <p:spPr>
          <a:xfrm>
            <a:off x="548640" y="3611880"/>
            <a:ext cx="2491740" cy="868680"/>
          </a:xfrm>
          <a:prstGeom prst="roundRect">
            <a:avLst>
              <a:gd name="adj" fmla="val 8421"/>
            </a:avLst>
          </a:prstGeom>
          <a:solidFill>
            <a:srgbClr val="EEF2F3"/>
          </a:solidFill>
          <a:ln w="12700">
            <a:solidFill>
              <a:srgbClr val="EEF2F3"/>
            </a:solidFill>
            <a:prstDash val="solid"/>
          </a:ln>
        </p:spPr>
      </p:sp>
      <p:sp>
        <p:nvSpPr>
          <p:cNvPr id="36" name="step-num"/>
          <p:cNvSpPr/>
          <p:nvPr/>
        </p:nvSpPr>
        <p:spPr>
          <a:xfrm>
            <a:off x="713232" y="3776472"/>
            <a:ext cx="420624" cy="420624"/>
          </a:xfrm>
          <a:prstGeom prst="ellipse">
            <a:avLst/>
          </a:prstGeom>
          <a:solidFill>
            <a:srgbClr val="3E7C6B"/>
          </a:solidFill>
          <a:ln w="12700">
            <a:solidFill>
              <a:srgbClr val="3E7C6B"/>
            </a:solidFill>
            <a:prstDash val="solid"/>
          </a:ln>
        </p:spPr>
      </p:sp>
      <p:sp>
        <p:nvSpPr>
          <p:cNvPr id="37" name="Text 34"/>
          <p:cNvSpPr txBox="1"/>
          <p:nvPr/>
        </p:nvSpPr>
        <p:spPr>
          <a:xfrm>
            <a:off x="713232" y="3776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38" name="Text 35"/>
          <p:cNvSpPr txBox="1"/>
          <p:nvPr/>
        </p:nvSpPr>
        <p:spPr>
          <a:xfrm>
            <a:off x="1207008" y="3721608"/>
            <a:ext cx="1714500" cy="548640"/>
          </a:xfrm>
          <a:prstGeom prst="rect">
            <a:avLst/>
          </a:prstGeom>
          <a:noFill/>
          <a:ln/>
        </p:spPr>
        <p:txBody>
          <a:bodyPr wrap="square" lIns="0" tIns="0" rIns="0" bIns="0" rtlCol="0" anchor="ctr"/>
          <a:lstStyle/>
          <a:p>
            <a:pPr indent="0" marL="0">
              <a:buNone/>
            </a:pPr>
            <a:r>
              <a:rPr lang="en-US" sz="1400" b="1" dirty="0">
                <a:solidFill>
                  <a:schemeClr val="tx2"/>
                </a:solidFill>
              </a:rPr>
              <a:t>Lixiviation</a:t>
            </a:r>
            <a:endParaRPr lang="en-US" sz="1400" dirty="0"/>
          </a:p>
        </p:txBody>
      </p:sp>
      <p:sp>
        <p:nvSpPr>
          <p:cNvPr id="39" name="arrow"/>
          <p:cNvSpPr/>
          <p:nvPr/>
        </p:nvSpPr>
        <p:spPr>
          <a:xfrm>
            <a:off x="3113532" y="3918204"/>
            <a:ext cx="219456" cy="256032"/>
          </a:xfrm>
          <a:prstGeom prst="rightArrow">
            <a:avLst/>
          </a:prstGeom>
          <a:solidFill>
            <a:srgbClr val="9AA5AC"/>
          </a:solidFill>
          <a:ln w="12700">
            <a:solidFill>
              <a:srgbClr val="9AA5AC"/>
            </a:solidFill>
            <a:prstDash val="solid"/>
          </a:ln>
        </p:spPr>
      </p:sp>
      <p:sp>
        <p:nvSpPr>
          <p:cNvPr id="40" name="step"/>
          <p:cNvSpPr/>
          <p:nvPr/>
        </p:nvSpPr>
        <p:spPr>
          <a:xfrm>
            <a:off x="3406140" y="3611880"/>
            <a:ext cx="2491740" cy="868680"/>
          </a:xfrm>
          <a:prstGeom prst="roundRect">
            <a:avLst>
              <a:gd name="adj" fmla="val 8421"/>
            </a:avLst>
          </a:prstGeom>
          <a:solidFill>
            <a:srgbClr val="EEF2F3"/>
          </a:solidFill>
          <a:ln w="12700">
            <a:solidFill>
              <a:srgbClr val="EEF2F3"/>
            </a:solidFill>
            <a:prstDash val="solid"/>
          </a:ln>
        </p:spPr>
      </p:sp>
      <p:sp>
        <p:nvSpPr>
          <p:cNvPr id="41" name="step-num"/>
          <p:cNvSpPr/>
          <p:nvPr/>
        </p:nvSpPr>
        <p:spPr>
          <a:xfrm>
            <a:off x="3570732" y="3776472"/>
            <a:ext cx="420624" cy="420624"/>
          </a:xfrm>
          <a:prstGeom prst="ellipse">
            <a:avLst/>
          </a:prstGeom>
          <a:solidFill>
            <a:srgbClr val="3E7C6B"/>
          </a:solidFill>
          <a:ln w="12700">
            <a:solidFill>
              <a:srgbClr val="3E7C6B"/>
            </a:solidFill>
            <a:prstDash val="solid"/>
          </a:ln>
        </p:spPr>
      </p:sp>
      <p:sp>
        <p:nvSpPr>
          <p:cNvPr id="42" name="Text 39"/>
          <p:cNvSpPr txBox="1"/>
          <p:nvPr/>
        </p:nvSpPr>
        <p:spPr>
          <a:xfrm>
            <a:off x="3570732" y="3776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43" name="Text 40"/>
          <p:cNvSpPr txBox="1"/>
          <p:nvPr/>
        </p:nvSpPr>
        <p:spPr>
          <a:xfrm>
            <a:off x="4064508" y="3721608"/>
            <a:ext cx="1714500" cy="548640"/>
          </a:xfrm>
          <a:prstGeom prst="rect">
            <a:avLst/>
          </a:prstGeom>
          <a:noFill/>
          <a:ln/>
        </p:spPr>
        <p:txBody>
          <a:bodyPr wrap="square" lIns="0" tIns="0" rIns="0" bIns="0" rtlCol="0" anchor="ctr"/>
          <a:lstStyle/>
          <a:p>
            <a:pPr indent="0" marL="0">
              <a:buNone/>
            </a:pPr>
            <a:r>
              <a:rPr lang="en-US" sz="1400" b="1" dirty="0">
                <a:solidFill>
                  <a:schemeClr val="tx2"/>
                </a:solidFill>
              </a:rPr>
              <a:t>Extraction par solvant</a:t>
            </a:r>
            <a:endParaRPr lang="en-US" sz="1400" dirty="0"/>
          </a:p>
        </p:txBody>
      </p:sp>
      <p:sp>
        <p:nvSpPr>
          <p:cNvPr id="44" name="arrow"/>
          <p:cNvSpPr/>
          <p:nvPr/>
        </p:nvSpPr>
        <p:spPr>
          <a:xfrm>
            <a:off x="5971032" y="3918204"/>
            <a:ext cx="219456" cy="256032"/>
          </a:xfrm>
          <a:prstGeom prst="rightArrow">
            <a:avLst/>
          </a:prstGeom>
          <a:solidFill>
            <a:srgbClr val="9AA5AC"/>
          </a:solidFill>
          <a:ln w="12700">
            <a:solidFill>
              <a:srgbClr val="9AA5AC"/>
            </a:solidFill>
            <a:prstDash val="solid"/>
          </a:ln>
        </p:spPr>
      </p:sp>
      <p:sp>
        <p:nvSpPr>
          <p:cNvPr id="45" name="step"/>
          <p:cNvSpPr/>
          <p:nvPr/>
        </p:nvSpPr>
        <p:spPr>
          <a:xfrm>
            <a:off x="6263640" y="3611880"/>
            <a:ext cx="2491740" cy="868680"/>
          </a:xfrm>
          <a:prstGeom prst="roundRect">
            <a:avLst>
              <a:gd name="adj" fmla="val 8421"/>
            </a:avLst>
          </a:prstGeom>
          <a:solidFill>
            <a:srgbClr val="EEF2F3"/>
          </a:solidFill>
          <a:ln w="12700">
            <a:solidFill>
              <a:srgbClr val="EEF2F3"/>
            </a:solidFill>
            <a:prstDash val="solid"/>
          </a:ln>
        </p:spPr>
      </p:sp>
      <p:sp>
        <p:nvSpPr>
          <p:cNvPr id="46" name="step-num"/>
          <p:cNvSpPr/>
          <p:nvPr/>
        </p:nvSpPr>
        <p:spPr>
          <a:xfrm>
            <a:off x="6428232" y="3776472"/>
            <a:ext cx="420624" cy="420624"/>
          </a:xfrm>
          <a:prstGeom prst="ellipse">
            <a:avLst/>
          </a:prstGeom>
          <a:solidFill>
            <a:srgbClr val="3E7C6B"/>
          </a:solidFill>
          <a:ln w="12700">
            <a:solidFill>
              <a:srgbClr val="3E7C6B"/>
            </a:solidFill>
            <a:prstDash val="solid"/>
          </a:ln>
        </p:spPr>
      </p:sp>
      <p:sp>
        <p:nvSpPr>
          <p:cNvPr id="47" name="Text 44"/>
          <p:cNvSpPr txBox="1"/>
          <p:nvPr/>
        </p:nvSpPr>
        <p:spPr>
          <a:xfrm>
            <a:off x="6428232" y="3776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48" name="Text 45"/>
          <p:cNvSpPr txBox="1"/>
          <p:nvPr/>
        </p:nvSpPr>
        <p:spPr>
          <a:xfrm>
            <a:off x="6922008" y="3721608"/>
            <a:ext cx="1714500" cy="548640"/>
          </a:xfrm>
          <a:prstGeom prst="rect">
            <a:avLst/>
          </a:prstGeom>
          <a:noFill/>
          <a:ln/>
        </p:spPr>
        <p:txBody>
          <a:bodyPr wrap="square" lIns="0" tIns="0" rIns="0" bIns="0" rtlCol="0" anchor="ctr"/>
          <a:lstStyle/>
          <a:p>
            <a:pPr indent="0" marL="0">
              <a:buNone/>
            </a:pPr>
            <a:r>
              <a:rPr lang="en-US" sz="1400" b="1" dirty="0">
                <a:solidFill>
                  <a:schemeClr val="tx2"/>
                </a:solidFill>
              </a:rPr>
              <a:t>Électro-extraction</a:t>
            </a:r>
            <a:endParaRPr lang="en-US" sz="1400" dirty="0"/>
          </a:p>
        </p:txBody>
      </p:sp>
      <p:sp>
        <p:nvSpPr>
          <p:cNvPr id="49" name="arrow"/>
          <p:cNvSpPr/>
          <p:nvPr/>
        </p:nvSpPr>
        <p:spPr>
          <a:xfrm>
            <a:off x="8828532" y="3918204"/>
            <a:ext cx="219456" cy="256032"/>
          </a:xfrm>
          <a:prstGeom prst="rightArrow">
            <a:avLst/>
          </a:prstGeom>
          <a:solidFill>
            <a:srgbClr val="9AA5AC"/>
          </a:solidFill>
          <a:ln w="12700">
            <a:solidFill>
              <a:srgbClr val="9AA5AC"/>
            </a:solidFill>
            <a:prstDash val="solid"/>
          </a:ln>
        </p:spPr>
      </p:sp>
      <p:sp>
        <p:nvSpPr>
          <p:cNvPr id="50" name="step"/>
          <p:cNvSpPr/>
          <p:nvPr/>
        </p:nvSpPr>
        <p:spPr>
          <a:xfrm>
            <a:off x="9121140" y="3611880"/>
            <a:ext cx="2491740" cy="868680"/>
          </a:xfrm>
          <a:prstGeom prst="roundRect">
            <a:avLst>
              <a:gd name="adj" fmla="val 8421"/>
            </a:avLst>
          </a:prstGeom>
          <a:solidFill>
            <a:srgbClr val="EEF2F3"/>
          </a:solidFill>
          <a:ln w="12700">
            <a:solidFill>
              <a:srgbClr val="EEF2F3"/>
            </a:solidFill>
            <a:prstDash val="solid"/>
          </a:ln>
        </p:spPr>
      </p:sp>
      <p:sp>
        <p:nvSpPr>
          <p:cNvPr id="51" name="step-num"/>
          <p:cNvSpPr/>
          <p:nvPr/>
        </p:nvSpPr>
        <p:spPr>
          <a:xfrm>
            <a:off x="9285732" y="3776472"/>
            <a:ext cx="420624" cy="420624"/>
          </a:xfrm>
          <a:prstGeom prst="ellipse">
            <a:avLst/>
          </a:prstGeom>
          <a:solidFill>
            <a:srgbClr val="3E7C6B"/>
          </a:solidFill>
          <a:ln w="12700">
            <a:solidFill>
              <a:srgbClr val="3E7C6B"/>
            </a:solidFill>
            <a:prstDash val="solid"/>
          </a:ln>
        </p:spPr>
      </p:sp>
      <p:sp>
        <p:nvSpPr>
          <p:cNvPr id="52" name="Text 49"/>
          <p:cNvSpPr txBox="1"/>
          <p:nvPr/>
        </p:nvSpPr>
        <p:spPr>
          <a:xfrm>
            <a:off x="9285732" y="3776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53" name="Text 50"/>
          <p:cNvSpPr txBox="1"/>
          <p:nvPr/>
        </p:nvSpPr>
        <p:spPr>
          <a:xfrm>
            <a:off x="9779508" y="3721608"/>
            <a:ext cx="1714500" cy="548640"/>
          </a:xfrm>
          <a:prstGeom prst="rect">
            <a:avLst/>
          </a:prstGeom>
          <a:noFill/>
          <a:ln/>
        </p:spPr>
        <p:txBody>
          <a:bodyPr wrap="square" lIns="0" tIns="0" rIns="0" bIns="0" rtlCol="0" anchor="ctr"/>
          <a:lstStyle/>
          <a:p>
            <a:pPr indent="0" marL="0">
              <a:buNone/>
            </a:pPr>
            <a:r>
              <a:rPr lang="en-US" sz="1400" b="1" dirty="0">
                <a:solidFill>
                  <a:schemeClr val="tx2"/>
                </a:solidFill>
              </a:rPr>
              <a:t>Cathode</a:t>
            </a:r>
            <a:endParaRPr lang="en-US" sz="1400" dirty="0"/>
          </a:p>
        </p:txBody>
      </p:sp>
      <p:sp>
        <p:nvSpPr>
          <p:cNvPr id="54" name="callout"/>
          <p:cNvSpPr/>
          <p:nvPr/>
        </p:nvSpPr>
        <p:spPr>
          <a:xfrm>
            <a:off x="548640" y="4937760"/>
            <a:ext cx="11064240" cy="731520"/>
          </a:xfrm>
          <a:prstGeom prst="roundRect">
            <a:avLst>
              <a:gd name="adj" fmla="val 10000"/>
            </a:avLst>
          </a:prstGeom>
          <a:solidFill>
            <a:srgbClr val="3F6C9A">
              <a:alpha val="15000"/>
            </a:srgbClr>
          </a:solidFill>
          <a:ln w="12700">
            <a:solidFill>
              <a:srgbClr val="3F6C9A"/>
            </a:solidFill>
            <a:prstDash val="solid"/>
          </a:ln>
        </p:spPr>
      </p:sp>
      <p:sp>
        <p:nvSpPr>
          <p:cNvPr id="55" name="icon-circle"/>
          <p:cNvSpPr/>
          <p:nvPr/>
        </p:nvSpPr>
        <p:spPr>
          <a:xfrm>
            <a:off x="685800" y="5102352"/>
            <a:ext cx="402336" cy="402336"/>
          </a:xfrm>
          <a:prstGeom prst="ellipse">
            <a:avLst/>
          </a:prstGeom>
          <a:solidFill>
            <a:srgbClr val="3F6C9A"/>
          </a:solidFill>
          <a:ln w="12700">
            <a:solidFill>
              <a:srgbClr val="3F6C9A"/>
            </a:solidFill>
            <a:prstDash val="solid"/>
          </a:ln>
        </p:spPr>
      </p:sp>
      <p:pic>
        <p:nvPicPr>
          <p:cNvPr id="56" name="icon" descr="preencoded.png">    </p:cNvPr>
          <p:cNvPicPr>
            <a:picLocks noChangeAspect="1"/>
          </p:cNvPicPr>
          <p:nvPr/>
        </p:nvPicPr>
        <p:blipFill>
          <a:blip r:embed="rId1"/>
          <a:stretch>
            <a:fillRect/>
          </a:stretch>
        </p:blipFill>
        <p:spPr>
          <a:xfrm>
            <a:off x="774314" y="5190866"/>
            <a:ext cx="225308" cy="225308"/>
          </a:xfrm>
          <a:prstGeom prst="rect">
            <a:avLst/>
          </a:prstGeom>
        </p:spPr>
      </p:pic>
      <p:sp>
        <p:nvSpPr>
          <p:cNvPr id="57" name="Text 53"/>
          <p:cNvSpPr txBox="1"/>
          <p:nvPr/>
        </p:nvSpPr>
        <p:spPr>
          <a:xfrm>
            <a:off x="1234440" y="4937760"/>
            <a:ext cx="10195560" cy="731520"/>
          </a:xfrm>
          <a:prstGeom prst="rect">
            <a:avLst/>
          </a:prstGeom>
          <a:noFill/>
          <a:ln/>
        </p:spPr>
        <p:txBody>
          <a:bodyPr wrap="square" lIns="0" tIns="0" rIns="0" bIns="0" rtlCol="0" anchor="ctr"/>
          <a:lstStyle/>
          <a:p>
            <a:pPr indent="0" marL="0">
              <a:buNone/>
            </a:pPr>
            <a:r>
              <a:rPr lang="en-US" sz="1500" dirty="0">
                <a:solidFill>
                  <a:schemeClr val="tx2"/>
                </a:solidFill>
              </a:rPr>
              <a:t>Ensuite : cathode → fil machine → câbles, transformateurs, moteurs, équipements électriques.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Chaînes de valeur : métaux de base et précieux</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2377440"/>
                <a:gridCol w="2834640"/>
                <a:gridCol w="2560320"/>
                <a:gridCol w="1828800"/>
              </a:tblGrid>
              <a:tr h="7772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Substance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Minerai</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Intermédiaire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Produit final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Repère de prix</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Cuivre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Sulfures ou oxydes de Cu</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Concentré, ou cathode SX-EW</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Cathode, fil, câbles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LME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Cobalt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Minerai Cu-Co</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Hydroxyde de cobalt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Sulfate de cobalt, batteries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Agences spécialisées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Or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Minerai aurifère, alluvions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Doré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Lingots affinés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Prix LBMA</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Fer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Hématite, magnétite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Fines, morceaux, concentré, boulettes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DRI/HBI, fonte, acier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Indice 62 % Fe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Bauxite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Bauxite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Alumine (procédé Bayer)</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Aluminium (Hall-Héroult)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LME (aluminium)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Chaînes de valeur : minéraux de la transition et engrais</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2194560"/>
                <a:gridCol w="2834640"/>
                <a:gridCol w="2743200"/>
                <a:gridCol w="1828800"/>
              </a:tblGrid>
              <a:tr h="7772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Substance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Minerai</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Intermédiaire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Produit final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Repère de prix</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Manganèse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Minerai de Mn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Ferromanganèse, silicomanganèse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Acier ; sulfate pour batteries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Indices spécialisés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Lithium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Spodumène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Concentré de spodumène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Carbonate ou hydroxyde de lithium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Indices spécialisés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Graphite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Graphite naturel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Concentré en paillettes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Graphite sphérique purifié (anodes)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Gré à gré</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Phosphate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Roche phosphatée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Acide phosphorique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Engrais (DAP, MAP, TSP)</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Indices spécialisés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777240">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Potasse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Sylvinite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Chlorure de potassium</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Engrais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Indices spécialisés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Un concentré n'est pas payé au prix du métal</a:t>
            </a:r>
            <a:endParaRPr lang="en-US" sz="3000" dirty="0"/>
          </a:p>
        </p:txBody>
      </p:sp>
      <p:sp>
        <p:nvSpPr>
          <p:cNvPr id="4" name="formula-box"/>
          <p:cNvSpPr/>
          <p:nvPr/>
        </p:nvSpPr>
        <p:spPr>
          <a:xfrm>
            <a:off x="548640" y="1417320"/>
            <a:ext cx="11064240" cy="1188720"/>
          </a:xfrm>
          <a:prstGeom prst="roundRect">
            <a:avLst>
              <a:gd name="adj" fmla="val 6154"/>
            </a:avLst>
          </a:prstGeom>
          <a:solidFill>
            <a:schemeClr val="bg2"/>
          </a:solidFill>
          <a:ln w="12700">
            <a:solidFill>
              <a:schemeClr val="bg2"/>
            </a:solidFill>
            <a:prstDash val="solid"/>
          </a:ln>
        </p:spPr>
      </p:sp>
      <p:sp>
        <p:nvSpPr>
          <p:cNvPr id="5" name="Text 2"/>
          <p:cNvSpPr txBox="1"/>
          <p:nvPr/>
        </p:nvSpPr>
        <p:spPr>
          <a:xfrm>
            <a:off x="548640" y="1417320"/>
            <a:ext cx="11064240" cy="11887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V = M × t × p × P − (TC + RC + pénalités + transport)</a:t>
            </a:r>
            <a:endParaRPr lang="en-US" sz="2600" dirty="0"/>
          </a:p>
        </p:txBody>
      </p:sp>
      <p:sp>
        <p:nvSpPr>
          <p:cNvPr id="6" name="card"/>
          <p:cNvSpPr/>
          <p:nvPr/>
        </p:nvSpPr>
        <p:spPr>
          <a:xfrm>
            <a:off x="548640" y="2880360"/>
            <a:ext cx="2560320" cy="1920240"/>
          </a:xfrm>
          <a:prstGeom prst="roundRect">
            <a:avLst>
              <a:gd name="adj" fmla="val 3810"/>
            </a:avLst>
          </a:prstGeom>
          <a:solidFill>
            <a:schemeClr val="bg2"/>
          </a:solidFill>
          <a:ln w="12700">
            <a:solidFill>
              <a:schemeClr val="bg2"/>
            </a:solidFill>
            <a:prstDash val="solid"/>
          </a:ln>
        </p:spPr>
      </p:sp>
      <p:sp>
        <p:nvSpPr>
          <p:cNvPr id="7" name="icon-circle"/>
          <p:cNvSpPr/>
          <p:nvPr/>
        </p:nvSpPr>
        <p:spPr>
          <a:xfrm>
            <a:off x="777240" y="3108960"/>
            <a:ext cx="548640" cy="548640"/>
          </a:xfrm>
          <a:prstGeom prst="ellipse">
            <a:avLst/>
          </a:prstGeom>
          <a:solidFill>
            <a:srgbClr val="B5542D"/>
          </a:solidFill>
          <a:ln w="12700">
            <a:solidFill>
              <a:srgbClr val="B5542D"/>
            </a:solidFill>
            <a:prstDash val="solid"/>
          </a:ln>
        </p:spPr>
      </p:sp>
      <p:pic>
        <p:nvPicPr>
          <p:cNvPr id="8" name="icon" descr="preencoded.png">    </p:cNvPr>
          <p:cNvPicPr>
            <a:picLocks noChangeAspect="1"/>
          </p:cNvPicPr>
          <p:nvPr/>
        </p:nvPicPr>
        <p:blipFill>
          <a:blip r:embed="rId1"/>
          <a:stretch>
            <a:fillRect/>
          </a:stretch>
        </p:blipFill>
        <p:spPr>
          <a:xfrm>
            <a:off x="897941" y="3229661"/>
            <a:ext cx="307238" cy="307238"/>
          </a:xfrm>
          <a:prstGeom prst="rect">
            <a:avLst/>
          </a:prstGeom>
        </p:spPr>
      </p:pic>
      <p:sp>
        <p:nvSpPr>
          <p:cNvPr id="9" name="Text 5"/>
          <p:cNvSpPr txBox="1"/>
          <p:nvPr/>
        </p:nvSpPr>
        <p:spPr>
          <a:xfrm>
            <a:off x="1463040" y="306324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M</a:t>
            </a:r>
            <a:endParaRPr lang="en-US" sz="1700" dirty="0"/>
          </a:p>
        </p:txBody>
      </p:sp>
      <p:sp>
        <p:nvSpPr>
          <p:cNvPr id="10" name="Text 6"/>
          <p:cNvSpPr txBox="1"/>
          <p:nvPr/>
        </p:nvSpPr>
        <p:spPr>
          <a:xfrm>
            <a:off x="777240" y="3794760"/>
            <a:ext cx="2103120" cy="868680"/>
          </a:xfrm>
          <a:prstGeom prst="rect">
            <a:avLst/>
          </a:prstGeom>
          <a:noFill/>
          <a:ln/>
        </p:spPr>
        <p:txBody>
          <a:bodyPr wrap="square" lIns="0" tIns="0" rIns="0" bIns="0" rtlCol="0" anchor="t"/>
          <a:lstStyle/>
          <a:p>
            <a:pPr indent="0" marL="0">
              <a:buNone/>
            </a:pPr>
            <a:r>
              <a:rPr lang="en-US" sz="1400" dirty="0">
                <a:solidFill>
                  <a:schemeClr val="tx1"/>
                </a:solidFill>
              </a:rPr>
              <a:t>Masse de concentré (tonnes sèches)</a:t>
            </a:r>
            <a:endParaRPr lang="en-US" sz="1400" dirty="0"/>
          </a:p>
        </p:txBody>
      </p:sp>
      <p:sp>
        <p:nvSpPr>
          <p:cNvPr id="11" name="card"/>
          <p:cNvSpPr/>
          <p:nvPr/>
        </p:nvSpPr>
        <p:spPr>
          <a:xfrm>
            <a:off x="3383280" y="2880360"/>
            <a:ext cx="2560320" cy="1920240"/>
          </a:xfrm>
          <a:prstGeom prst="roundRect">
            <a:avLst>
              <a:gd name="adj" fmla="val 3810"/>
            </a:avLst>
          </a:prstGeom>
          <a:solidFill>
            <a:schemeClr val="bg2"/>
          </a:solidFill>
          <a:ln w="12700">
            <a:solidFill>
              <a:schemeClr val="bg2"/>
            </a:solidFill>
            <a:prstDash val="solid"/>
          </a:ln>
        </p:spPr>
      </p:sp>
      <p:sp>
        <p:nvSpPr>
          <p:cNvPr id="12" name="icon-circle"/>
          <p:cNvSpPr/>
          <p:nvPr/>
        </p:nvSpPr>
        <p:spPr>
          <a:xfrm>
            <a:off x="3611880" y="3108960"/>
            <a:ext cx="548640" cy="548640"/>
          </a:xfrm>
          <a:prstGeom prst="ellipse">
            <a:avLst/>
          </a:prstGeom>
          <a:solidFill>
            <a:srgbClr val="3E7C6B"/>
          </a:solidFill>
          <a:ln w="12700">
            <a:solidFill>
              <a:srgbClr val="3E7C6B"/>
            </a:solidFill>
            <a:prstDash val="solid"/>
          </a:ln>
        </p:spPr>
      </p:sp>
      <p:pic>
        <p:nvPicPr>
          <p:cNvPr id="13" name="icon" descr="preencoded.png">    </p:cNvPr>
          <p:cNvPicPr>
            <a:picLocks noChangeAspect="1"/>
          </p:cNvPicPr>
          <p:nvPr/>
        </p:nvPicPr>
        <p:blipFill>
          <a:blip r:embed="rId2"/>
          <a:stretch>
            <a:fillRect/>
          </a:stretch>
        </p:blipFill>
        <p:spPr>
          <a:xfrm>
            <a:off x="3732581" y="3229661"/>
            <a:ext cx="307238" cy="307238"/>
          </a:xfrm>
          <a:prstGeom prst="rect">
            <a:avLst/>
          </a:prstGeom>
        </p:spPr>
      </p:pic>
      <p:sp>
        <p:nvSpPr>
          <p:cNvPr id="14" name="Text 9"/>
          <p:cNvSpPr txBox="1"/>
          <p:nvPr/>
        </p:nvSpPr>
        <p:spPr>
          <a:xfrm>
            <a:off x="4297680" y="306324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t</a:t>
            </a:r>
            <a:endParaRPr lang="en-US" sz="1700" dirty="0"/>
          </a:p>
        </p:txBody>
      </p:sp>
      <p:sp>
        <p:nvSpPr>
          <p:cNvPr id="15" name="Text 10"/>
          <p:cNvSpPr txBox="1"/>
          <p:nvPr/>
        </p:nvSpPr>
        <p:spPr>
          <a:xfrm>
            <a:off x="3611880" y="3794760"/>
            <a:ext cx="2103120" cy="868680"/>
          </a:xfrm>
          <a:prstGeom prst="rect">
            <a:avLst/>
          </a:prstGeom>
          <a:noFill/>
          <a:ln/>
        </p:spPr>
        <p:txBody>
          <a:bodyPr wrap="square" lIns="0" tIns="0" rIns="0" bIns="0" rtlCol="0" anchor="t"/>
          <a:lstStyle/>
          <a:p>
            <a:pPr indent="0" marL="0">
              <a:buNone/>
            </a:pPr>
            <a:r>
              <a:rPr lang="en-US" sz="1400" dirty="0">
                <a:solidFill>
                  <a:schemeClr val="tx1"/>
                </a:solidFill>
              </a:rPr>
              <a:t>Teneur en métal du concentré</a:t>
            </a:r>
            <a:endParaRPr lang="en-US" sz="1400" dirty="0"/>
          </a:p>
        </p:txBody>
      </p:sp>
      <p:sp>
        <p:nvSpPr>
          <p:cNvPr id="16" name="card"/>
          <p:cNvSpPr/>
          <p:nvPr/>
        </p:nvSpPr>
        <p:spPr>
          <a:xfrm>
            <a:off x="6217920" y="2880360"/>
            <a:ext cx="2560320" cy="1920240"/>
          </a:xfrm>
          <a:prstGeom prst="roundRect">
            <a:avLst>
              <a:gd name="adj" fmla="val 3810"/>
            </a:avLst>
          </a:prstGeom>
          <a:solidFill>
            <a:schemeClr val="bg2"/>
          </a:solidFill>
          <a:ln w="12700">
            <a:solidFill>
              <a:schemeClr val="bg2"/>
            </a:solidFill>
            <a:prstDash val="solid"/>
          </a:ln>
        </p:spPr>
      </p:sp>
      <p:sp>
        <p:nvSpPr>
          <p:cNvPr id="17" name="icon-circle"/>
          <p:cNvSpPr/>
          <p:nvPr/>
        </p:nvSpPr>
        <p:spPr>
          <a:xfrm>
            <a:off x="6446520" y="3108960"/>
            <a:ext cx="548640" cy="548640"/>
          </a:xfrm>
          <a:prstGeom prst="ellipse">
            <a:avLst/>
          </a:prstGeom>
          <a:solidFill>
            <a:srgbClr val="3F6C9A"/>
          </a:solidFill>
          <a:ln w="12700">
            <a:solidFill>
              <a:srgbClr val="3F6C9A"/>
            </a:solidFill>
            <a:prstDash val="solid"/>
          </a:ln>
        </p:spPr>
      </p:sp>
      <p:pic>
        <p:nvPicPr>
          <p:cNvPr id="18" name="icon" descr="preencoded.png">    </p:cNvPr>
          <p:cNvPicPr>
            <a:picLocks noChangeAspect="1"/>
          </p:cNvPicPr>
          <p:nvPr/>
        </p:nvPicPr>
        <p:blipFill>
          <a:blip r:embed="rId3"/>
          <a:stretch>
            <a:fillRect/>
          </a:stretch>
        </p:blipFill>
        <p:spPr>
          <a:xfrm>
            <a:off x="6567221" y="3229661"/>
            <a:ext cx="307238" cy="307238"/>
          </a:xfrm>
          <a:prstGeom prst="rect">
            <a:avLst/>
          </a:prstGeom>
        </p:spPr>
      </p:pic>
      <p:sp>
        <p:nvSpPr>
          <p:cNvPr id="19" name="Text 13"/>
          <p:cNvSpPr txBox="1"/>
          <p:nvPr/>
        </p:nvSpPr>
        <p:spPr>
          <a:xfrm>
            <a:off x="7132320" y="306324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p</a:t>
            </a:r>
            <a:endParaRPr lang="en-US" sz="1700" dirty="0"/>
          </a:p>
        </p:txBody>
      </p:sp>
      <p:sp>
        <p:nvSpPr>
          <p:cNvPr id="20" name="Text 14"/>
          <p:cNvSpPr txBox="1"/>
          <p:nvPr/>
        </p:nvSpPr>
        <p:spPr>
          <a:xfrm>
            <a:off x="6446520" y="3794760"/>
            <a:ext cx="2103120" cy="868680"/>
          </a:xfrm>
          <a:prstGeom prst="rect">
            <a:avLst/>
          </a:prstGeom>
          <a:noFill/>
          <a:ln/>
        </p:spPr>
        <p:txBody>
          <a:bodyPr wrap="square" lIns="0" tIns="0" rIns="0" bIns="0" rtlCol="0" anchor="t"/>
          <a:lstStyle/>
          <a:p>
            <a:pPr indent="0" marL="0">
              <a:buNone/>
            </a:pPr>
            <a:r>
              <a:rPr lang="en-US" sz="1400" dirty="0">
                <a:solidFill>
                  <a:schemeClr val="tx1"/>
                </a:solidFill>
              </a:rPr>
              <a:t>Part payable fixée au contrat</a:t>
            </a:r>
            <a:endParaRPr lang="en-US" sz="1400" dirty="0"/>
          </a:p>
        </p:txBody>
      </p:sp>
      <p:sp>
        <p:nvSpPr>
          <p:cNvPr id="21" name="card"/>
          <p:cNvSpPr/>
          <p:nvPr/>
        </p:nvSpPr>
        <p:spPr>
          <a:xfrm>
            <a:off x="9052560" y="2880360"/>
            <a:ext cx="2560320" cy="1920240"/>
          </a:xfrm>
          <a:prstGeom prst="roundRect">
            <a:avLst>
              <a:gd name="adj" fmla="val 3810"/>
            </a:avLst>
          </a:prstGeom>
          <a:solidFill>
            <a:schemeClr val="bg2"/>
          </a:solidFill>
          <a:ln w="12700">
            <a:solidFill>
              <a:schemeClr val="bg2"/>
            </a:solidFill>
            <a:prstDash val="solid"/>
          </a:ln>
        </p:spPr>
      </p:sp>
      <p:sp>
        <p:nvSpPr>
          <p:cNvPr id="22" name="icon-circle"/>
          <p:cNvSpPr/>
          <p:nvPr/>
        </p:nvSpPr>
        <p:spPr>
          <a:xfrm>
            <a:off x="9281160" y="3108960"/>
            <a:ext cx="548640" cy="548640"/>
          </a:xfrm>
          <a:prstGeom prst="ellipse">
            <a:avLst/>
          </a:prstGeom>
          <a:solidFill>
            <a:srgbClr val="D9A441"/>
          </a:solidFill>
          <a:ln w="12700">
            <a:solidFill>
              <a:srgbClr val="D9A441"/>
            </a:solidFill>
            <a:prstDash val="solid"/>
          </a:ln>
        </p:spPr>
      </p:sp>
      <p:pic>
        <p:nvPicPr>
          <p:cNvPr id="23" name="icon" descr="preencoded.png">    </p:cNvPr>
          <p:cNvPicPr>
            <a:picLocks noChangeAspect="1"/>
          </p:cNvPicPr>
          <p:nvPr/>
        </p:nvPicPr>
        <p:blipFill>
          <a:blip r:embed="rId4"/>
          <a:stretch>
            <a:fillRect/>
          </a:stretch>
        </p:blipFill>
        <p:spPr>
          <a:xfrm>
            <a:off x="9401861" y="3229661"/>
            <a:ext cx="307238" cy="307238"/>
          </a:xfrm>
          <a:prstGeom prst="rect">
            <a:avLst/>
          </a:prstGeom>
        </p:spPr>
      </p:pic>
      <p:sp>
        <p:nvSpPr>
          <p:cNvPr id="24" name="Text 17"/>
          <p:cNvSpPr txBox="1"/>
          <p:nvPr/>
        </p:nvSpPr>
        <p:spPr>
          <a:xfrm>
            <a:off x="9966960" y="306324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P</a:t>
            </a:r>
            <a:endParaRPr lang="en-US" sz="1700" dirty="0"/>
          </a:p>
        </p:txBody>
      </p:sp>
      <p:sp>
        <p:nvSpPr>
          <p:cNvPr id="25" name="Text 18"/>
          <p:cNvSpPr txBox="1"/>
          <p:nvPr/>
        </p:nvSpPr>
        <p:spPr>
          <a:xfrm>
            <a:off x="9281160" y="3794760"/>
            <a:ext cx="2103120" cy="868680"/>
          </a:xfrm>
          <a:prstGeom prst="rect">
            <a:avLst/>
          </a:prstGeom>
          <a:noFill/>
          <a:ln/>
        </p:spPr>
        <p:txBody>
          <a:bodyPr wrap="square" lIns="0" tIns="0" rIns="0" bIns="0" rtlCol="0" anchor="t"/>
          <a:lstStyle/>
          <a:p>
            <a:pPr indent="0" marL="0">
              <a:buNone/>
            </a:pPr>
            <a:r>
              <a:rPr lang="en-US" sz="1400" dirty="0">
                <a:solidFill>
                  <a:schemeClr val="tx1"/>
                </a:solidFill>
              </a:rPr>
              <a:t>Prix de référence (ex. : LME)</a:t>
            </a:r>
            <a:endParaRPr lang="en-US" sz="1400" dirty="0"/>
          </a:p>
        </p:txBody>
      </p:sp>
      <p:sp>
        <p:nvSpPr>
          <p:cNvPr id="26" name="callout"/>
          <p:cNvSpPr/>
          <p:nvPr/>
        </p:nvSpPr>
        <p:spPr>
          <a:xfrm>
            <a:off x="548640" y="5120640"/>
            <a:ext cx="11064240" cy="640080"/>
          </a:xfrm>
          <a:prstGeom prst="roundRect">
            <a:avLst>
              <a:gd name="adj" fmla="val 11429"/>
            </a:avLst>
          </a:prstGeom>
          <a:solidFill>
            <a:srgbClr val="B5542D">
              <a:alpha val="15000"/>
            </a:srgbClr>
          </a:solidFill>
          <a:ln w="12700">
            <a:solidFill>
              <a:srgbClr val="B5542D"/>
            </a:solidFill>
            <a:prstDash val="solid"/>
          </a:ln>
        </p:spPr>
      </p:sp>
      <p:sp>
        <p:nvSpPr>
          <p:cNvPr id="27" name="icon-circle"/>
          <p:cNvSpPr/>
          <p:nvPr/>
        </p:nvSpPr>
        <p:spPr>
          <a:xfrm>
            <a:off x="685800" y="5239512"/>
            <a:ext cx="402336" cy="402336"/>
          </a:xfrm>
          <a:prstGeom prst="ellipse">
            <a:avLst/>
          </a:prstGeom>
          <a:solidFill>
            <a:srgbClr val="B5542D"/>
          </a:solidFill>
          <a:ln w="12700">
            <a:solidFill>
              <a:srgbClr val="B5542D"/>
            </a:solidFill>
            <a:prstDash val="solid"/>
          </a:ln>
        </p:spPr>
      </p:sp>
      <p:pic>
        <p:nvPicPr>
          <p:cNvPr id="28" name="icon" descr="preencoded.png">    </p:cNvPr>
          <p:cNvPicPr>
            <a:picLocks noChangeAspect="1"/>
          </p:cNvPicPr>
          <p:nvPr/>
        </p:nvPicPr>
        <p:blipFill>
          <a:blip r:embed="rId5"/>
          <a:stretch>
            <a:fillRect/>
          </a:stretch>
        </p:blipFill>
        <p:spPr>
          <a:xfrm>
            <a:off x="774314" y="5328026"/>
            <a:ext cx="225308" cy="225308"/>
          </a:xfrm>
          <a:prstGeom prst="rect">
            <a:avLst/>
          </a:prstGeom>
        </p:spPr>
      </p:pic>
      <p:sp>
        <p:nvSpPr>
          <p:cNvPr id="29" name="Text 21"/>
          <p:cNvSpPr txBox="1"/>
          <p:nvPr/>
        </p:nvSpPr>
        <p:spPr>
          <a:xfrm>
            <a:off x="1234440" y="5120640"/>
            <a:ext cx="10195560" cy="640080"/>
          </a:xfrm>
          <a:prstGeom prst="rect">
            <a:avLst/>
          </a:prstGeom>
          <a:noFill/>
          <a:ln/>
        </p:spPr>
        <p:txBody>
          <a:bodyPr wrap="square" lIns="0" tIns="0" rIns="0" bIns="0" rtlCol="0" anchor="ctr"/>
          <a:lstStyle/>
          <a:p>
            <a:pPr indent="0" marL="0">
              <a:buNone/>
            </a:pPr>
            <a:r>
              <a:rPr lang="en-US" sz="1500" dirty="0">
                <a:solidFill>
                  <a:schemeClr val="tx2"/>
                </a:solidFill>
              </a:rPr>
              <a:t>Les pénalités (arsenic, etc.) peuvent changer la valeur d'un gisement autant que sa teneur.</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TP5 — Calculer la valeur d'un lot de concentré</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669280" cy="914400"/>
        </p:xfrm>
        <a:graphic>
          <a:graphicData uri="http://schemas.openxmlformats.org/drawingml/2006/table">
            <a:tbl>
              <a:tblPr/>
              <a:tblGrid>
                <a:gridCol w="3566160"/>
                <a:gridCol w="210312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Paramètre (valeurs fictives)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Valeur</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Masse de concentré M</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10 000 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Teneur 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25 % Cu</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Part payable p</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96,5 %</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Prix de référence P</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9 000 USD/t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TC + RC</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1 500 000 USD</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Transport</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1 200 000 USD</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475488">
                <a:tc>
                  <a:txBody>
                    <a:bodyPr/>
                    <a:lstStyle/>
                    <a:p>
                      <a:pPr indent="0" marL="0">
                        <a:buNone/>
                      </a:pPr>
                      <a:r>
                        <a:rPr lang="en-US" sz="1500" b="1" dirty="0">
                          <a:solidFill>
                            <a:srgbClr val="1B1F23"/>
                          </a:solidFill>
                          <a:latin typeface="Calibri" pitchFamily="34" charset="0"/>
                          <a:ea typeface="Calibri" pitchFamily="34" charset="-122"/>
                          <a:cs typeface="Calibri" pitchFamily="34" charset="-120"/>
                        </a:rPr>
                        <a:t>Pénalités</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500" dirty="0">
                          <a:solidFill>
                            <a:srgbClr val="1B1F23"/>
                          </a:solidFill>
                          <a:latin typeface="Calibri" pitchFamily="34" charset="0"/>
                          <a:ea typeface="Calibri" pitchFamily="34" charset="-122"/>
                          <a:cs typeface="Calibri" pitchFamily="34" charset="-120"/>
                        </a:rPr>
                        <a:t>0 USD</a:t>
                      </a:r>
                      <a:endParaRPr lang="en-US" sz="15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bl>
          </a:graphicData>
        </a:graphic>
      </p:graphicFrame>
      <p:sp>
        <p:nvSpPr>
          <p:cNvPr id="5" name="result-box"/>
          <p:cNvSpPr/>
          <p:nvPr/>
        </p:nvSpPr>
        <p:spPr>
          <a:xfrm>
            <a:off x="6583680" y="1417320"/>
            <a:ext cx="5029200" cy="3931920"/>
          </a:xfrm>
          <a:prstGeom prst="roundRect">
            <a:avLst>
              <a:gd name="adj" fmla="val 1860"/>
            </a:avLst>
          </a:prstGeom>
          <a:solidFill>
            <a:schemeClr val="bg2"/>
          </a:solidFill>
          <a:ln w="12700">
            <a:solidFill>
              <a:schemeClr val="bg2"/>
            </a:solidFill>
            <a:prstDash val="solid"/>
          </a:ln>
        </p:spPr>
      </p:sp>
      <p:sp>
        <p:nvSpPr>
          <p:cNvPr id="6" name="Text 2"/>
          <p:cNvSpPr txBox="1"/>
          <p:nvPr/>
        </p:nvSpPr>
        <p:spPr>
          <a:xfrm>
            <a:off x="6858000" y="1554480"/>
            <a:ext cx="4480560" cy="3657600"/>
          </a:xfrm>
          <a:prstGeom prst="rect">
            <a:avLst/>
          </a:prstGeom>
          <a:noFill/>
          <a:ln/>
        </p:spPr>
        <p:txBody>
          <a:bodyPr wrap="square" lIns="0" tIns="0" rIns="0" bIns="0" rtlCol="0" anchor="ctr"/>
          <a:lstStyle/>
          <a:p>
            <a:pPr indent="0" marL="0">
              <a:buNone/>
            </a:pPr>
            <a:r>
              <a:rPr lang="en-US" sz="1500" dirty="0">
                <a:solidFill>
                  <a:schemeClr val="tx1"/>
                </a:solidFill>
              </a:rPr>
              <a:t>Métal payé</a:t>
            </a:r>
            <a:endParaRPr lang="en-US" sz="1500" dirty="0"/>
          </a:p>
          <a:p>
            <a:pPr indent="0" marL="0">
              <a:buNone/>
            </a:pPr>
            <a:r>
              <a:rPr lang="en-US" sz="1500" dirty="0">
                <a:solidFill>
                  <a:schemeClr val="tx1"/>
                </a:solidFill>
              </a:rPr>
              <a:t>10 000 × 0,25 × 0,965 × 9 000</a:t>
            </a:r>
            <a:endParaRPr lang="en-US" sz="1500" dirty="0"/>
          </a:p>
          <a:p>
            <a:pPr indent="0" marL="0">
              <a:buNone/>
            </a:pPr>
            <a:r>
              <a:rPr lang="en-US" sz="2000" b="1" dirty="0">
                <a:solidFill>
                  <a:schemeClr val="tx2"/>
                </a:solidFill>
              </a:rPr>
              <a:t>= 21 712 500 USD</a:t>
            </a:r>
            <a:endParaRPr lang="en-US" sz="1500" dirty="0"/>
          </a:p>
          <a:p>
            <a:pPr indent="0" marL="0">
              <a:buNone/>
            </a:pPr>
            <a:r>
              <a:rPr lang="en-US" sz="1000" dirty="0">
                <a:solidFill>
                  <a:srgbClr val="000000"/>
                </a:solidFill>
              </a:rPr>
              <a:t> </a:t>
            </a:r>
            <a:endParaRPr lang="en-US" sz="1500" dirty="0"/>
          </a:p>
          <a:p>
            <a:pPr indent="0" marL="0">
              <a:buNone/>
            </a:pPr>
            <a:r>
              <a:rPr lang="en-US" sz="1500" dirty="0">
                <a:solidFill>
                  <a:schemeClr val="tx1"/>
                </a:solidFill>
              </a:rPr>
              <a:t>Valeur nette du lot</a:t>
            </a:r>
            <a:endParaRPr lang="en-US" sz="1500" dirty="0"/>
          </a:p>
          <a:p>
            <a:pPr indent="0" marL="0">
              <a:buNone/>
            </a:pPr>
            <a:r>
              <a:rPr lang="en-US" sz="4000" b="1" dirty="0">
                <a:solidFill>
                  <a:schemeClr val="accent1"/>
                </a:solidFill>
                <a:latin typeface="Cambria" pitchFamily="34" charset="0"/>
                <a:ea typeface="Cambria" pitchFamily="34" charset="-122"/>
                <a:cs typeface="Cambria" pitchFamily="34" charset="-120"/>
              </a:rPr>
              <a:t>19 012 500 USD</a:t>
            </a:r>
            <a:endParaRPr lang="en-US" sz="1500" dirty="0"/>
          </a:p>
        </p:txBody>
      </p:sp>
      <p:sp>
        <p:nvSpPr>
          <p:cNvPr id="7" name="callout"/>
          <p:cNvSpPr/>
          <p:nvPr/>
        </p:nvSpPr>
        <p:spPr>
          <a:xfrm>
            <a:off x="548640" y="5577840"/>
            <a:ext cx="11064240" cy="640080"/>
          </a:xfrm>
          <a:prstGeom prst="roundRect">
            <a:avLst>
              <a:gd name="adj" fmla="val 11429"/>
            </a:avLst>
          </a:prstGeom>
          <a:solidFill>
            <a:srgbClr val="C9772F">
              <a:alpha val="15000"/>
            </a:srgbClr>
          </a:solidFill>
          <a:ln w="12700">
            <a:solidFill>
              <a:srgbClr val="C9772F"/>
            </a:solidFill>
            <a:prstDash val="solid"/>
          </a:ln>
        </p:spPr>
      </p:sp>
      <p:sp>
        <p:nvSpPr>
          <p:cNvPr id="8" name="icon-circle"/>
          <p:cNvSpPr/>
          <p:nvPr/>
        </p:nvSpPr>
        <p:spPr>
          <a:xfrm>
            <a:off x="685800" y="5696712"/>
            <a:ext cx="402336" cy="402336"/>
          </a:xfrm>
          <a:prstGeom prst="ellipse">
            <a:avLst/>
          </a:prstGeom>
          <a:solidFill>
            <a:srgbClr val="C9772F"/>
          </a:solidFill>
          <a:ln w="12700">
            <a:solidFill>
              <a:srgbClr val="C9772F"/>
            </a:solidFill>
            <a:prstDash val="solid"/>
          </a:ln>
        </p:spPr>
      </p:sp>
      <p:pic>
        <p:nvPicPr>
          <p:cNvPr id="9" name="icon" descr="preencoded.png">    </p:cNvPr>
          <p:cNvPicPr>
            <a:picLocks noChangeAspect="1"/>
          </p:cNvPicPr>
          <p:nvPr/>
        </p:nvPicPr>
        <p:blipFill>
          <a:blip r:embed="rId1"/>
          <a:stretch>
            <a:fillRect/>
          </a:stretch>
        </p:blipFill>
        <p:spPr>
          <a:xfrm>
            <a:off x="774314" y="5785226"/>
            <a:ext cx="225308" cy="225308"/>
          </a:xfrm>
          <a:prstGeom prst="rect">
            <a:avLst/>
          </a:prstGeom>
        </p:spPr>
      </p:pic>
      <p:sp>
        <p:nvSpPr>
          <p:cNvPr id="10" name="Text 5"/>
          <p:cNvSpPr txBox="1"/>
          <p:nvPr/>
        </p:nvSpPr>
        <p:spPr>
          <a:xfrm>
            <a:off x="1234440" y="5577840"/>
            <a:ext cx="10195560" cy="640080"/>
          </a:xfrm>
          <a:prstGeom prst="rect">
            <a:avLst/>
          </a:prstGeom>
          <a:noFill/>
          <a:ln/>
        </p:spPr>
        <p:txBody>
          <a:bodyPr wrap="square" lIns="0" tIns="0" rIns="0" bIns="0" rtlCol="0" anchor="ctr"/>
          <a:lstStyle/>
          <a:p>
            <a:pPr indent="0" marL="0">
              <a:buNone/>
            </a:pPr>
            <a:r>
              <a:rPr lang="en-US" sz="1500" dirty="0">
                <a:solidFill>
                  <a:schemeClr val="tx2"/>
                </a:solidFill>
              </a:rPr>
              <a:t>Exemple pédagogique : valeurs fictives, à ne jamais citer comme données de marché.</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Plus on transforme sur place, plus le pays capte de valeur</a:t>
            </a:r>
            <a:endParaRPr lang="en-US" sz="3000" dirty="0"/>
          </a:p>
        </p:txBody>
      </p:sp>
      <p:sp>
        <p:nvSpPr>
          <p:cNvPr id="4" name="card"/>
          <p:cNvSpPr/>
          <p:nvPr/>
        </p:nvSpPr>
        <p:spPr>
          <a:xfrm>
            <a:off x="548640" y="1371600"/>
            <a:ext cx="3505200" cy="3291840"/>
          </a:xfrm>
          <a:prstGeom prst="roundRect">
            <a:avLst>
              <a:gd name="adj" fmla="val 2222"/>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Exporter du minerai</a:t>
            </a:r>
            <a:endParaRPr lang="en-US" sz="1700" dirty="0"/>
          </a:p>
        </p:txBody>
      </p:sp>
      <p:sp>
        <p:nvSpPr>
          <p:cNvPr id="8" name="Text 4"/>
          <p:cNvSpPr txBox="1"/>
          <p:nvPr/>
        </p:nvSpPr>
        <p:spPr>
          <a:xfrm>
            <a:off x="777240" y="2286000"/>
            <a:ext cx="3048000" cy="2240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Investissement faible</a:t>
            </a:r>
            <a:endParaRPr lang="en-US" sz="1400" dirty="0"/>
          </a:p>
          <a:p>
            <a:pPr marL="342900" indent="-342900">
              <a:spcAft>
                <a:spcPts val="400"/>
              </a:spcAft>
              <a:buSzPct val="100000"/>
              <a:buChar char="•"/>
            </a:pPr>
            <a:r>
              <a:rPr lang="en-US" sz="1400" dirty="0">
                <a:solidFill>
                  <a:schemeClr val="tx1"/>
                </a:solidFill>
              </a:rPr>
              <a:t>Valeur captée faible</a:t>
            </a:r>
            <a:endParaRPr lang="en-US" sz="1400" dirty="0"/>
          </a:p>
          <a:p>
            <a:pPr marL="342900" indent="-342900">
              <a:spcAft>
                <a:spcPts val="400"/>
              </a:spcAft>
              <a:buSzPct val="100000"/>
              <a:buChar char="•"/>
            </a:pPr>
            <a:r>
              <a:rPr lang="en-US" sz="1400" dirty="0">
                <a:solidFill>
                  <a:schemeClr val="tx1"/>
                </a:solidFill>
              </a:rPr>
              <a:t>Dépend du transport en vrac</a:t>
            </a:r>
            <a:endParaRPr lang="en-US" sz="1400" dirty="0"/>
          </a:p>
        </p:txBody>
      </p:sp>
      <p:sp>
        <p:nvSpPr>
          <p:cNvPr id="9" name="card"/>
          <p:cNvSpPr/>
          <p:nvPr/>
        </p:nvSpPr>
        <p:spPr>
          <a:xfrm>
            <a:off x="4328160" y="1371600"/>
            <a:ext cx="3505200" cy="3291840"/>
          </a:xfrm>
          <a:prstGeom prst="roundRect">
            <a:avLst>
              <a:gd name="adj" fmla="val 2222"/>
            </a:avLst>
          </a:prstGeom>
          <a:solidFill>
            <a:schemeClr val="bg2"/>
          </a:solidFill>
          <a:ln w="12700">
            <a:solidFill>
              <a:schemeClr val="bg2"/>
            </a:solidFill>
            <a:prstDash val="solid"/>
          </a:ln>
        </p:spPr>
      </p:sp>
      <p:sp>
        <p:nvSpPr>
          <p:cNvPr id="10" name="icon-circle"/>
          <p:cNvSpPr/>
          <p:nvPr/>
        </p:nvSpPr>
        <p:spPr>
          <a:xfrm>
            <a:off x="455676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4677461" y="1720901"/>
            <a:ext cx="307238" cy="307238"/>
          </a:xfrm>
          <a:prstGeom prst="rect">
            <a:avLst/>
          </a:prstGeom>
        </p:spPr>
      </p:pic>
      <p:sp>
        <p:nvSpPr>
          <p:cNvPr id="12" name="Text 7"/>
          <p:cNvSpPr txBox="1"/>
          <p:nvPr/>
        </p:nvSpPr>
        <p:spPr>
          <a:xfrm>
            <a:off x="524256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Exporter un concentré</a:t>
            </a:r>
            <a:endParaRPr lang="en-US" sz="1700" dirty="0"/>
          </a:p>
        </p:txBody>
      </p:sp>
      <p:sp>
        <p:nvSpPr>
          <p:cNvPr id="13" name="Text 8"/>
          <p:cNvSpPr txBox="1"/>
          <p:nvPr/>
        </p:nvSpPr>
        <p:spPr>
          <a:xfrm>
            <a:off x="4556760" y="2286000"/>
            <a:ext cx="3048000" cy="2240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Usine de traitement sur place</a:t>
            </a:r>
            <a:endParaRPr lang="en-US" sz="1400" dirty="0"/>
          </a:p>
          <a:p>
            <a:pPr marL="342900" indent="-342900">
              <a:spcAft>
                <a:spcPts val="400"/>
              </a:spcAft>
              <a:buSzPct val="100000"/>
              <a:buChar char="•"/>
            </a:pPr>
            <a:r>
              <a:rPr lang="en-US" sz="1400" dirty="0">
                <a:solidFill>
                  <a:schemeClr val="tx1"/>
                </a:solidFill>
              </a:rPr>
              <a:t>Valeur captée moyenne</a:t>
            </a:r>
            <a:endParaRPr lang="en-US" sz="1400" dirty="0"/>
          </a:p>
          <a:p>
            <a:pPr marL="342900" indent="-342900">
              <a:spcAft>
                <a:spcPts val="400"/>
              </a:spcAft>
              <a:buSzPct val="100000"/>
              <a:buChar char="•"/>
            </a:pPr>
            <a:r>
              <a:rPr lang="en-US" sz="1400" dirty="0">
                <a:solidFill>
                  <a:schemeClr val="tx1"/>
                </a:solidFill>
              </a:rPr>
              <a:t>Exposé aux TC/RC et pénalités</a:t>
            </a:r>
            <a:endParaRPr lang="en-US" sz="1400" dirty="0"/>
          </a:p>
        </p:txBody>
      </p:sp>
      <p:sp>
        <p:nvSpPr>
          <p:cNvPr id="14" name="card"/>
          <p:cNvSpPr/>
          <p:nvPr/>
        </p:nvSpPr>
        <p:spPr>
          <a:xfrm>
            <a:off x="8107680" y="1371600"/>
            <a:ext cx="3505200" cy="3291840"/>
          </a:xfrm>
          <a:prstGeom prst="roundRect">
            <a:avLst>
              <a:gd name="adj" fmla="val 2222"/>
            </a:avLst>
          </a:prstGeom>
          <a:solidFill>
            <a:schemeClr val="bg2"/>
          </a:solidFill>
          <a:ln w="12700">
            <a:solidFill>
              <a:schemeClr val="bg2"/>
            </a:solidFill>
            <a:prstDash val="solid"/>
          </a:ln>
        </p:spPr>
      </p:sp>
      <p:sp>
        <p:nvSpPr>
          <p:cNvPr id="15" name="icon-circle"/>
          <p:cNvSpPr/>
          <p:nvPr/>
        </p:nvSpPr>
        <p:spPr>
          <a:xfrm>
            <a:off x="8336280" y="16002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8456981" y="1720901"/>
            <a:ext cx="307238" cy="307238"/>
          </a:xfrm>
          <a:prstGeom prst="rect">
            <a:avLst/>
          </a:prstGeom>
        </p:spPr>
      </p:pic>
      <p:sp>
        <p:nvSpPr>
          <p:cNvPr id="17" name="Text 11"/>
          <p:cNvSpPr txBox="1"/>
          <p:nvPr/>
        </p:nvSpPr>
        <p:spPr>
          <a:xfrm>
            <a:off x="9022080" y="1554480"/>
            <a:ext cx="2407920" cy="640080"/>
          </a:xfrm>
          <a:prstGeom prst="rect">
            <a:avLst/>
          </a:prstGeom>
          <a:noFill/>
          <a:ln/>
        </p:spPr>
        <p:txBody>
          <a:bodyPr wrap="square" lIns="0" tIns="0" rIns="0" bIns="0" rtlCol="0" anchor="ctr"/>
          <a:lstStyle/>
          <a:p>
            <a:pPr indent="0" marL="0">
              <a:buNone/>
            </a:pPr>
            <a:r>
              <a:rPr lang="en-US" sz="1700" b="1" dirty="0">
                <a:solidFill>
                  <a:schemeClr val="tx2"/>
                </a:solidFill>
              </a:rPr>
              <a:t>Exporter un métal</a:t>
            </a:r>
            <a:endParaRPr lang="en-US" sz="1700" dirty="0"/>
          </a:p>
        </p:txBody>
      </p:sp>
      <p:sp>
        <p:nvSpPr>
          <p:cNvPr id="18" name="Text 12"/>
          <p:cNvSpPr txBox="1"/>
          <p:nvPr/>
        </p:nvSpPr>
        <p:spPr>
          <a:xfrm>
            <a:off x="8336280" y="2286000"/>
            <a:ext cx="3048000" cy="2240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Énergie et capital élevés</a:t>
            </a:r>
            <a:endParaRPr lang="en-US" sz="1400" dirty="0"/>
          </a:p>
          <a:p>
            <a:pPr marL="342900" indent="-342900">
              <a:spcAft>
                <a:spcPts val="400"/>
              </a:spcAft>
              <a:buSzPct val="100000"/>
              <a:buChar char="•"/>
            </a:pPr>
            <a:r>
              <a:rPr lang="en-US" sz="1400" dirty="0">
                <a:solidFill>
                  <a:schemeClr val="tx1"/>
                </a:solidFill>
              </a:rPr>
              <a:t>Valeur captée forte</a:t>
            </a:r>
            <a:endParaRPr lang="en-US" sz="1400" dirty="0"/>
          </a:p>
          <a:p>
            <a:pPr marL="342900" indent="-342900">
              <a:spcAft>
                <a:spcPts val="400"/>
              </a:spcAft>
              <a:buSzPct val="100000"/>
              <a:buChar char="•"/>
            </a:pPr>
            <a:r>
              <a:rPr lang="en-US" sz="1400" dirty="0">
                <a:solidFill>
                  <a:schemeClr val="tx1"/>
                </a:solidFill>
              </a:rPr>
              <a:t>Exige électricité fiable</a:t>
            </a:r>
            <a:endParaRPr lang="en-US" sz="1400" dirty="0"/>
          </a:p>
        </p:txBody>
      </p:sp>
      <p:sp>
        <p:nvSpPr>
          <p:cNvPr id="19" name="callout"/>
          <p:cNvSpPr/>
          <p:nvPr/>
        </p:nvSpPr>
        <p:spPr>
          <a:xfrm>
            <a:off x="548640" y="4983480"/>
            <a:ext cx="11064240" cy="822960"/>
          </a:xfrm>
          <a:prstGeom prst="roundRect">
            <a:avLst>
              <a:gd name="adj" fmla="val 8889"/>
            </a:avLst>
          </a:prstGeom>
          <a:solidFill>
            <a:srgbClr val="3E7C6B">
              <a:alpha val="15000"/>
            </a:srgbClr>
          </a:solidFill>
          <a:ln w="12700">
            <a:solidFill>
              <a:srgbClr val="3E7C6B"/>
            </a:solidFill>
            <a:prstDash val="solid"/>
          </a:ln>
        </p:spPr>
      </p:sp>
      <p:sp>
        <p:nvSpPr>
          <p:cNvPr id="20" name="icon-circle"/>
          <p:cNvSpPr/>
          <p:nvPr/>
        </p:nvSpPr>
        <p:spPr>
          <a:xfrm>
            <a:off x="685800" y="5193792"/>
            <a:ext cx="402336" cy="402336"/>
          </a:xfrm>
          <a:prstGeom prst="ellipse">
            <a:avLst/>
          </a:prstGeom>
          <a:solidFill>
            <a:srgbClr val="3E7C6B"/>
          </a:solidFill>
          <a:ln w="12700">
            <a:solidFill>
              <a:srgbClr val="3E7C6B"/>
            </a:solidFill>
            <a:prstDash val="solid"/>
          </a:ln>
        </p:spPr>
      </p:sp>
      <p:pic>
        <p:nvPicPr>
          <p:cNvPr id="21" name="icon" descr="preencoded.png">    </p:cNvPr>
          <p:cNvPicPr>
            <a:picLocks noChangeAspect="1"/>
          </p:cNvPicPr>
          <p:nvPr/>
        </p:nvPicPr>
        <p:blipFill>
          <a:blip r:embed="rId4"/>
          <a:stretch>
            <a:fillRect/>
          </a:stretch>
        </p:blipFill>
        <p:spPr>
          <a:xfrm>
            <a:off x="774314" y="5282306"/>
            <a:ext cx="225308" cy="225308"/>
          </a:xfrm>
          <a:prstGeom prst="rect">
            <a:avLst/>
          </a:prstGeom>
        </p:spPr>
      </p:pic>
      <p:sp>
        <p:nvSpPr>
          <p:cNvPr id="22" name="Text 15"/>
          <p:cNvSpPr txBox="1"/>
          <p:nvPr/>
        </p:nvSpPr>
        <p:spPr>
          <a:xfrm>
            <a:off x="1234440" y="4983480"/>
            <a:ext cx="10195560" cy="822960"/>
          </a:xfrm>
          <a:prstGeom prst="rect">
            <a:avLst/>
          </a:prstGeom>
          <a:noFill/>
          <a:ln/>
        </p:spPr>
        <p:txBody>
          <a:bodyPr wrap="square" lIns="0" tIns="0" rIns="0" bIns="0" rtlCol="0" anchor="ctr"/>
          <a:lstStyle/>
          <a:p>
            <a:pPr indent="0" marL="0">
              <a:buNone/>
            </a:pPr>
            <a:r>
              <a:rPr lang="en-US" sz="1500" dirty="0">
                <a:solidFill>
                  <a:schemeClr val="tx2"/>
                </a:solidFill>
              </a:rPr>
              <a:t>Question pour chaque groupe : à quelle étape votre substance peut-elle s'arrêter dans votre pays, et pourquoi ?</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731520" y="1188720"/>
            <a:ext cx="5486400" cy="1097280"/>
          </a:xfrm>
          <a:prstGeom prst="rect">
            <a:avLst/>
          </a:prstGeom>
          <a:noFill/>
          <a:ln/>
        </p:spPr>
        <p:txBody>
          <a:bodyPr wrap="square" rtlCol="0" anchor="b"/>
          <a:lstStyle/>
          <a:p>
            <a:pPr algn="l" indent="0" marL="0">
              <a:buNone/>
            </a:pPr>
            <a:r>
              <a:rPr lang="en-US" sz="5400" b="1" dirty="0">
                <a:solidFill>
                  <a:srgbClr val="D9A441"/>
                </a:solidFill>
                <a:latin typeface="Cambria" pitchFamily="34" charset="0"/>
                <a:ea typeface="Cambria" pitchFamily="34" charset="-122"/>
                <a:cs typeface="Cambria" pitchFamily="34" charset="-120"/>
              </a:rPr>
              <a:t>Projet final</a:t>
            </a:r>
            <a:endParaRPr lang="en-US" sz="5400" dirty="0"/>
          </a:p>
        </p:txBody>
      </p:sp>
      <p:sp>
        <p:nvSpPr>
          <p:cNvPr id="3" name="Text 0"/>
          <p:cNvSpPr/>
          <p:nvPr>
            <p:ph idx="101" type="title" hasCustomPrompt="1"/>
          </p:nvPr>
        </p:nvSpPr>
        <p:spPr>
          <a:xfrm>
            <a:off x="731520" y="2377440"/>
            <a:ext cx="10698480" cy="1188720"/>
          </a:xfrm>
          <a:prstGeom prst="rect">
            <a:avLst/>
          </a:prstGeom>
          <a:noFill/>
          <a:ln/>
        </p:spPr>
        <p:txBody>
          <a:bodyPr wrap="square"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Satellite to Market</a:t>
            </a:r>
            <a:endParaRPr lang="en-US" sz="4000" dirty="0"/>
          </a:p>
        </p:txBody>
      </p:sp>
      <p:sp>
        <p:nvSpPr>
          <p:cNvPr id="4" name="Text 0"/>
          <p:cNvSpPr/>
          <p:nvPr>
            <p:ph idx="102" type="body" hasCustomPrompt="1"/>
          </p:nvPr>
        </p:nvSpPr>
        <p:spPr>
          <a:xfrm>
            <a:off x="731520" y="3749040"/>
            <a:ext cx="10058400" cy="1828800"/>
          </a:xfrm>
          <a:prstGeom prst="rect">
            <a:avLst/>
          </a:prstGeom>
          <a:noFill/>
          <a:ln/>
        </p:spPr>
        <p:txBody>
          <a:bodyPr wrap="square" rtlCol="0" anchor="t"/>
          <a:lstStyle/>
          <a:p>
            <a:pPr algn="l" indent="0" marL="0">
              <a:buNone/>
            </a:pPr>
            <a:r>
              <a:rPr lang="en-US" sz="1800" dirty="0">
                <a:solidFill>
                  <a:srgbClr val="CFD8DC"/>
                </a:solidFill>
                <a:latin typeface="Calibri" pitchFamily="34" charset="0"/>
                <a:ea typeface="Calibri" pitchFamily="34" charset="-122"/>
                <a:cs typeface="Calibri" pitchFamily="34" charset="-120"/>
              </a:rPr>
              <a:t>Chaque groupe mène sa zone de la cible au marché et soutient un mini investment brief devant un jury.</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Sept questions, de la cible au marché</a:t>
            </a:r>
            <a:endParaRPr lang="en-US" sz="3000" dirty="0"/>
          </a:p>
        </p:txBody>
      </p:sp>
      <p:sp>
        <p:nvSpPr>
          <p:cNvPr id="4" name="step"/>
          <p:cNvSpPr/>
          <p:nvPr/>
        </p:nvSpPr>
        <p:spPr>
          <a:xfrm>
            <a:off x="548640" y="1417320"/>
            <a:ext cx="2491740" cy="2011680"/>
          </a:xfrm>
          <a:prstGeom prst="roundRect">
            <a:avLst>
              <a:gd name="adj" fmla="val 3636"/>
            </a:avLst>
          </a:prstGeom>
          <a:solidFill>
            <a:srgbClr val="EEF2F3"/>
          </a:solidFill>
          <a:ln w="12700">
            <a:solidFill>
              <a:srgbClr val="EEF2F3"/>
            </a:solidFill>
            <a:prstDash val="solid"/>
          </a:ln>
        </p:spPr>
      </p:sp>
      <p:sp>
        <p:nvSpPr>
          <p:cNvPr id="5" name="step-num"/>
          <p:cNvSpPr/>
          <p:nvPr/>
        </p:nvSpPr>
        <p:spPr>
          <a:xfrm>
            <a:off x="713232" y="1581912"/>
            <a:ext cx="420624" cy="420624"/>
          </a:xfrm>
          <a:prstGeom prst="ellipse">
            <a:avLst/>
          </a:prstGeom>
          <a:solidFill>
            <a:srgbClr val="B5542D"/>
          </a:solidFill>
          <a:ln w="12700">
            <a:solidFill>
              <a:srgbClr val="B5542D"/>
            </a:solidFill>
            <a:prstDash val="solid"/>
          </a:ln>
        </p:spPr>
      </p:sp>
      <p:sp>
        <p:nvSpPr>
          <p:cNvPr id="6" name="Text 3"/>
          <p:cNvSpPr txBox="1"/>
          <p:nvPr/>
        </p:nvSpPr>
        <p:spPr>
          <a:xfrm>
            <a:off x="713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207008" y="152704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Where?</a:t>
            </a:r>
            <a:endParaRPr lang="en-US" sz="1500" dirty="0"/>
          </a:p>
        </p:txBody>
      </p:sp>
      <p:sp>
        <p:nvSpPr>
          <p:cNvPr id="8" name="Text 5"/>
          <p:cNvSpPr txBox="1"/>
          <p:nvPr/>
        </p:nvSpPr>
        <p:spPr>
          <a:xfrm>
            <a:off x="713232" y="2148840"/>
            <a:ext cx="2162556" cy="1188720"/>
          </a:xfrm>
          <a:prstGeom prst="rect">
            <a:avLst/>
          </a:prstGeom>
          <a:noFill/>
          <a:ln/>
        </p:spPr>
        <p:txBody>
          <a:bodyPr wrap="square" lIns="0" tIns="0" rIns="0" bIns="0" rtlCol="0" anchor="t"/>
          <a:lstStyle/>
          <a:p>
            <a:pPr indent="0" marL="0">
              <a:buNone/>
            </a:pPr>
            <a:r>
              <a:rPr lang="en-US" sz="1400" dirty="0">
                <a:solidFill>
                  <a:schemeClr val="tx1"/>
                </a:solidFill>
              </a:rPr>
              <a:t>Où est la zone intéressante ?</a:t>
            </a:r>
            <a:endParaRPr lang="en-US" sz="1400" dirty="0"/>
          </a:p>
        </p:txBody>
      </p:sp>
      <p:sp>
        <p:nvSpPr>
          <p:cNvPr id="9" name="arrow"/>
          <p:cNvSpPr/>
          <p:nvPr/>
        </p:nvSpPr>
        <p:spPr>
          <a:xfrm>
            <a:off x="3113532" y="2295144"/>
            <a:ext cx="219456" cy="256032"/>
          </a:xfrm>
          <a:prstGeom prst="rightArrow">
            <a:avLst/>
          </a:prstGeom>
          <a:solidFill>
            <a:srgbClr val="9AA5AC"/>
          </a:solidFill>
          <a:ln w="12700">
            <a:solidFill>
              <a:srgbClr val="9AA5AC"/>
            </a:solidFill>
            <a:prstDash val="solid"/>
          </a:ln>
        </p:spPr>
      </p:sp>
      <p:sp>
        <p:nvSpPr>
          <p:cNvPr id="10" name="step"/>
          <p:cNvSpPr/>
          <p:nvPr/>
        </p:nvSpPr>
        <p:spPr>
          <a:xfrm>
            <a:off x="3406140" y="1417320"/>
            <a:ext cx="2491740" cy="2011680"/>
          </a:xfrm>
          <a:prstGeom prst="roundRect">
            <a:avLst>
              <a:gd name="adj" fmla="val 3636"/>
            </a:avLst>
          </a:prstGeom>
          <a:solidFill>
            <a:srgbClr val="EEF2F3"/>
          </a:solidFill>
          <a:ln w="12700">
            <a:solidFill>
              <a:srgbClr val="EEF2F3"/>
            </a:solidFill>
            <a:prstDash val="solid"/>
          </a:ln>
        </p:spPr>
      </p:sp>
      <p:sp>
        <p:nvSpPr>
          <p:cNvPr id="11" name="step-num"/>
          <p:cNvSpPr/>
          <p:nvPr/>
        </p:nvSpPr>
        <p:spPr>
          <a:xfrm>
            <a:off x="3570732" y="1581912"/>
            <a:ext cx="420624" cy="420624"/>
          </a:xfrm>
          <a:prstGeom prst="ellipse">
            <a:avLst/>
          </a:prstGeom>
          <a:solidFill>
            <a:srgbClr val="B5542D"/>
          </a:solidFill>
          <a:ln w="12700">
            <a:solidFill>
              <a:srgbClr val="B5542D"/>
            </a:solidFill>
            <a:prstDash val="solid"/>
          </a:ln>
        </p:spPr>
      </p:sp>
      <p:sp>
        <p:nvSpPr>
          <p:cNvPr id="12" name="Text 9"/>
          <p:cNvSpPr txBox="1"/>
          <p:nvPr/>
        </p:nvSpPr>
        <p:spPr>
          <a:xfrm>
            <a:off x="35707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4064508" y="152704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What?</a:t>
            </a:r>
            <a:endParaRPr lang="en-US" sz="1500" dirty="0"/>
          </a:p>
        </p:txBody>
      </p:sp>
      <p:sp>
        <p:nvSpPr>
          <p:cNvPr id="14" name="Text 11"/>
          <p:cNvSpPr txBox="1"/>
          <p:nvPr/>
        </p:nvSpPr>
        <p:spPr>
          <a:xfrm>
            <a:off x="3570732" y="2148840"/>
            <a:ext cx="2162556" cy="1188720"/>
          </a:xfrm>
          <a:prstGeom prst="rect">
            <a:avLst/>
          </a:prstGeom>
          <a:noFill/>
          <a:ln/>
        </p:spPr>
        <p:txBody>
          <a:bodyPr wrap="square" lIns="0" tIns="0" rIns="0" bIns="0" rtlCol="0" anchor="t"/>
          <a:lstStyle/>
          <a:p>
            <a:pPr indent="0" marL="0">
              <a:buNone/>
            </a:pPr>
            <a:r>
              <a:rPr lang="en-US" sz="1400" dirty="0">
                <a:solidFill>
                  <a:schemeClr val="tx1"/>
                </a:solidFill>
              </a:rPr>
              <a:t>Quelle substance, quel type ?</a:t>
            </a:r>
            <a:endParaRPr lang="en-US" sz="1400" dirty="0"/>
          </a:p>
        </p:txBody>
      </p:sp>
      <p:sp>
        <p:nvSpPr>
          <p:cNvPr id="15" name="arrow"/>
          <p:cNvSpPr/>
          <p:nvPr/>
        </p:nvSpPr>
        <p:spPr>
          <a:xfrm>
            <a:off x="5971032" y="2295144"/>
            <a:ext cx="219456" cy="256032"/>
          </a:xfrm>
          <a:prstGeom prst="rightArrow">
            <a:avLst/>
          </a:prstGeom>
          <a:solidFill>
            <a:srgbClr val="9AA5AC"/>
          </a:solidFill>
          <a:ln w="12700">
            <a:solidFill>
              <a:srgbClr val="9AA5AC"/>
            </a:solidFill>
            <a:prstDash val="solid"/>
          </a:ln>
        </p:spPr>
      </p:sp>
      <p:sp>
        <p:nvSpPr>
          <p:cNvPr id="16" name="step"/>
          <p:cNvSpPr/>
          <p:nvPr/>
        </p:nvSpPr>
        <p:spPr>
          <a:xfrm>
            <a:off x="6263640" y="1417320"/>
            <a:ext cx="2491740" cy="2011680"/>
          </a:xfrm>
          <a:prstGeom prst="roundRect">
            <a:avLst>
              <a:gd name="adj" fmla="val 3636"/>
            </a:avLst>
          </a:prstGeom>
          <a:solidFill>
            <a:srgbClr val="D9A441">
              <a:alpha val="30000"/>
            </a:srgbClr>
          </a:solidFill>
          <a:ln w="25400">
            <a:solidFill>
              <a:srgbClr val="D9A441"/>
            </a:solidFill>
            <a:prstDash val="solid"/>
          </a:ln>
        </p:spPr>
      </p:sp>
      <p:sp>
        <p:nvSpPr>
          <p:cNvPr id="17" name="step-num"/>
          <p:cNvSpPr/>
          <p:nvPr/>
        </p:nvSpPr>
        <p:spPr>
          <a:xfrm>
            <a:off x="6428232" y="1581912"/>
            <a:ext cx="420624" cy="420624"/>
          </a:xfrm>
          <a:prstGeom prst="ellipse">
            <a:avLst/>
          </a:prstGeom>
          <a:solidFill>
            <a:srgbClr val="D9A441"/>
          </a:solidFill>
          <a:ln w="12700">
            <a:solidFill>
              <a:srgbClr val="D9A441"/>
            </a:solidFill>
            <a:prstDash val="solid"/>
          </a:ln>
        </p:spPr>
      </p:sp>
      <p:sp>
        <p:nvSpPr>
          <p:cNvPr id="18" name="Text 15"/>
          <p:cNvSpPr txBox="1"/>
          <p:nvPr/>
        </p:nvSpPr>
        <p:spPr>
          <a:xfrm>
            <a:off x="64282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6922008" y="152704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How much?</a:t>
            </a:r>
            <a:endParaRPr lang="en-US" sz="1500" dirty="0"/>
          </a:p>
        </p:txBody>
      </p:sp>
      <p:sp>
        <p:nvSpPr>
          <p:cNvPr id="20" name="Text 17"/>
          <p:cNvSpPr txBox="1"/>
          <p:nvPr/>
        </p:nvSpPr>
        <p:spPr>
          <a:xfrm>
            <a:off x="6428232" y="2148840"/>
            <a:ext cx="2162556" cy="1188720"/>
          </a:xfrm>
          <a:prstGeom prst="rect">
            <a:avLst/>
          </a:prstGeom>
          <a:noFill/>
          <a:ln/>
        </p:spPr>
        <p:txBody>
          <a:bodyPr wrap="square" lIns="0" tIns="0" rIns="0" bIns="0" rtlCol="0" anchor="t"/>
          <a:lstStyle/>
          <a:p>
            <a:pPr indent="0" marL="0">
              <a:buNone/>
            </a:pPr>
            <a:r>
              <a:rPr lang="en-US" sz="1400" dirty="0">
                <a:solidFill>
                  <a:schemeClr val="tx1"/>
                </a:solidFill>
              </a:rPr>
              <a:t>Potentiel qualitatif, pas de tonnage</a:t>
            </a:r>
            <a:endParaRPr lang="en-US" sz="1400" dirty="0"/>
          </a:p>
        </p:txBody>
      </p:sp>
      <p:sp>
        <p:nvSpPr>
          <p:cNvPr id="21" name="arrow"/>
          <p:cNvSpPr/>
          <p:nvPr/>
        </p:nvSpPr>
        <p:spPr>
          <a:xfrm>
            <a:off x="8828532" y="2295144"/>
            <a:ext cx="219456" cy="256032"/>
          </a:xfrm>
          <a:prstGeom prst="rightArrow">
            <a:avLst/>
          </a:prstGeom>
          <a:solidFill>
            <a:srgbClr val="9AA5AC"/>
          </a:solidFill>
          <a:ln w="12700">
            <a:solidFill>
              <a:srgbClr val="9AA5AC"/>
            </a:solidFill>
            <a:prstDash val="solid"/>
          </a:ln>
        </p:spPr>
      </p:sp>
      <p:sp>
        <p:nvSpPr>
          <p:cNvPr id="22" name="step"/>
          <p:cNvSpPr/>
          <p:nvPr/>
        </p:nvSpPr>
        <p:spPr>
          <a:xfrm>
            <a:off x="9121140" y="1417320"/>
            <a:ext cx="2491740" cy="2011680"/>
          </a:xfrm>
          <a:prstGeom prst="roundRect">
            <a:avLst>
              <a:gd name="adj" fmla="val 3636"/>
            </a:avLst>
          </a:prstGeom>
          <a:solidFill>
            <a:srgbClr val="EEF2F3"/>
          </a:solidFill>
          <a:ln w="12700">
            <a:solidFill>
              <a:srgbClr val="EEF2F3"/>
            </a:solidFill>
            <a:prstDash val="solid"/>
          </a:ln>
        </p:spPr>
      </p:sp>
      <p:sp>
        <p:nvSpPr>
          <p:cNvPr id="23" name="step-num"/>
          <p:cNvSpPr/>
          <p:nvPr/>
        </p:nvSpPr>
        <p:spPr>
          <a:xfrm>
            <a:off x="9285732" y="1581912"/>
            <a:ext cx="420624" cy="420624"/>
          </a:xfrm>
          <a:prstGeom prst="ellipse">
            <a:avLst/>
          </a:prstGeom>
          <a:solidFill>
            <a:srgbClr val="B5542D"/>
          </a:solidFill>
          <a:ln w="12700">
            <a:solidFill>
              <a:srgbClr val="B5542D"/>
            </a:solidFill>
            <a:prstDash val="solid"/>
          </a:ln>
        </p:spPr>
      </p:sp>
      <p:sp>
        <p:nvSpPr>
          <p:cNvPr id="24" name="Text 21"/>
          <p:cNvSpPr txBox="1"/>
          <p:nvPr/>
        </p:nvSpPr>
        <p:spPr>
          <a:xfrm>
            <a:off x="9285732"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9779508" y="152704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How?</a:t>
            </a:r>
            <a:endParaRPr lang="en-US" sz="1500" dirty="0"/>
          </a:p>
        </p:txBody>
      </p:sp>
      <p:sp>
        <p:nvSpPr>
          <p:cNvPr id="26" name="Text 23"/>
          <p:cNvSpPr txBox="1"/>
          <p:nvPr/>
        </p:nvSpPr>
        <p:spPr>
          <a:xfrm>
            <a:off x="9285732" y="2148840"/>
            <a:ext cx="2162556" cy="1188720"/>
          </a:xfrm>
          <a:prstGeom prst="rect">
            <a:avLst/>
          </a:prstGeom>
          <a:noFill/>
          <a:ln/>
        </p:spPr>
        <p:txBody>
          <a:bodyPr wrap="square" lIns="0" tIns="0" rIns="0" bIns="0" rtlCol="0" anchor="t"/>
          <a:lstStyle/>
          <a:p>
            <a:pPr indent="0" marL="0">
              <a:buNone/>
            </a:pPr>
            <a:r>
              <a:rPr lang="en-US" sz="1400" dirty="0">
                <a:solidFill>
                  <a:schemeClr val="tx1"/>
                </a:solidFill>
              </a:rPr>
              <a:t>Exploration, statut cadastral</a:t>
            </a:r>
            <a:endParaRPr lang="en-US" sz="1400" dirty="0"/>
          </a:p>
        </p:txBody>
      </p:sp>
      <p:sp>
        <p:nvSpPr>
          <p:cNvPr id="27" name="step"/>
          <p:cNvSpPr/>
          <p:nvPr/>
        </p:nvSpPr>
        <p:spPr>
          <a:xfrm>
            <a:off x="548640" y="3840480"/>
            <a:ext cx="2491740" cy="2011680"/>
          </a:xfrm>
          <a:prstGeom prst="roundRect">
            <a:avLst>
              <a:gd name="adj" fmla="val 3636"/>
            </a:avLst>
          </a:prstGeom>
          <a:solidFill>
            <a:srgbClr val="EEF2F3"/>
          </a:solidFill>
          <a:ln w="12700">
            <a:solidFill>
              <a:srgbClr val="EEF2F3"/>
            </a:solidFill>
            <a:prstDash val="solid"/>
          </a:ln>
        </p:spPr>
      </p:sp>
      <p:sp>
        <p:nvSpPr>
          <p:cNvPr id="28" name="step-num"/>
          <p:cNvSpPr/>
          <p:nvPr/>
        </p:nvSpPr>
        <p:spPr>
          <a:xfrm>
            <a:off x="713232" y="4005072"/>
            <a:ext cx="420624" cy="420624"/>
          </a:xfrm>
          <a:prstGeom prst="ellipse">
            <a:avLst/>
          </a:prstGeom>
          <a:solidFill>
            <a:srgbClr val="B5542D"/>
          </a:solidFill>
          <a:ln w="12700">
            <a:solidFill>
              <a:srgbClr val="B5542D"/>
            </a:solidFill>
            <a:prstDash val="solid"/>
          </a:ln>
        </p:spPr>
      </p:sp>
      <p:sp>
        <p:nvSpPr>
          <p:cNvPr id="29" name="Text 26"/>
          <p:cNvSpPr txBox="1"/>
          <p:nvPr/>
        </p:nvSpPr>
        <p:spPr>
          <a:xfrm>
            <a:off x="71323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0" name="Text 27"/>
          <p:cNvSpPr txBox="1"/>
          <p:nvPr/>
        </p:nvSpPr>
        <p:spPr>
          <a:xfrm>
            <a:off x="1207008" y="395020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What product?</a:t>
            </a:r>
            <a:endParaRPr lang="en-US" sz="1500" dirty="0"/>
          </a:p>
        </p:txBody>
      </p:sp>
      <p:sp>
        <p:nvSpPr>
          <p:cNvPr id="31" name="Text 28"/>
          <p:cNvSpPr txBox="1"/>
          <p:nvPr/>
        </p:nvSpPr>
        <p:spPr>
          <a:xfrm>
            <a:off x="713232" y="4572000"/>
            <a:ext cx="2162556" cy="1188720"/>
          </a:xfrm>
          <a:prstGeom prst="rect">
            <a:avLst/>
          </a:prstGeom>
          <a:noFill/>
          <a:ln/>
        </p:spPr>
        <p:txBody>
          <a:bodyPr wrap="square" lIns="0" tIns="0" rIns="0" bIns="0" rtlCol="0" anchor="t"/>
          <a:lstStyle/>
          <a:p>
            <a:pPr indent="0" marL="0">
              <a:buNone/>
            </a:pPr>
            <a:r>
              <a:rPr lang="en-US" sz="1400" dirty="0">
                <a:solidFill>
                  <a:schemeClr val="tx1"/>
                </a:solidFill>
              </a:rPr>
              <a:t>Quel produit vendre ?</a:t>
            </a:r>
            <a:endParaRPr lang="en-US" sz="1400" dirty="0"/>
          </a:p>
        </p:txBody>
      </p:sp>
      <p:sp>
        <p:nvSpPr>
          <p:cNvPr id="32" name="arrow"/>
          <p:cNvSpPr/>
          <p:nvPr/>
        </p:nvSpPr>
        <p:spPr>
          <a:xfrm>
            <a:off x="3113532" y="4718304"/>
            <a:ext cx="219456" cy="256032"/>
          </a:xfrm>
          <a:prstGeom prst="rightArrow">
            <a:avLst/>
          </a:prstGeom>
          <a:solidFill>
            <a:srgbClr val="9AA5AC"/>
          </a:solidFill>
          <a:ln w="12700">
            <a:solidFill>
              <a:srgbClr val="9AA5AC"/>
            </a:solidFill>
            <a:prstDash val="solid"/>
          </a:ln>
        </p:spPr>
      </p:sp>
      <p:sp>
        <p:nvSpPr>
          <p:cNvPr id="33" name="step"/>
          <p:cNvSpPr/>
          <p:nvPr/>
        </p:nvSpPr>
        <p:spPr>
          <a:xfrm>
            <a:off x="3406140" y="3840480"/>
            <a:ext cx="2491740" cy="2011680"/>
          </a:xfrm>
          <a:prstGeom prst="roundRect">
            <a:avLst>
              <a:gd name="adj" fmla="val 3636"/>
            </a:avLst>
          </a:prstGeom>
          <a:solidFill>
            <a:srgbClr val="EEF2F3"/>
          </a:solidFill>
          <a:ln w="12700">
            <a:solidFill>
              <a:srgbClr val="EEF2F3"/>
            </a:solidFill>
            <a:prstDash val="solid"/>
          </a:ln>
        </p:spPr>
      </p:sp>
      <p:sp>
        <p:nvSpPr>
          <p:cNvPr id="34" name="step-num"/>
          <p:cNvSpPr/>
          <p:nvPr/>
        </p:nvSpPr>
        <p:spPr>
          <a:xfrm>
            <a:off x="3570732" y="4005072"/>
            <a:ext cx="420624" cy="420624"/>
          </a:xfrm>
          <a:prstGeom prst="ellipse">
            <a:avLst/>
          </a:prstGeom>
          <a:solidFill>
            <a:srgbClr val="B5542D"/>
          </a:solidFill>
          <a:ln w="12700">
            <a:solidFill>
              <a:srgbClr val="B5542D"/>
            </a:solidFill>
            <a:prstDash val="solid"/>
          </a:ln>
        </p:spPr>
      </p:sp>
      <p:sp>
        <p:nvSpPr>
          <p:cNvPr id="35" name="Text 32"/>
          <p:cNvSpPr txBox="1"/>
          <p:nvPr/>
        </p:nvSpPr>
        <p:spPr>
          <a:xfrm>
            <a:off x="357073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6" name="Text 33"/>
          <p:cNvSpPr txBox="1"/>
          <p:nvPr/>
        </p:nvSpPr>
        <p:spPr>
          <a:xfrm>
            <a:off x="4064508" y="395020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Where to process?</a:t>
            </a:r>
            <a:endParaRPr lang="en-US" sz="1500" dirty="0"/>
          </a:p>
        </p:txBody>
      </p:sp>
      <p:sp>
        <p:nvSpPr>
          <p:cNvPr id="37" name="Text 34"/>
          <p:cNvSpPr txBox="1"/>
          <p:nvPr/>
        </p:nvSpPr>
        <p:spPr>
          <a:xfrm>
            <a:off x="3570732" y="4572000"/>
            <a:ext cx="2162556" cy="1188720"/>
          </a:xfrm>
          <a:prstGeom prst="rect">
            <a:avLst/>
          </a:prstGeom>
          <a:noFill/>
          <a:ln/>
        </p:spPr>
        <p:txBody>
          <a:bodyPr wrap="square" lIns="0" tIns="0" rIns="0" bIns="0" rtlCol="0" anchor="t"/>
          <a:lstStyle/>
          <a:p>
            <a:pPr indent="0" marL="0">
              <a:buNone/>
            </a:pPr>
            <a:r>
              <a:rPr lang="en-US" sz="1400" dirty="0">
                <a:solidFill>
                  <a:schemeClr val="tx1"/>
                </a:solidFill>
              </a:rPr>
              <a:t>Énergie, eau, rail, port</a:t>
            </a:r>
            <a:endParaRPr lang="en-US" sz="1400" dirty="0"/>
          </a:p>
        </p:txBody>
      </p:sp>
      <p:sp>
        <p:nvSpPr>
          <p:cNvPr id="38" name="arrow"/>
          <p:cNvSpPr/>
          <p:nvPr/>
        </p:nvSpPr>
        <p:spPr>
          <a:xfrm>
            <a:off x="5971032" y="4718304"/>
            <a:ext cx="219456" cy="256032"/>
          </a:xfrm>
          <a:prstGeom prst="rightArrow">
            <a:avLst/>
          </a:prstGeom>
          <a:solidFill>
            <a:srgbClr val="9AA5AC"/>
          </a:solidFill>
          <a:ln w="12700">
            <a:solidFill>
              <a:srgbClr val="9AA5AC"/>
            </a:solidFill>
            <a:prstDash val="solid"/>
          </a:ln>
        </p:spPr>
      </p:sp>
      <p:sp>
        <p:nvSpPr>
          <p:cNvPr id="39" name="step"/>
          <p:cNvSpPr/>
          <p:nvPr/>
        </p:nvSpPr>
        <p:spPr>
          <a:xfrm>
            <a:off x="6263640" y="3840480"/>
            <a:ext cx="2491740" cy="2011680"/>
          </a:xfrm>
          <a:prstGeom prst="roundRect">
            <a:avLst>
              <a:gd name="adj" fmla="val 3636"/>
            </a:avLst>
          </a:prstGeom>
          <a:solidFill>
            <a:srgbClr val="EEF2F3"/>
          </a:solidFill>
          <a:ln w="12700">
            <a:solidFill>
              <a:srgbClr val="EEF2F3"/>
            </a:solidFill>
            <a:prstDash val="solid"/>
          </a:ln>
        </p:spPr>
      </p:sp>
      <p:sp>
        <p:nvSpPr>
          <p:cNvPr id="40" name="step-num"/>
          <p:cNvSpPr/>
          <p:nvPr/>
        </p:nvSpPr>
        <p:spPr>
          <a:xfrm>
            <a:off x="6428232" y="4005072"/>
            <a:ext cx="420624" cy="420624"/>
          </a:xfrm>
          <a:prstGeom prst="ellipse">
            <a:avLst/>
          </a:prstGeom>
          <a:solidFill>
            <a:srgbClr val="B5542D"/>
          </a:solidFill>
          <a:ln w="12700">
            <a:solidFill>
              <a:srgbClr val="B5542D"/>
            </a:solidFill>
            <a:prstDash val="solid"/>
          </a:ln>
        </p:spPr>
      </p:sp>
      <p:sp>
        <p:nvSpPr>
          <p:cNvPr id="41" name="Text 38"/>
          <p:cNvSpPr txBox="1"/>
          <p:nvPr/>
        </p:nvSpPr>
        <p:spPr>
          <a:xfrm>
            <a:off x="642823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42" name="Text 39"/>
          <p:cNvSpPr txBox="1"/>
          <p:nvPr/>
        </p:nvSpPr>
        <p:spPr>
          <a:xfrm>
            <a:off x="6922008" y="3950208"/>
            <a:ext cx="1714500" cy="548640"/>
          </a:xfrm>
          <a:prstGeom prst="rect">
            <a:avLst/>
          </a:prstGeom>
          <a:noFill/>
          <a:ln/>
        </p:spPr>
        <p:txBody>
          <a:bodyPr wrap="square" lIns="0" tIns="0" rIns="0" bIns="0" rtlCol="0" anchor="ctr"/>
          <a:lstStyle/>
          <a:p>
            <a:pPr indent="0" marL="0">
              <a:buNone/>
            </a:pPr>
            <a:r>
              <a:rPr lang="en-US" sz="1500" b="1" dirty="0">
                <a:solidFill>
                  <a:schemeClr val="tx2"/>
                </a:solidFill>
              </a:rPr>
              <a:t>Where to sell?</a:t>
            </a:r>
            <a:endParaRPr lang="en-US" sz="1500" dirty="0"/>
          </a:p>
        </p:txBody>
      </p:sp>
      <p:sp>
        <p:nvSpPr>
          <p:cNvPr id="43" name="Text 40"/>
          <p:cNvSpPr txBox="1"/>
          <p:nvPr/>
        </p:nvSpPr>
        <p:spPr>
          <a:xfrm>
            <a:off x="6428232" y="4572000"/>
            <a:ext cx="2162556" cy="1188720"/>
          </a:xfrm>
          <a:prstGeom prst="rect">
            <a:avLst/>
          </a:prstGeom>
          <a:noFill/>
          <a:ln/>
        </p:spPr>
        <p:txBody>
          <a:bodyPr wrap="square" lIns="0" tIns="0" rIns="0" bIns="0" rtlCol="0" anchor="t"/>
          <a:lstStyle/>
          <a:p>
            <a:pPr indent="0" marL="0">
              <a:buNone/>
            </a:pPr>
            <a:r>
              <a:rPr lang="en-US" sz="1400" dirty="0">
                <a:solidFill>
                  <a:schemeClr val="tx1"/>
                </a:solidFill>
              </a:rPr>
              <a:t>Quels marchés ?</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Douze livrables pour un dossier complet</a:t>
            </a:r>
            <a:endParaRPr lang="en-US" sz="3000" dirty="0"/>
          </a:p>
        </p:txBody>
      </p:sp>
      <p:sp>
        <p:nvSpPr>
          <p:cNvPr id="4" name="num"/>
          <p:cNvSpPr/>
          <p:nvPr/>
        </p:nvSpPr>
        <p:spPr>
          <a:xfrm>
            <a:off x="548640" y="1417320"/>
            <a:ext cx="402336" cy="402336"/>
          </a:xfrm>
          <a:prstGeom prst="ellipse">
            <a:avLst/>
          </a:prstGeom>
          <a:solidFill>
            <a:srgbClr val="3E7C6B"/>
          </a:solidFill>
          <a:ln w="12700">
            <a:solidFill>
              <a:srgbClr val="3E7C6B"/>
            </a:solidFill>
            <a:prstDash val="solid"/>
          </a:ln>
        </p:spPr>
      </p:sp>
      <p:sp>
        <p:nvSpPr>
          <p:cNvPr id="5" name="Text 2"/>
          <p:cNvSpPr txBox="1"/>
          <p:nvPr/>
        </p:nvSpPr>
        <p:spPr>
          <a:xfrm>
            <a:off x="54864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097280" y="1362456"/>
            <a:ext cx="4800600" cy="713232"/>
          </a:xfrm>
          <a:prstGeom prst="rect">
            <a:avLst/>
          </a:prstGeom>
          <a:noFill/>
          <a:ln/>
        </p:spPr>
        <p:txBody>
          <a:bodyPr wrap="square" lIns="0" tIns="0" rIns="0" bIns="0" rtlCol="0" anchor="t"/>
          <a:lstStyle/>
          <a:p>
            <a:pPr indent="0" marL="0">
              <a:buNone/>
            </a:pPr>
            <a:r>
              <a:rPr lang="en-US" sz="1500" dirty="0">
                <a:solidFill>
                  <a:schemeClr val="tx1"/>
                </a:solidFill>
              </a:rPr>
              <a:t>Carte géologique</a:t>
            </a:r>
            <a:endParaRPr lang="en-US" sz="1500" dirty="0"/>
          </a:p>
        </p:txBody>
      </p:sp>
      <p:sp>
        <p:nvSpPr>
          <p:cNvPr id="7" name="num"/>
          <p:cNvSpPr/>
          <p:nvPr/>
        </p:nvSpPr>
        <p:spPr>
          <a:xfrm>
            <a:off x="548640" y="2167128"/>
            <a:ext cx="402336" cy="402336"/>
          </a:xfrm>
          <a:prstGeom prst="ellipse">
            <a:avLst/>
          </a:prstGeom>
          <a:solidFill>
            <a:srgbClr val="3E7C6B"/>
          </a:solidFill>
          <a:ln w="12700">
            <a:solidFill>
              <a:srgbClr val="3E7C6B"/>
            </a:solidFill>
            <a:prstDash val="solid"/>
          </a:ln>
        </p:spPr>
      </p:sp>
      <p:sp>
        <p:nvSpPr>
          <p:cNvPr id="8" name="Text 5"/>
          <p:cNvSpPr txBox="1"/>
          <p:nvPr/>
        </p:nvSpPr>
        <p:spPr>
          <a:xfrm>
            <a:off x="548640" y="21671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1097280" y="2112264"/>
            <a:ext cx="4800600" cy="713232"/>
          </a:xfrm>
          <a:prstGeom prst="rect">
            <a:avLst/>
          </a:prstGeom>
          <a:noFill/>
          <a:ln/>
        </p:spPr>
        <p:txBody>
          <a:bodyPr wrap="square" lIns="0" tIns="0" rIns="0" bIns="0" rtlCol="0" anchor="t"/>
          <a:lstStyle/>
          <a:p>
            <a:pPr indent="0" marL="0">
              <a:buNone/>
            </a:pPr>
            <a:r>
              <a:rPr lang="en-US" sz="1500" dirty="0">
                <a:solidFill>
                  <a:schemeClr val="tx1"/>
                </a:solidFill>
              </a:rPr>
              <a:t>Carte des anomalies spectrales</a:t>
            </a:r>
            <a:endParaRPr lang="en-US" sz="1500" dirty="0"/>
          </a:p>
        </p:txBody>
      </p:sp>
      <p:sp>
        <p:nvSpPr>
          <p:cNvPr id="10" name="num"/>
          <p:cNvSpPr/>
          <p:nvPr/>
        </p:nvSpPr>
        <p:spPr>
          <a:xfrm>
            <a:off x="548640" y="2916936"/>
            <a:ext cx="402336" cy="402336"/>
          </a:xfrm>
          <a:prstGeom prst="ellipse">
            <a:avLst/>
          </a:prstGeom>
          <a:solidFill>
            <a:srgbClr val="3E7C6B"/>
          </a:solidFill>
          <a:ln w="12700">
            <a:solidFill>
              <a:srgbClr val="3E7C6B"/>
            </a:solidFill>
            <a:prstDash val="solid"/>
          </a:ln>
        </p:spPr>
      </p:sp>
      <p:sp>
        <p:nvSpPr>
          <p:cNvPr id="11" name="Text 8"/>
          <p:cNvSpPr txBox="1"/>
          <p:nvPr/>
        </p:nvSpPr>
        <p:spPr>
          <a:xfrm>
            <a:off x="54864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1097280" y="2862072"/>
            <a:ext cx="4800600" cy="713232"/>
          </a:xfrm>
          <a:prstGeom prst="rect">
            <a:avLst/>
          </a:prstGeom>
          <a:noFill/>
          <a:ln/>
        </p:spPr>
        <p:txBody>
          <a:bodyPr wrap="square" lIns="0" tIns="0" rIns="0" bIns="0" rtlCol="0" anchor="t"/>
          <a:lstStyle/>
          <a:p>
            <a:pPr indent="0" marL="0">
              <a:buNone/>
            </a:pPr>
            <a:r>
              <a:rPr lang="en-US" sz="1500" dirty="0">
                <a:solidFill>
                  <a:schemeClr val="tx1"/>
                </a:solidFill>
              </a:rPr>
              <a:t>Carte des structures</a:t>
            </a:r>
            <a:endParaRPr lang="en-US" sz="1500" dirty="0"/>
          </a:p>
        </p:txBody>
      </p:sp>
      <p:sp>
        <p:nvSpPr>
          <p:cNvPr id="13" name="num"/>
          <p:cNvSpPr/>
          <p:nvPr/>
        </p:nvSpPr>
        <p:spPr>
          <a:xfrm>
            <a:off x="548640" y="3666744"/>
            <a:ext cx="402336" cy="402336"/>
          </a:xfrm>
          <a:prstGeom prst="ellipse">
            <a:avLst/>
          </a:prstGeom>
          <a:solidFill>
            <a:srgbClr val="3E7C6B"/>
          </a:solidFill>
          <a:ln w="12700">
            <a:solidFill>
              <a:srgbClr val="3E7C6B"/>
            </a:solidFill>
            <a:prstDash val="solid"/>
          </a:ln>
        </p:spPr>
      </p:sp>
      <p:sp>
        <p:nvSpPr>
          <p:cNvPr id="14" name="Text 11"/>
          <p:cNvSpPr txBox="1"/>
          <p:nvPr/>
        </p:nvSpPr>
        <p:spPr>
          <a:xfrm>
            <a:off x="548640" y="36667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2"/>
          <p:cNvSpPr txBox="1"/>
          <p:nvPr/>
        </p:nvSpPr>
        <p:spPr>
          <a:xfrm>
            <a:off x="1097280" y="3611880"/>
            <a:ext cx="4800600" cy="713232"/>
          </a:xfrm>
          <a:prstGeom prst="rect">
            <a:avLst/>
          </a:prstGeom>
          <a:noFill/>
          <a:ln/>
        </p:spPr>
        <p:txBody>
          <a:bodyPr wrap="square" lIns="0" tIns="0" rIns="0" bIns="0" rtlCol="0" anchor="t"/>
          <a:lstStyle/>
          <a:p>
            <a:pPr indent="0" marL="0">
              <a:buNone/>
            </a:pPr>
            <a:r>
              <a:rPr lang="en-US" sz="1500" dirty="0">
                <a:solidFill>
                  <a:schemeClr val="tx1"/>
                </a:solidFill>
              </a:rPr>
              <a:t>Carte géochimique</a:t>
            </a:r>
            <a:endParaRPr lang="en-US" sz="1500" dirty="0"/>
          </a:p>
        </p:txBody>
      </p:sp>
      <p:sp>
        <p:nvSpPr>
          <p:cNvPr id="16" name="num"/>
          <p:cNvSpPr/>
          <p:nvPr/>
        </p:nvSpPr>
        <p:spPr>
          <a:xfrm>
            <a:off x="548640" y="4416552"/>
            <a:ext cx="402336" cy="402336"/>
          </a:xfrm>
          <a:prstGeom prst="ellipse">
            <a:avLst/>
          </a:prstGeom>
          <a:solidFill>
            <a:srgbClr val="3E7C6B"/>
          </a:solidFill>
          <a:ln w="12700">
            <a:solidFill>
              <a:srgbClr val="3E7C6B"/>
            </a:solidFill>
            <a:prstDash val="solid"/>
          </a:ln>
        </p:spPr>
      </p:sp>
      <p:sp>
        <p:nvSpPr>
          <p:cNvPr id="17" name="Text 14"/>
          <p:cNvSpPr txBox="1"/>
          <p:nvPr/>
        </p:nvSpPr>
        <p:spPr>
          <a:xfrm>
            <a:off x="548640" y="4416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5"/>
          <p:cNvSpPr txBox="1"/>
          <p:nvPr/>
        </p:nvSpPr>
        <p:spPr>
          <a:xfrm>
            <a:off x="1097280" y="4361688"/>
            <a:ext cx="4800600" cy="713232"/>
          </a:xfrm>
          <a:prstGeom prst="rect">
            <a:avLst/>
          </a:prstGeom>
          <a:noFill/>
          <a:ln/>
        </p:spPr>
        <p:txBody>
          <a:bodyPr wrap="square" lIns="0" tIns="0" rIns="0" bIns="0" rtlCol="0" anchor="t"/>
          <a:lstStyle/>
          <a:p>
            <a:pPr indent="0" marL="0">
              <a:buNone/>
            </a:pPr>
            <a:r>
              <a:rPr lang="en-US" sz="1500" dirty="0">
                <a:solidFill>
                  <a:schemeClr val="tx1"/>
                </a:solidFill>
              </a:rPr>
              <a:t>Carte de prospectivité et courbe de validation</a:t>
            </a:r>
            <a:endParaRPr lang="en-US" sz="1500" dirty="0"/>
          </a:p>
        </p:txBody>
      </p:sp>
      <p:sp>
        <p:nvSpPr>
          <p:cNvPr id="19" name="num"/>
          <p:cNvSpPr/>
          <p:nvPr/>
        </p:nvSpPr>
        <p:spPr>
          <a:xfrm>
            <a:off x="548640" y="5166360"/>
            <a:ext cx="402336" cy="402336"/>
          </a:xfrm>
          <a:prstGeom prst="ellipse">
            <a:avLst/>
          </a:prstGeom>
          <a:solidFill>
            <a:srgbClr val="3E7C6B"/>
          </a:solidFill>
          <a:ln w="12700">
            <a:solidFill>
              <a:srgbClr val="3E7C6B"/>
            </a:solidFill>
            <a:prstDash val="solid"/>
          </a:ln>
        </p:spPr>
      </p:sp>
      <p:sp>
        <p:nvSpPr>
          <p:cNvPr id="20" name="Text 17"/>
          <p:cNvSpPr txBox="1"/>
          <p:nvPr/>
        </p:nvSpPr>
        <p:spPr>
          <a:xfrm>
            <a:off x="548640" y="5166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8"/>
          <p:cNvSpPr txBox="1"/>
          <p:nvPr/>
        </p:nvSpPr>
        <p:spPr>
          <a:xfrm>
            <a:off x="1097280" y="5111496"/>
            <a:ext cx="4800600" cy="713232"/>
          </a:xfrm>
          <a:prstGeom prst="rect">
            <a:avLst/>
          </a:prstGeom>
          <a:noFill/>
          <a:ln/>
        </p:spPr>
        <p:txBody>
          <a:bodyPr wrap="square" lIns="0" tIns="0" rIns="0" bIns="0" rtlCol="0" anchor="t"/>
          <a:lstStyle/>
          <a:p>
            <a:pPr indent="0" marL="0">
              <a:buNone/>
            </a:pPr>
            <a:r>
              <a:rPr lang="en-US" sz="1500" dirty="0">
                <a:solidFill>
                  <a:schemeClr val="tx1"/>
                </a:solidFill>
              </a:rPr>
              <a:t>Top 5 à 10 des cibles</a:t>
            </a:r>
            <a:endParaRPr lang="en-US" sz="1500" dirty="0"/>
          </a:p>
        </p:txBody>
      </p:sp>
      <p:sp>
        <p:nvSpPr>
          <p:cNvPr id="22" name="num"/>
          <p:cNvSpPr/>
          <p:nvPr/>
        </p:nvSpPr>
        <p:spPr>
          <a:xfrm>
            <a:off x="6263640" y="1417320"/>
            <a:ext cx="402336" cy="402336"/>
          </a:xfrm>
          <a:prstGeom prst="ellipse">
            <a:avLst/>
          </a:prstGeom>
          <a:solidFill>
            <a:srgbClr val="3E7C6B"/>
          </a:solidFill>
          <a:ln w="12700">
            <a:solidFill>
              <a:srgbClr val="3E7C6B"/>
            </a:solidFill>
            <a:prstDash val="solid"/>
          </a:ln>
        </p:spPr>
      </p:sp>
      <p:sp>
        <p:nvSpPr>
          <p:cNvPr id="23" name="Text 20"/>
          <p:cNvSpPr txBox="1"/>
          <p:nvPr/>
        </p:nvSpPr>
        <p:spPr>
          <a:xfrm>
            <a:off x="626364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4" name="Text 21"/>
          <p:cNvSpPr txBox="1"/>
          <p:nvPr/>
        </p:nvSpPr>
        <p:spPr>
          <a:xfrm>
            <a:off x="6812280" y="1362456"/>
            <a:ext cx="4800600" cy="713232"/>
          </a:xfrm>
          <a:prstGeom prst="rect">
            <a:avLst/>
          </a:prstGeom>
          <a:noFill/>
          <a:ln/>
        </p:spPr>
        <p:txBody>
          <a:bodyPr wrap="square" lIns="0" tIns="0" rIns="0" bIns="0" rtlCol="0" anchor="t"/>
          <a:lstStyle/>
          <a:p>
            <a:pPr indent="0" marL="0">
              <a:buNone/>
            </a:pPr>
            <a:r>
              <a:rPr lang="en-US" sz="1500" dirty="0">
                <a:solidFill>
                  <a:schemeClr val="tx1"/>
                </a:solidFill>
              </a:rPr>
              <a:t>Fiche par cible</a:t>
            </a:r>
            <a:endParaRPr lang="en-US" sz="1500" dirty="0"/>
          </a:p>
        </p:txBody>
      </p:sp>
      <p:sp>
        <p:nvSpPr>
          <p:cNvPr id="25" name="num"/>
          <p:cNvSpPr/>
          <p:nvPr/>
        </p:nvSpPr>
        <p:spPr>
          <a:xfrm>
            <a:off x="6263640" y="2167128"/>
            <a:ext cx="402336" cy="402336"/>
          </a:xfrm>
          <a:prstGeom prst="ellipse">
            <a:avLst/>
          </a:prstGeom>
          <a:solidFill>
            <a:srgbClr val="3E7C6B"/>
          </a:solidFill>
          <a:ln w="12700">
            <a:solidFill>
              <a:srgbClr val="3E7C6B"/>
            </a:solidFill>
            <a:prstDash val="solid"/>
          </a:ln>
        </p:spPr>
      </p:sp>
      <p:sp>
        <p:nvSpPr>
          <p:cNvPr id="26" name="Text 23"/>
          <p:cNvSpPr txBox="1"/>
          <p:nvPr/>
        </p:nvSpPr>
        <p:spPr>
          <a:xfrm>
            <a:off x="6263640" y="21671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27" name="Text 24"/>
          <p:cNvSpPr txBox="1"/>
          <p:nvPr/>
        </p:nvSpPr>
        <p:spPr>
          <a:xfrm>
            <a:off x="6812280" y="2112264"/>
            <a:ext cx="4800600" cy="713232"/>
          </a:xfrm>
          <a:prstGeom prst="rect">
            <a:avLst/>
          </a:prstGeom>
          <a:noFill/>
          <a:ln/>
        </p:spPr>
        <p:txBody>
          <a:bodyPr wrap="square" lIns="0" tIns="0" rIns="0" bIns="0" rtlCol="0" anchor="t"/>
          <a:lstStyle/>
          <a:p>
            <a:pPr indent="0" marL="0">
              <a:buNone/>
            </a:pPr>
            <a:r>
              <a:rPr lang="en-US" sz="1500" dirty="0">
                <a:solidFill>
                  <a:schemeClr val="tx1"/>
                </a:solidFill>
              </a:rPr>
              <a:t>Chaîne de transformation du minerai</a:t>
            </a:r>
            <a:endParaRPr lang="en-US" sz="1500" dirty="0"/>
          </a:p>
        </p:txBody>
      </p:sp>
      <p:sp>
        <p:nvSpPr>
          <p:cNvPr id="28" name="num"/>
          <p:cNvSpPr/>
          <p:nvPr/>
        </p:nvSpPr>
        <p:spPr>
          <a:xfrm>
            <a:off x="6263640" y="2916936"/>
            <a:ext cx="402336" cy="402336"/>
          </a:xfrm>
          <a:prstGeom prst="ellipse">
            <a:avLst/>
          </a:prstGeom>
          <a:solidFill>
            <a:srgbClr val="3E7C6B"/>
          </a:solidFill>
          <a:ln w="12700">
            <a:solidFill>
              <a:srgbClr val="3E7C6B"/>
            </a:solidFill>
            <a:prstDash val="solid"/>
          </a:ln>
        </p:spPr>
      </p:sp>
      <p:sp>
        <p:nvSpPr>
          <p:cNvPr id="29" name="Text 26"/>
          <p:cNvSpPr txBox="1"/>
          <p:nvPr/>
        </p:nvSpPr>
        <p:spPr>
          <a:xfrm>
            <a:off x="626364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30" name="Text 27"/>
          <p:cNvSpPr txBox="1"/>
          <p:nvPr/>
        </p:nvSpPr>
        <p:spPr>
          <a:xfrm>
            <a:off x="6812280" y="2862072"/>
            <a:ext cx="4800600" cy="713232"/>
          </a:xfrm>
          <a:prstGeom prst="rect">
            <a:avLst/>
          </a:prstGeom>
          <a:noFill/>
          <a:ln/>
        </p:spPr>
        <p:txBody>
          <a:bodyPr wrap="square" lIns="0" tIns="0" rIns="0" bIns="0" rtlCol="0" anchor="t"/>
          <a:lstStyle/>
          <a:p>
            <a:pPr indent="0" marL="0">
              <a:buNone/>
            </a:pPr>
            <a:r>
              <a:rPr lang="en-US" sz="1500" dirty="0">
                <a:solidFill>
                  <a:schemeClr val="tx1"/>
                </a:solidFill>
              </a:rPr>
              <a:t>Analyse du produit minier</a:t>
            </a:r>
            <a:endParaRPr lang="en-US" sz="1500" dirty="0"/>
          </a:p>
        </p:txBody>
      </p:sp>
      <p:sp>
        <p:nvSpPr>
          <p:cNvPr id="31" name="num"/>
          <p:cNvSpPr/>
          <p:nvPr/>
        </p:nvSpPr>
        <p:spPr>
          <a:xfrm>
            <a:off x="6263640" y="3666744"/>
            <a:ext cx="402336" cy="402336"/>
          </a:xfrm>
          <a:prstGeom prst="ellipse">
            <a:avLst/>
          </a:prstGeom>
          <a:solidFill>
            <a:srgbClr val="3E7C6B"/>
          </a:solidFill>
          <a:ln w="12700">
            <a:solidFill>
              <a:srgbClr val="3E7C6B"/>
            </a:solidFill>
            <a:prstDash val="solid"/>
          </a:ln>
        </p:spPr>
      </p:sp>
      <p:sp>
        <p:nvSpPr>
          <p:cNvPr id="32" name="Text 29"/>
          <p:cNvSpPr txBox="1"/>
          <p:nvPr/>
        </p:nvSpPr>
        <p:spPr>
          <a:xfrm>
            <a:off x="6263640" y="36667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10</a:t>
            </a:r>
            <a:endParaRPr lang="en-US" sz="1400" dirty="0"/>
          </a:p>
        </p:txBody>
      </p:sp>
      <p:sp>
        <p:nvSpPr>
          <p:cNvPr id="33" name="Text 30"/>
          <p:cNvSpPr txBox="1"/>
          <p:nvPr/>
        </p:nvSpPr>
        <p:spPr>
          <a:xfrm>
            <a:off x="6812280" y="3611880"/>
            <a:ext cx="4800600" cy="713232"/>
          </a:xfrm>
          <a:prstGeom prst="rect">
            <a:avLst/>
          </a:prstGeom>
          <a:noFill/>
          <a:ln/>
        </p:spPr>
        <p:txBody>
          <a:bodyPr wrap="square" lIns="0" tIns="0" rIns="0" bIns="0" rtlCol="0" anchor="t"/>
          <a:lstStyle/>
          <a:p>
            <a:pPr indent="0" marL="0">
              <a:buNone/>
            </a:pPr>
            <a:r>
              <a:rPr lang="en-US" sz="1500" dirty="0">
                <a:solidFill>
                  <a:schemeClr val="tx1"/>
                </a:solidFill>
              </a:rPr>
              <a:t>Analyse infrastructures et logistique</a:t>
            </a:r>
            <a:endParaRPr lang="en-US" sz="1500" dirty="0"/>
          </a:p>
        </p:txBody>
      </p:sp>
      <p:sp>
        <p:nvSpPr>
          <p:cNvPr id="34" name="num"/>
          <p:cNvSpPr/>
          <p:nvPr/>
        </p:nvSpPr>
        <p:spPr>
          <a:xfrm>
            <a:off x="6263640" y="4416552"/>
            <a:ext cx="402336" cy="402336"/>
          </a:xfrm>
          <a:prstGeom prst="ellipse">
            <a:avLst/>
          </a:prstGeom>
          <a:solidFill>
            <a:srgbClr val="3E7C6B"/>
          </a:solidFill>
          <a:ln w="12700">
            <a:solidFill>
              <a:srgbClr val="3E7C6B"/>
            </a:solidFill>
            <a:prstDash val="solid"/>
          </a:ln>
        </p:spPr>
      </p:sp>
      <p:sp>
        <p:nvSpPr>
          <p:cNvPr id="35" name="Text 32"/>
          <p:cNvSpPr txBox="1"/>
          <p:nvPr/>
        </p:nvSpPr>
        <p:spPr>
          <a:xfrm>
            <a:off x="6263640" y="4416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11</a:t>
            </a:r>
            <a:endParaRPr lang="en-US" sz="1400" dirty="0"/>
          </a:p>
        </p:txBody>
      </p:sp>
      <p:sp>
        <p:nvSpPr>
          <p:cNvPr id="36" name="Text 33"/>
          <p:cNvSpPr txBox="1"/>
          <p:nvPr/>
        </p:nvSpPr>
        <p:spPr>
          <a:xfrm>
            <a:off x="6812280" y="4361688"/>
            <a:ext cx="4800600" cy="713232"/>
          </a:xfrm>
          <a:prstGeom prst="rect">
            <a:avLst/>
          </a:prstGeom>
          <a:noFill/>
          <a:ln/>
        </p:spPr>
        <p:txBody>
          <a:bodyPr wrap="square" lIns="0" tIns="0" rIns="0" bIns="0" rtlCol="0" anchor="t"/>
          <a:lstStyle/>
          <a:p>
            <a:pPr indent="0" marL="0">
              <a:buNone/>
            </a:pPr>
            <a:r>
              <a:rPr lang="en-US" sz="1500" dirty="0">
                <a:solidFill>
                  <a:schemeClr val="tx1"/>
                </a:solidFill>
              </a:rPr>
              <a:t>Analyse du marché</a:t>
            </a:r>
            <a:endParaRPr lang="en-US" sz="1500" dirty="0"/>
          </a:p>
        </p:txBody>
      </p:sp>
      <p:sp>
        <p:nvSpPr>
          <p:cNvPr id="37" name="num"/>
          <p:cNvSpPr/>
          <p:nvPr/>
        </p:nvSpPr>
        <p:spPr>
          <a:xfrm>
            <a:off x="6263640" y="5166360"/>
            <a:ext cx="402336" cy="402336"/>
          </a:xfrm>
          <a:prstGeom prst="ellipse">
            <a:avLst/>
          </a:prstGeom>
          <a:solidFill>
            <a:srgbClr val="3E7C6B"/>
          </a:solidFill>
          <a:ln w="12700">
            <a:solidFill>
              <a:srgbClr val="3E7C6B"/>
            </a:solidFill>
            <a:prstDash val="solid"/>
          </a:ln>
        </p:spPr>
      </p:sp>
      <p:sp>
        <p:nvSpPr>
          <p:cNvPr id="38" name="Text 35"/>
          <p:cNvSpPr txBox="1"/>
          <p:nvPr/>
        </p:nvSpPr>
        <p:spPr>
          <a:xfrm>
            <a:off x="6263640" y="5166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12</a:t>
            </a:r>
            <a:endParaRPr lang="en-US" sz="1400" dirty="0"/>
          </a:p>
        </p:txBody>
      </p:sp>
      <p:sp>
        <p:nvSpPr>
          <p:cNvPr id="39" name="Text 36"/>
          <p:cNvSpPr txBox="1"/>
          <p:nvPr/>
        </p:nvSpPr>
        <p:spPr>
          <a:xfrm>
            <a:off x="6812280" y="5111496"/>
            <a:ext cx="4800600" cy="713232"/>
          </a:xfrm>
          <a:prstGeom prst="rect">
            <a:avLst/>
          </a:prstGeom>
          <a:noFill/>
          <a:ln/>
        </p:spPr>
        <p:txBody>
          <a:bodyPr wrap="square" lIns="0" tIns="0" rIns="0" bIns="0" rtlCol="0" anchor="t"/>
          <a:lstStyle/>
          <a:p>
            <a:pPr indent="0" marL="0">
              <a:buNone/>
            </a:pPr>
            <a:r>
              <a:rPr lang="en-US" sz="1500" dirty="0">
                <a:solidFill>
                  <a:schemeClr val="tx1"/>
                </a:solidFill>
              </a:rPr>
              <a:t>Mini investment brief (2 pages)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La méthode et la validation comptent pour 40 points sur 100</a:t>
            </a:r>
            <a:endParaRPr lang="en-US" sz="3000" dirty="0"/>
          </a:p>
        </p:txBody>
      </p:sp>
      <p:graphicFrame>
        <p:nvGraphicFramePr>
          <p:cNvPr id="4" name="Chart 0" descr=""/>
          <p:cNvGraphicFramePr/>
          <p:nvPr/>
        </p:nvGraphicFramePr>
        <p:xfrm>
          <a:off x="548640" y="137160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5" name="panel"/>
          <p:cNvSpPr/>
          <p:nvPr/>
        </p:nvSpPr>
        <p:spPr>
          <a:xfrm>
            <a:off x="8321040" y="1417320"/>
            <a:ext cx="3291840" cy="4663440"/>
          </a:xfrm>
          <a:prstGeom prst="roundRect">
            <a:avLst>
              <a:gd name="adj" fmla="val 2222"/>
            </a:avLst>
          </a:prstGeom>
          <a:solidFill>
            <a:schemeClr val="bg2"/>
          </a:solidFill>
          <a:ln w="12700">
            <a:solidFill>
              <a:schemeClr val="bg2"/>
            </a:solidFill>
            <a:prstDash val="solid"/>
          </a:ln>
        </p:spPr>
      </p:sp>
      <p:sp>
        <p:nvSpPr>
          <p:cNvPr id="6" name="icon-circle"/>
          <p:cNvSpPr/>
          <p:nvPr/>
        </p:nvSpPr>
        <p:spPr>
          <a:xfrm>
            <a:off x="8549640" y="1645920"/>
            <a:ext cx="548640" cy="548640"/>
          </a:xfrm>
          <a:prstGeom prst="ellipse">
            <a:avLst/>
          </a:prstGeom>
          <a:solidFill>
            <a:srgbClr val="D9A441"/>
          </a:solidFill>
          <a:ln w="12700">
            <a:solidFill>
              <a:srgbClr val="D9A441"/>
            </a:solidFill>
            <a:prstDash val="solid"/>
          </a:ln>
        </p:spPr>
      </p:sp>
      <p:pic>
        <p:nvPicPr>
          <p:cNvPr id="7" name="icon" descr="preencoded.png">    </p:cNvPr>
          <p:cNvPicPr>
            <a:picLocks noChangeAspect="1"/>
          </p:cNvPicPr>
          <p:nvPr/>
        </p:nvPicPr>
        <p:blipFill>
          <a:blip r:embed="rId2"/>
          <a:stretch>
            <a:fillRect/>
          </a:stretch>
        </p:blipFill>
        <p:spPr>
          <a:xfrm>
            <a:off x="8670341" y="1766621"/>
            <a:ext cx="307238" cy="307238"/>
          </a:xfrm>
          <a:prstGeom prst="rect">
            <a:avLst/>
          </a:prstGeom>
        </p:spPr>
      </p:pic>
      <p:sp>
        <p:nvSpPr>
          <p:cNvPr id="8" name="Text 3"/>
          <p:cNvSpPr txBox="1"/>
          <p:nvPr/>
        </p:nvSpPr>
        <p:spPr>
          <a:xfrm>
            <a:off x="9235440" y="1645920"/>
            <a:ext cx="2194560" cy="548640"/>
          </a:xfrm>
          <a:prstGeom prst="rect">
            <a:avLst/>
          </a:prstGeom>
          <a:noFill/>
          <a:ln/>
        </p:spPr>
        <p:txBody>
          <a:bodyPr wrap="square" lIns="0" tIns="0" rIns="0" bIns="0" rtlCol="0" anchor="ctr"/>
          <a:lstStyle/>
          <a:p>
            <a:pPr indent="0" marL="0">
              <a:buNone/>
            </a:pPr>
            <a:r>
              <a:rPr lang="en-US" sz="1800" b="1" dirty="0">
                <a:solidFill>
                  <a:schemeClr val="tx2"/>
                </a:solidFill>
              </a:rPr>
              <a:t>Certification</a:t>
            </a:r>
            <a:endParaRPr lang="en-US" sz="1800" dirty="0"/>
          </a:p>
        </p:txBody>
      </p:sp>
      <p:sp>
        <p:nvSpPr>
          <p:cNvPr id="9" name="Text 4"/>
          <p:cNvSpPr txBox="1"/>
          <p:nvPr/>
        </p:nvSpPr>
        <p:spPr>
          <a:xfrm>
            <a:off x="8595360" y="2377440"/>
            <a:ext cx="274320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60/100 minimum</a:t>
            </a:r>
            <a:endParaRPr lang="en-US" sz="1500" dirty="0"/>
          </a:p>
          <a:p>
            <a:pPr marL="342900" indent="-342900">
              <a:spcAft>
                <a:spcPts val="600"/>
              </a:spcAft>
              <a:buSzPct val="100000"/>
              <a:buChar char="•"/>
            </a:pPr>
            <a:r>
              <a:rPr lang="en-US" sz="1500" dirty="0">
                <a:solidFill>
                  <a:schemeClr val="tx1"/>
                </a:solidFill>
              </a:rPr>
              <a:t>80 % de présence</a:t>
            </a:r>
            <a:endParaRPr lang="en-US" sz="1500" dirty="0"/>
          </a:p>
          <a:p>
            <a:pPr marL="342900" indent="-342900">
              <a:spcAft>
                <a:spcPts val="600"/>
              </a:spcAft>
              <a:buSzPct val="100000"/>
              <a:buChar char="•"/>
            </a:pPr>
            <a:r>
              <a:rPr lang="en-US" sz="1500" dirty="0">
                <a:solidFill>
                  <a:schemeClr val="tx1"/>
                </a:solidFill>
              </a:rPr>
              <a:t>Jury d'au moins deux personnes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Huit corrections apportées au programme initial</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3383280"/>
                <a:gridCol w="438912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Point initial</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Problème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Ajustement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22313A"/>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Optique au cœur du cas Cameroun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Forêt dense et nuages au Sud et à l'Est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Savane pour apprendre ; radar, MNT, géochimie sous forêt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Silice sur Sentinel-2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Pas de bandes thermiques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ASTER thermique uniquement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ASTER pour les argiles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SWIR hors service depuis 2008</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Archives antérieures ou Sentinel-2</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Occurrences dans l'indice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Validation circulaire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Réservées à la validation</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Accessibilité dans l'indice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Mélange géologie et économie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Couche séparée au classement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3 cas J3 et 4 pays J4 pour tous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Trop dense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Un cas par groupe ; ateliers tournants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RDC et Zambie sur le même thème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Même ceinture cuprifère</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RDC : valeur ; Zambie : environnement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1F23"/>
                          </a:solidFill>
                          <a:latin typeface="Calibri" pitchFamily="34" charset="0"/>
                          <a:ea typeface="Calibri" pitchFamily="34" charset="-122"/>
                          <a:cs typeface="Calibri" pitchFamily="34" charset="-120"/>
                        </a:rPr>
                        <a:t>Cuivre par fusion uniquement</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SX-EW fréquent au Katanga</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c>
                  <a:txBody>
                    <a:bodyPr/>
                    <a:lstStyle/>
                    <a:p>
                      <a:pPr indent="0" marL="0">
                        <a:buNone/>
                      </a:pPr>
                      <a:r>
                        <a:rPr lang="en-US" sz="1400" dirty="0">
                          <a:solidFill>
                            <a:srgbClr val="1B1F23"/>
                          </a:solidFill>
                          <a:latin typeface="Calibri" pitchFamily="34" charset="0"/>
                          <a:ea typeface="Calibri" pitchFamily="34" charset="-122"/>
                          <a:cs typeface="Calibri" pitchFamily="34" charset="-120"/>
                        </a:rPr>
                        <a:t>Les deux voies enseignées</a:t>
                      </a:r>
                      <a:endParaRPr lang="en-US" sz="1400" dirty="0">
                        <a:latin typeface="Calibri" charset="0"/>
                        <a:ea typeface="Calibri" charset="0"/>
                        <a:cs typeface="Calibri" charset="0"/>
                      </a:endParaRPr>
                    </a:p>
                  </a:txBody>
                  <a:tcPr marL="76200" marR="76200" marT="50800" marB="50800"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3"/>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Quatre précautions avant de diffuser la formation</a:t>
            </a:r>
            <a:endParaRPr lang="en-US" sz="3000" dirty="0"/>
          </a:p>
        </p:txBody>
      </p:sp>
      <p:sp>
        <p:nvSpPr>
          <p:cNvPr id="4" name="card"/>
          <p:cNvSpPr/>
          <p:nvPr/>
        </p:nvSpPr>
        <p:spPr>
          <a:xfrm>
            <a:off x="548640" y="1371600"/>
            <a:ext cx="5394960" cy="2240280"/>
          </a:xfrm>
          <a:prstGeom prst="roundRect">
            <a:avLst>
              <a:gd name="adj" fmla="val 3265"/>
            </a:avLst>
          </a:prstGeom>
          <a:solidFill>
            <a:schemeClr val="bg2"/>
          </a:solidFill>
          <a:ln w="12700">
            <a:solidFill>
              <a:schemeClr val="bg2"/>
            </a:solidFill>
            <a:prstDash val="solid"/>
          </a:ln>
        </p:spPr>
      </p:sp>
      <p:sp>
        <p:nvSpPr>
          <p:cNvPr id="5" name="icon-circle"/>
          <p:cNvSpPr/>
          <p:nvPr/>
        </p:nvSpPr>
        <p:spPr>
          <a:xfrm>
            <a:off x="777240" y="1600200"/>
            <a:ext cx="548640" cy="548640"/>
          </a:xfrm>
          <a:prstGeom prst="ellipse">
            <a:avLst/>
          </a:prstGeom>
          <a:solidFill>
            <a:srgbClr val="B5542D"/>
          </a:solidFill>
          <a:ln w="12700">
            <a:solidFill>
              <a:srgbClr val="B5542D"/>
            </a:solidFill>
            <a:prstDash val="solid"/>
          </a:ln>
        </p:spPr>
      </p:sp>
      <p:pic>
        <p:nvPicPr>
          <p:cNvPr id="6" name="icon"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7" name="Text 3"/>
          <p:cNvSpPr txBox="1"/>
          <p:nvPr/>
        </p:nvSpPr>
        <p:spPr>
          <a:xfrm>
            <a:off x="1463040" y="1554480"/>
            <a:ext cx="4297680" cy="640080"/>
          </a:xfrm>
          <a:prstGeom prst="rect">
            <a:avLst/>
          </a:prstGeom>
          <a:noFill/>
          <a:ln/>
        </p:spPr>
        <p:txBody>
          <a:bodyPr wrap="square" lIns="0" tIns="0" rIns="0" bIns="0" rtlCol="0" anchor="ctr"/>
          <a:lstStyle/>
          <a:p>
            <a:pPr indent="0" marL="0">
              <a:buNone/>
            </a:pPr>
            <a:r>
              <a:rPr lang="en-US" sz="1700" b="1" dirty="0">
                <a:solidFill>
                  <a:schemeClr val="tx2"/>
                </a:solidFill>
              </a:rPr>
              <a:t>Droits sur les données</a:t>
            </a:r>
            <a:endParaRPr lang="en-US" sz="1700" dirty="0"/>
          </a:p>
        </p:txBody>
      </p:sp>
      <p:sp>
        <p:nvSpPr>
          <p:cNvPr id="8" name="Text 4"/>
          <p:cNvSpPr txBox="1"/>
          <p:nvPr/>
        </p:nvSpPr>
        <p:spPr>
          <a:xfrm>
            <a:off x="777240" y="2286000"/>
            <a:ext cx="4937760" cy="1188720"/>
          </a:xfrm>
          <a:prstGeom prst="rect">
            <a:avLst/>
          </a:prstGeom>
          <a:noFill/>
          <a:ln/>
        </p:spPr>
        <p:txBody>
          <a:bodyPr wrap="square" lIns="0" tIns="0" rIns="0" bIns="0" rtlCol="0" anchor="t"/>
          <a:lstStyle/>
          <a:p>
            <a:pPr indent="0" marL="0">
              <a:buNone/>
            </a:pPr>
            <a:r>
              <a:rPr lang="en-US" sz="1400" dirty="0">
                <a:solidFill>
                  <a:schemeClr val="tx1"/>
                </a:solidFill>
              </a:rPr>
              <a:t>Accord écrit du PRECASEM ou du MINMIDT pour redistribuer les données aux participants</a:t>
            </a:r>
            <a:endParaRPr lang="en-US" sz="1400" dirty="0"/>
          </a:p>
        </p:txBody>
      </p:sp>
      <p:sp>
        <p:nvSpPr>
          <p:cNvPr id="9" name="card"/>
          <p:cNvSpPr/>
          <p:nvPr/>
        </p:nvSpPr>
        <p:spPr>
          <a:xfrm>
            <a:off x="6217920" y="1371600"/>
            <a:ext cx="5394960" cy="2240280"/>
          </a:xfrm>
          <a:prstGeom prst="roundRect">
            <a:avLst>
              <a:gd name="adj" fmla="val 3265"/>
            </a:avLst>
          </a:prstGeom>
          <a:solidFill>
            <a:schemeClr val="bg2"/>
          </a:solidFill>
          <a:ln w="12700">
            <a:solidFill>
              <a:schemeClr val="bg2"/>
            </a:solidFill>
            <a:prstDash val="solid"/>
          </a:ln>
        </p:spPr>
      </p:sp>
      <p:sp>
        <p:nvSpPr>
          <p:cNvPr id="10" name="icon-circle"/>
          <p:cNvSpPr/>
          <p:nvPr/>
        </p:nvSpPr>
        <p:spPr>
          <a:xfrm>
            <a:off x="6446520" y="1600200"/>
            <a:ext cx="548640" cy="548640"/>
          </a:xfrm>
          <a:prstGeom prst="ellipse">
            <a:avLst/>
          </a:prstGeom>
          <a:solidFill>
            <a:srgbClr val="3E7C6B"/>
          </a:solidFill>
          <a:ln w="12700">
            <a:solidFill>
              <a:srgbClr val="3E7C6B"/>
            </a:solidFill>
            <a:prstDash val="solid"/>
          </a:ln>
        </p:spPr>
      </p:sp>
      <p:pic>
        <p:nvPicPr>
          <p:cNvPr id="11" name="icon" descr="preencoded.png">    </p:cNvPr>
          <p:cNvPicPr>
            <a:picLocks noChangeAspect="1"/>
          </p:cNvPicPr>
          <p:nvPr/>
        </p:nvPicPr>
        <p:blipFill>
          <a:blip r:embed="rId2"/>
          <a:stretch>
            <a:fillRect/>
          </a:stretch>
        </p:blipFill>
        <p:spPr>
          <a:xfrm>
            <a:off x="6567221" y="1720901"/>
            <a:ext cx="307238" cy="307238"/>
          </a:xfrm>
          <a:prstGeom prst="rect">
            <a:avLst/>
          </a:prstGeom>
        </p:spPr>
      </p:pic>
      <p:sp>
        <p:nvSpPr>
          <p:cNvPr id="12" name="Text 7"/>
          <p:cNvSpPr txBox="1"/>
          <p:nvPr/>
        </p:nvSpPr>
        <p:spPr>
          <a:xfrm>
            <a:off x="7132320" y="1554480"/>
            <a:ext cx="4297680" cy="640080"/>
          </a:xfrm>
          <a:prstGeom prst="rect">
            <a:avLst/>
          </a:prstGeom>
          <a:noFill/>
          <a:ln/>
        </p:spPr>
        <p:txBody>
          <a:bodyPr wrap="square" lIns="0" tIns="0" rIns="0" bIns="0" rtlCol="0" anchor="ctr"/>
          <a:lstStyle/>
          <a:p>
            <a:pPr indent="0" marL="0">
              <a:buNone/>
            </a:pPr>
            <a:r>
              <a:rPr lang="en-US" sz="1700" b="1" dirty="0">
                <a:solidFill>
                  <a:schemeClr val="tx2"/>
                </a:solidFill>
              </a:rPr>
              <a:t>Certification</a:t>
            </a:r>
            <a:endParaRPr lang="en-US" sz="1700" dirty="0"/>
          </a:p>
        </p:txBody>
      </p:sp>
      <p:sp>
        <p:nvSpPr>
          <p:cNvPr id="13" name="Text 8"/>
          <p:cNvSpPr txBox="1"/>
          <p:nvPr/>
        </p:nvSpPr>
        <p:spPr>
          <a:xfrm>
            <a:off x="6446520" y="2286000"/>
            <a:ext cx="4937760" cy="1188720"/>
          </a:xfrm>
          <a:prstGeom prst="rect">
            <a:avLst/>
          </a:prstGeom>
          <a:noFill/>
          <a:ln/>
        </p:spPr>
        <p:txBody>
          <a:bodyPr wrap="square" lIns="0" tIns="0" rIns="0" bIns="0" rtlCol="0" anchor="t"/>
          <a:lstStyle/>
          <a:p>
            <a:pPr indent="0" marL="0">
              <a:buNone/>
            </a:pPr>
            <a:r>
              <a:rPr lang="en-US" sz="1400" dirty="0">
                <a:solidFill>
                  <a:schemeClr val="tx1"/>
                </a:solidFill>
              </a:rPr>
              <a:t>« Certifiante » suppose un organisme habilité ; sinon, parler d'attestation</a:t>
            </a:r>
            <a:endParaRPr lang="en-US" sz="1400" dirty="0"/>
          </a:p>
        </p:txBody>
      </p:sp>
      <p:sp>
        <p:nvSpPr>
          <p:cNvPr id="14" name="card"/>
          <p:cNvSpPr/>
          <p:nvPr/>
        </p:nvSpPr>
        <p:spPr>
          <a:xfrm>
            <a:off x="548640" y="3886200"/>
            <a:ext cx="5394960" cy="2240280"/>
          </a:xfrm>
          <a:prstGeom prst="roundRect">
            <a:avLst>
              <a:gd name="adj" fmla="val 3265"/>
            </a:avLst>
          </a:prstGeom>
          <a:solidFill>
            <a:schemeClr val="bg2"/>
          </a:solidFill>
          <a:ln w="12700">
            <a:solidFill>
              <a:schemeClr val="bg2"/>
            </a:solidFill>
            <a:prstDash val="solid"/>
          </a:ln>
        </p:spPr>
      </p:sp>
      <p:sp>
        <p:nvSpPr>
          <p:cNvPr id="15" name="icon-circle"/>
          <p:cNvSpPr/>
          <p:nvPr/>
        </p:nvSpPr>
        <p:spPr>
          <a:xfrm>
            <a:off x="777240" y="4114800"/>
            <a:ext cx="548640" cy="548640"/>
          </a:xfrm>
          <a:prstGeom prst="ellipse">
            <a:avLst/>
          </a:prstGeom>
          <a:solidFill>
            <a:srgbClr val="3F6C9A"/>
          </a:solidFill>
          <a:ln w="12700">
            <a:solidFill>
              <a:srgbClr val="3F6C9A"/>
            </a:solidFill>
            <a:prstDash val="solid"/>
          </a:ln>
        </p:spPr>
      </p:sp>
      <p:pic>
        <p:nvPicPr>
          <p:cNvPr id="16" name="icon" descr="preencoded.png">    </p:cNvPr>
          <p:cNvPicPr>
            <a:picLocks noChangeAspect="1"/>
          </p:cNvPicPr>
          <p:nvPr/>
        </p:nvPicPr>
        <p:blipFill>
          <a:blip r:embed="rId3"/>
          <a:stretch>
            <a:fillRect/>
          </a:stretch>
        </p:blipFill>
        <p:spPr>
          <a:xfrm>
            <a:off x="897941" y="4235501"/>
            <a:ext cx="307238" cy="307238"/>
          </a:xfrm>
          <a:prstGeom prst="rect">
            <a:avLst/>
          </a:prstGeom>
        </p:spPr>
      </p:pic>
      <p:sp>
        <p:nvSpPr>
          <p:cNvPr id="17" name="Text 11"/>
          <p:cNvSpPr txBox="1"/>
          <p:nvPr/>
        </p:nvSpPr>
        <p:spPr>
          <a:xfrm>
            <a:off x="1463040" y="4069080"/>
            <a:ext cx="4297680" cy="640080"/>
          </a:xfrm>
          <a:prstGeom prst="rect">
            <a:avLst/>
          </a:prstGeom>
          <a:noFill/>
          <a:ln/>
        </p:spPr>
        <p:txBody>
          <a:bodyPr wrap="square" lIns="0" tIns="0" rIns="0" bIns="0" rtlCol="0" anchor="ctr"/>
          <a:lstStyle/>
          <a:p>
            <a:pPr indent="0" marL="0">
              <a:buNone/>
            </a:pPr>
            <a:r>
              <a:rPr lang="en-US" sz="1700" b="1" dirty="0">
                <a:solidFill>
                  <a:schemeClr val="tx2"/>
                </a:solidFill>
              </a:rPr>
              <a:t>Investisseurs</a:t>
            </a:r>
            <a:endParaRPr lang="en-US" sz="1700" dirty="0"/>
          </a:p>
        </p:txBody>
      </p:sp>
      <p:sp>
        <p:nvSpPr>
          <p:cNvPr id="18" name="Text 12"/>
          <p:cNvSpPr txBox="1"/>
          <p:nvPr/>
        </p:nvSpPr>
        <p:spPr>
          <a:xfrm>
            <a:off x="777240" y="4800600"/>
            <a:ext cx="4937760" cy="1188720"/>
          </a:xfrm>
          <a:prstGeom prst="rect">
            <a:avLst/>
          </a:prstGeom>
          <a:noFill/>
          <a:ln/>
        </p:spPr>
        <p:txBody>
          <a:bodyPr wrap="square" lIns="0" tIns="0" rIns="0" bIns="0" rtlCol="0" anchor="t"/>
          <a:lstStyle/>
          <a:p>
            <a:pPr indent="0" marL="0">
              <a:buNone/>
            </a:pPr>
            <a:r>
              <a:rPr lang="en-US" sz="1400" dirty="0">
                <a:solidFill>
                  <a:schemeClr val="tx1"/>
                </a:solidFill>
              </a:rPr>
              <a:t>Le mini brief est un exercice, pas un conseil d'investissement : le dire sur chaque support</a:t>
            </a:r>
            <a:endParaRPr lang="en-US" sz="1400" dirty="0"/>
          </a:p>
        </p:txBody>
      </p:sp>
      <p:sp>
        <p:nvSpPr>
          <p:cNvPr id="19" name="card"/>
          <p:cNvSpPr/>
          <p:nvPr/>
        </p:nvSpPr>
        <p:spPr>
          <a:xfrm>
            <a:off x="6217920" y="3886200"/>
            <a:ext cx="5394960" cy="2240280"/>
          </a:xfrm>
          <a:prstGeom prst="roundRect">
            <a:avLst>
              <a:gd name="adj" fmla="val 3265"/>
            </a:avLst>
          </a:prstGeom>
          <a:solidFill>
            <a:schemeClr val="bg2"/>
          </a:solidFill>
          <a:ln w="12700">
            <a:solidFill>
              <a:schemeClr val="bg2"/>
            </a:solidFill>
            <a:prstDash val="solid"/>
          </a:ln>
        </p:spPr>
      </p:sp>
      <p:sp>
        <p:nvSpPr>
          <p:cNvPr id="20" name="icon-circle"/>
          <p:cNvSpPr/>
          <p:nvPr/>
        </p:nvSpPr>
        <p:spPr>
          <a:xfrm>
            <a:off x="6446520" y="4114800"/>
            <a:ext cx="548640" cy="548640"/>
          </a:xfrm>
          <a:prstGeom prst="ellipse">
            <a:avLst/>
          </a:prstGeom>
          <a:solidFill>
            <a:srgbClr val="D9A441"/>
          </a:solidFill>
          <a:ln w="12700">
            <a:solidFill>
              <a:srgbClr val="D9A441"/>
            </a:solidFill>
            <a:prstDash val="solid"/>
          </a:ln>
        </p:spPr>
      </p:sp>
      <p:pic>
        <p:nvPicPr>
          <p:cNvPr id="21" name="icon" descr="preencoded.png">    </p:cNvPr>
          <p:cNvPicPr>
            <a:picLocks noChangeAspect="1"/>
          </p:cNvPicPr>
          <p:nvPr/>
        </p:nvPicPr>
        <p:blipFill>
          <a:blip r:embed="rId4"/>
          <a:stretch>
            <a:fillRect/>
          </a:stretch>
        </p:blipFill>
        <p:spPr>
          <a:xfrm>
            <a:off x="6567221" y="4235501"/>
            <a:ext cx="307238" cy="307238"/>
          </a:xfrm>
          <a:prstGeom prst="rect">
            <a:avLst/>
          </a:prstGeom>
        </p:spPr>
      </p:pic>
      <p:sp>
        <p:nvSpPr>
          <p:cNvPr id="22" name="Text 15"/>
          <p:cNvSpPr txBox="1"/>
          <p:nvPr/>
        </p:nvSpPr>
        <p:spPr>
          <a:xfrm>
            <a:off x="7132320" y="4069080"/>
            <a:ext cx="4297680" cy="640080"/>
          </a:xfrm>
          <a:prstGeom prst="rect">
            <a:avLst/>
          </a:prstGeom>
          <a:noFill/>
          <a:ln/>
        </p:spPr>
        <p:txBody>
          <a:bodyPr wrap="square" lIns="0" tIns="0" rIns="0" bIns="0" rtlCol="0" anchor="ctr"/>
          <a:lstStyle/>
          <a:p>
            <a:pPr indent="0" marL="0">
              <a:buNone/>
            </a:pPr>
            <a:r>
              <a:rPr lang="en-US" sz="1700" b="1" dirty="0">
                <a:solidFill>
                  <a:schemeClr val="tx2"/>
                </a:solidFill>
              </a:rPr>
              <a:t>Cibles sensibles</a:t>
            </a:r>
            <a:endParaRPr lang="en-US" sz="1700" dirty="0"/>
          </a:p>
        </p:txBody>
      </p:sp>
      <p:sp>
        <p:nvSpPr>
          <p:cNvPr id="23" name="Text 16"/>
          <p:cNvSpPr txBox="1"/>
          <p:nvPr/>
        </p:nvSpPr>
        <p:spPr>
          <a:xfrm>
            <a:off x="6446520" y="4800600"/>
            <a:ext cx="4937760" cy="1188720"/>
          </a:xfrm>
          <a:prstGeom prst="rect">
            <a:avLst/>
          </a:prstGeom>
          <a:noFill/>
          <a:ln/>
        </p:spPr>
        <p:txBody>
          <a:bodyPr wrap="square" lIns="0" tIns="0" rIns="0" bIns="0" rtlCol="0" anchor="t"/>
          <a:lstStyle/>
          <a:p>
            <a:pPr indent="0" marL="0">
              <a:buNone/>
            </a:pPr>
            <a:r>
              <a:rPr lang="en-US" sz="1400" dirty="0">
                <a:solidFill>
                  <a:schemeClr val="tx1"/>
                </a:solidFill>
              </a:rPr>
              <a:t>Anonymiser ou décaler les zones réelles pour éviter la spéculation ou l'orpaillage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nchor="ctr"/>
          <a:lstStyle/>
          <a:p>
            <a:pPr indent="0" marL="0">
              <a:buNone/>
            </a:pPr>
            <a:r>
              <a:rPr lang="en-US" sz="3000" b="1" dirty="0">
                <a:solidFill>
                  <a:srgbClr val="22313A"/>
                </a:solidFill>
                <a:latin typeface="Cambria" pitchFamily="34" charset="0"/>
                <a:ea typeface="Cambria" pitchFamily="34" charset="-122"/>
                <a:cs typeface="Cambria" pitchFamily="34" charset="-120"/>
              </a:rPr>
              <a:t>Sources et vérifications à faire</a:t>
            </a:r>
            <a:endParaRPr lang="en-US" sz="3000" dirty="0"/>
          </a:p>
        </p:txBody>
      </p:sp>
      <p:sp>
        <p:nvSpPr>
          <p:cNvPr id="4" name="Text 1"/>
          <p:cNvSpPr txBox="1"/>
          <p:nvPr/>
        </p:nvSpPr>
        <p:spPr>
          <a:xfrm>
            <a:off x="548640" y="1417320"/>
            <a:ext cx="6309360" cy="4663440"/>
          </a:xfrm>
          <a:prstGeom prst="rect">
            <a:avLst/>
          </a:prstGeom>
          <a:noFill/>
          <a:ln/>
        </p:spPr>
        <p:txBody>
          <a:bodyPr wrap="square" lIns="0" tIns="0" rIns="0" bIns="0" rtlCol="0" anchor="t"/>
          <a:lstStyle/>
          <a:p>
            <a:pPr marL="342900" indent="-342900">
              <a:spcAft>
                <a:spcPts val="800"/>
              </a:spcAft>
              <a:buSzPct val="100000"/>
              <a:buChar char="•"/>
            </a:pPr>
            <a:r>
              <a:rPr lang="en-US" sz="1500"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USGS — Mineral Industries and Related Infrastructure of Africa</a:t>
            </a:r>
            <a:endParaRPr lang="en-US" sz="1500" dirty="0"/>
          </a:p>
          <a:p>
            <a:pPr marL="342900" indent="-342900">
              <a:spcAft>
                <a:spcPts val="800"/>
              </a:spcAft>
              <a:buSzPct val="100000"/>
              <a:buChar char="•"/>
            </a:pPr>
            <a:r>
              <a:rPr lang="en-US" sz="1500"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USGS — Open-File Report 2024-1041</a:t>
            </a:r>
            <a:endParaRPr lang="en-US" sz="1500" dirty="0"/>
          </a:p>
          <a:p>
            <a:pPr marL="342900" indent="-342900">
              <a:spcAft>
                <a:spcPts val="800"/>
              </a:spcAft>
              <a:buSzPct val="100000"/>
              <a:buChar char="•"/>
            </a:pPr>
            <a:r>
              <a:rPr lang="en-US" sz="1500"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PRECASEM — plaquette du projet</a:t>
            </a:r>
            <a:endParaRPr lang="en-US" sz="1500" dirty="0"/>
          </a:p>
          <a:p>
            <a:pPr marL="342900" indent="-342900">
              <a:spcAft>
                <a:spcPts val="800"/>
              </a:spcAft>
              <a:buSzPct val="100000"/>
              <a:buChar char="•"/>
            </a:pPr>
            <a:r>
              <a:rPr lang="en-US" sz="15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Agence Ecofin — PRECASEM primé par la Banque mondiale</a:t>
            </a:r>
            <a:endParaRPr lang="en-US" sz="1500" dirty="0"/>
          </a:p>
          <a:p>
            <a:pPr marL="342900" indent="-342900">
              <a:spcAft>
                <a:spcPts val="800"/>
              </a:spcAft>
              <a:buSzPct val="100000"/>
              <a:buChar char="•"/>
            </a:pPr>
            <a:r>
              <a:rPr lang="en-US" sz="1500" u="sng" dirty="0">
                <a:solidFill>
                  <a:schemeClr val="accent4"/>
                </a:solidFill>
                <a:hlinkClick r:id="rId5" invalidUrl="" action="" tgtFrame="" tooltip="" history="1" highlightClick="0" endSnd="0">
                  <a:extLst>
                    <a:ext uri="{A12FA001-AC4F-418D-AE19-62706E023703}">
                      <ahyp:hlinkClr xmlns:ahyp="http://schemas.microsoft.com/office/drawing/2018/hyperlinkcolor" val="tx"/>
                    </a:ext>
                  </a:extLst>
                </a:hlinkClick>
              </a:rPr>
              <a:t>Portail du cadastre minier du Cameroun</a:t>
            </a:r>
            <a:endParaRPr lang="en-US" sz="1500" dirty="0"/>
          </a:p>
          <a:p>
            <a:pPr marL="342900" indent="-342900">
              <a:spcAft>
                <a:spcPts val="800"/>
              </a:spcAft>
              <a:buSzPct val="100000"/>
              <a:buChar char="•"/>
            </a:pPr>
            <a:r>
              <a:rPr lang="en-US" sz="1500" u="sng" dirty="0">
                <a:solidFill>
                  <a:schemeClr val="accent4"/>
                </a:solidFill>
                <a:hlinkClick r:id="rId6" invalidUrl="" action="" tgtFrame="" tooltip="" history="1" highlightClick="0" endSnd="0">
                  <a:extLst>
                    <a:ext uri="{A12FA001-AC4F-418D-AE19-62706E023703}">
                      <ahyp:hlinkClr xmlns:ahyp="http://schemas.microsoft.com/office/drawing/2018/hyperlinkcolor" val="tx"/>
                    </a:ext>
                  </a:extLst>
                </a:hlinkClick>
              </a:rPr>
              <a:t>Cadastre minier de la RDC (CAMI)</a:t>
            </a:r>
            <a:endParaRPr lang="en-US" sz="1500" dirty="0"/>
          </a:p>
        </p:txBody>
      </p:sp>
      <p:sp>
        <p:nvSpPr>
          <p:cNvPr id="5" name="panel"/>
          <p:cNvSpPr/>
          <p:nvPr/>
        </p:nvSpPr>
        <p:spPr>
          <a:xfrm>
            <a:off x="7223760" y="1417320"/>
            <a:ext cx="4389120" cy="4663440"/>
          </a:xfrm>
          <a:prstGeom prst="roundRect">
            <a:avLst>
              <a:gd name="adj" fmla="val 1667"/>
            </a:avLst>
          </a:prstGeom>
          <a:solidFill>
            <a:schemeClr val="bg2"/>
          </a:solidFill>
          <a:ln w="12700">
            <a:solidFill>
              <a:schemeClr val="bg2"/>
            </a:solidFill>
            <a:prstDash val="solid"/>
          </a:ln>
        </p:spPr>
      </p:sp>
      <p:sp>
        <p:nvSpPr>
          <p:cNvPr id="6" name="icon-circle"/>
          <p:cNvSpPr/>
          <p:nvPr/>
        </p:nvSpPr>
        <p:spPr>
          <a:xfrm>
            <a:off x="7452360" y="1645920"/>
            <a:ext cx="548640" cy="548640"/>
          </a:xfrm>
          <a:prstGeom prst="ellipse">
            <a:avLst/>
          </a:prstGeom>
          <a:solidFill>
            <a:srgbClr val="C9772F"/>
          </a:solidFill>
          <a:ln w="12700">
            <a:solidFill>
              <a:srgbClr val="C9772F"/>
            </a:solidFill>
            <a:prstDash val="solid"/>
          </a:ln>
        </p:spPr>
      </p:sp>
      <p:pic>
        <p:nvPicPr>
          <p:cNvPr id="7" name="icon" descr="preencoded.png">    </p:cNvPr>
          <p:cNvPicPr>
            <a:picLocks noChangeAspect="1"/>
          </p:cNvPicPr>
          <p:nvPr/>
        </p:nvPicPr>
        <p:blipFill>
          <a:blip r:embed="rId7"/>
          <a:stretch>
            <a:fillRect/>
          </a:stretch>
        </p:blipFill>
        <p:spPr>
          <a:xfrm>
            <a:off x="7573061" y="1766621"/>
            <a:ext cx="307238" cy="307238"/>
          </a:xfrm>
          <a:prstGeom prst="rect">
            <a:avLst/>
          </a:prstGeom>
        </p:spPr>
      </p:pic>
      <p:sp>
        <p:nvSpPr>
          <p:cNvPr id="8" name="Text 4"/>
          <p:cNvSpPr txBox="1"/>
          <p:nvPr/>
        </p:nvSpPr>
        <p:spPr>
          <a:xfrm>
            <a:off x="8138160" y="1645920"/>
            <a:ext cx="3291840" cy="548640"/>
          </a:xfrm>
          <a:prstGeom prst="rect">
            <a:avLst/>
          </a:prstGeom>
          <a:noFill/>
          <a:ln/>
        </p:spPr>
        <p:txBody>
          <a:bodyPr wrap="square" lIns="0" tIns="0" rIns="0" bIns="0" rtlCol="0" anchor="ctr"/>
          <a:lstStyle/>
          <a:p>
            <a:pPr indent="0" marL="0">
              <a:buNone/>
            </a:pPr>
            <a:r>
              <a:rPr lang="en-US" sz="1800" b="1" dirty="0">
                <a:solidFill>
                  <a:schemeClr val="tx2"/>
                </a:solidFill>
              </a:rPr>
              <a:t>Non confirmé</a:t>
            </a:r>
            <a:endParaRPr lang="en-US" sz="1800" dirty="0"/>
          </a:p>
        </p:txBody>
      </p:sp>
      <p:sp>
        <p:nvSpPr>
          <p:cNvPr id="9" name="Text 5"/>
          <p:cNvSpPr txBox="1"/>
          <p:nvPr/>
        </p:nvSpPr>
        <p:spPr>
          <a:xfrm>
            <a:off x="7498080" y="2377440"/>
            <a:ext cx="3840480" cy="3566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18 cartes au 1/200 000 et 12 cartes géochimiques (BRGM)</a:t>
            </a:r>
            <a:endParaRPr lang="en-US" sz="1400" dirty="0"/>
          </a:p>
          <a:p>
            <a:pPr marL="342900" indent="-342900">
              <a:spcAft>
                <a:spcPts val="600"/>
              </a:spcAft>
              <a:buSzPct val="100000"/>
              <a:buChar char="•"/>
            </a:pPr>
            <a:r>
              <a:rPr lang="en-US" sz="1400" dirty="0">
                <a:solidFill>
                  <a:schemeClr val="tx1"/>
                </a:solidFill>
              </a:rPr>
              <a:t>≈ 15 500 échantillons, 49 éléments + Au</a:t>
            </a:r>
            <a:endParaRPr lang="en-US" sz="1400" dirty="0"/>
          </a:p>
          <a:p>
            <a:pPr marL="342900" indent="-342900">
              <a:spcAft>
                <a:spcPts val="600"/>
              </a:spcAft>
              <a:buSzPct val="100000"/>
              <a:buChar char="•"/>
            </a:pPr>
            <a:r>
              <a:rPr lang="en-US" sz="1400" dirty="0">
                <a:solidFill>
                  <a:schemeClr val="tx1"/>
                </a:solidFill>
              </a:rPr>
              <a:t>Plateforme cadastrale de septembre 2026</a:t>
            </a:r>
            <a:endParaRPr lang="en-US" sz="1400" dirty="0"/>
          </a:p>
          <a:p>
            <a:pPr marL="342900" indent="-342900">
              <a:spcAft>
                <a:spcPts val="600"/>
              </a:spcAft>
              <a:buSzPct val="100000"/>
              <a:buChar char="•"/>
            </a:pPr>
            <a:r>
              <a:rPr lang="en-US" sz="1400" dirty="0">
                <a:solidFill>
                  <a:schemeClr val="tx1"/>
                </a:solidFill>
              </a:rPr>
              <a:t>Rapports PRECASEM sur l'orpaillage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B"/>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Merci</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De l'image satellite à la cible minière et au produit commercial</a:t>
            </a:r>
            <a:endParaRPr lang="en-US" sz="2200" dirty="0"/>
          </a:p>
          <a:p>
            <a:pPr algn="l" indent="0" marL="0">
              <a:buNone/>
            </a:pPr>
            <a:r>
              <a:rPr lang="en-US" sz="1800" dirty="0">
                <a:solidFill>
                  <a:srgbClr val="CFD8DC"/>
                </a:solidFill>
                <a:latin typeface="Calibri" pitchFamily="34" charset="0"/>
                <a:ea typeface="Calibri" pitchFamily="34" charset="-122"/>
                <a:cs typeface="Calibri" pitchFamily="34" charset="-120"/>
              </a:rPr>
              <a:t>Quiz de sortie et évaluation de la formation</a:t>
            </a:r>
            <a:endParaRPr lang="en-US" sz="2200" dirty="0"/>
          </a:p>
        </p:txBody>
      </p:sp>
    </p:spTree>
  </p:cSld>
  <p:clrMapOvr>
    <a:masterClrMapping/>
  </p:clrMapOvr>
</p:sld>
</file>

<file path=ppt/theme/theme1.xml><?xml version="1.0" encoding="utf-8"?>
<a:theme xmlns:a="http://schemas.openxmlformats.org/drawingml/2006/main" name="Africa Mining Intelligence">
  <a:themeElements>
    <a:clrScheme name="Africa Mining Intelligence">
      <a:dk1>
        <a:srgbClr val="1B1F23"/>
      </a:dk1>
      <a:lt1>
        <a:srgbClr val="FFFFFF"/>
      </a:lt1>
      <a:dk2>
        <a:srgbClr val="22313A"/>
      </a:dk2>
      <a:lt2>
        <a:srgbClr val="EEF2F3"/>
      </a:lt2>
      <a:accent1>
        <a:srgbClr val="B5542D"/>
      </a:accent1>
      <a:accent2>
        <a:srgbClr val="D9A441"/>
      </a:accent2>
      <a:accent3>
        <a:srgbClr val="3E7C6B"/>
      </a:accent3>
      <a:accent4>
        <a:srgbClr val="3F6C9A"/>
      </a:accent4>
      <a:accent5>
        <a:srgbClr val="6B7780"/>
      </a:accent5>
      <a:accent6>
        <a:srgbClr val="C9772F"/>
      </a:accent6>
      <a:hlink>
        <a:srgbClr val="3F6C9A"/>
      </a:hlink>
      <a:folHlink>
        <a:srgbClr val="6B5B8A"/>
      </a:folHlink>
    </a:clrScheme>
    <a:fontScheme name="Africa Mining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Mining Intelligence - Supports de cours</dc:title>
  <dc:subject>PptxGenJS Presentation</dc:subject>
  <dc:creator>Africa Mining Intelligence</dc:creator>
  <cp:lastModifiedBy>Africa Mining Intelligence</cp:lastModifiedBy>
  <cp:revision>1</cp:revision>
  <dcterms:created xsi:type="dcterms:W3CDTF">2026-10-08T08:51:41Z</dcterms:created>
  <dcterms:modified xsi:type="dcterms:W3CDTF">2026-10-08T08:51:41Z</dcterms:modified>
</cp:coreProperties>
</file>